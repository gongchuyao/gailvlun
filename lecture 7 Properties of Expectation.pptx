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429" r:id="rId3"/>
    <p:sldId id="489" r:id="rId4"/>
    <p:sldId id="544" r:id="rId5"/>
    <p:sldId id="554" r:id="rId6"/>
    <p:sldId id="541" r:id="rId7"/>
    <p:sldId id="536" r:id="rId8"/>
    <p:sldId id="545" r:id="rId9"/>
    <p:sldId id="546" r:id="rId10"/>
    <p:sldId id="547" r:id="rId11"/>
    <p:sldId id="520" r:id="rId12"/>
    <p:sldId id="548" r:id="rId13"/>
    <p:sldId id="549" r:id="rId14"/>
    <p:sldId id="550" r:id="rId15"/>
    <p:sldId id="551" r:id="rId16"/>
    <p:sldId id="557" r:id="rId17"/>
    <p:sldId id="532" r:id="rId18"/>
    <p:sldId id="531" r:id="rId19"/>
    <p:sldId id="567" r:id="rId20"/>
    <p:sldId id="568" r:id="rId21"/>
    <p:sldId id="558" r:id="rId22"/>
    <p:sldId id="564" r:id="rId23"/>
    <p:sldId id="566" r:id="rId24"/>
    <p:sldId id="565" r:id="rId25"/>
    <p:sldId id="523" r:id="rId26"/>
    <p:sldId id="538" r:id="rId27"/>
    <p:sldId id="537" r:id="rId28"/>
    <p:sldId id="467" r:id="rId29"/>
    <p:sldId id="472" r:id="rId30"/>
    <p:sldId id="556" r:id="rId31"/>
    <p:sldId id="559" r:id="rId32"/>
    <p:sldId id="555" r:id="rId33"/>
    <p:sldId id="560" r:id="rId34"/>
    <p:sldId id="561" r:id="rId35"/>
    <p:sldId id="562" r:id="rId36"/>
    <p:sldId id="563" r:id="rId37"/>
    <p:sldId id="461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508" autoAdjust="0"/>
  </p:normalViewPr>
  <p:slideViewPr>
    <p:cSldViewPr snapToGrid="0">
      <p:cViewPr varScale="1">
        <p:scale>
          <a:sx n="65" d="100"/>
          <a:sy n="65" d="100"/>
        </p:scale>
        <p:origin x="690" y="4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1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4A429-F965-43FE-9E80-AA88C25A97ED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B7839-0288-40B0-805F-AB96B0C1BE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0739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40FB8-AFBC-4675-8070-BC9FB7D3F44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522D6-4530-4D22-B87B-D541727931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297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05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349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97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164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284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906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439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314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978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028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957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343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422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74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455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977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458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640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0147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2337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180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8994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1968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6539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0767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3868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7519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8344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1260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8606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3971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2724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0805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1642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5814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580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198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3FCFB-BF33-4311-A772-C8C2CA3E0E6D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754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5CDD9-1F12-402F-9945-DE26D9B86272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15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94A47-B9CD-4B48-842F-C3AAAF2CB5B1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13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8DDE-B77A-432E-9030-B4B319E897EA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3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1A8-8908-4EC2-948A-847F00DEF5BE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382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C33E-39BA-4FEE-9613-395A31F8587A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86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923E-544A-4062-B057-26BCA3B48EA1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3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DDCF1-5A33-4D83-BF7E-29B497B5854E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48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7CDF4-6379-47F5-B3AA-94A56546BDE3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37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EF2CA-1380-4A2F-A450-0D5FCD11FEEF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544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89269-50C7-468F-8438-51BA74B5737F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65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1B946-9AC9-4BCB-82B0-0D85C8B3F59E}" type="datetime1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Lecture 14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9DEA-0B3D-40FD-8730-3C113325C2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44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831282"/>
            <a:ext cx="9144000" cy="1045184"/>
          </a:xfrm>
        </p:spPr>
        <p:txBody>
          <a:bodyPr>
            <a:noAutofit/>
          </a:bodyPr>
          <a:lstStyle/>
          <a:p>
            <a:r>
              <a:rPr lang="en-US" altLang="zh-CN" sz="8000" b="1" dirty="0"/>
              <a:t>Lecture 7</a:t>
            </a:r>
            <a:endParaRPr lang="zh-CN" altLang="en-US" sz="80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61258" y="3128753"/>
            <a:ext cx="10069484" cy="2529878"/>
          </a:xfrm>
        </p:spPr>
        <p:txBody>
          <a:bodyPr>
            <a:normAutofit/>
          </a:bodyPr>
          <a:lstStyle/>
          <a:p>
            <a:r>
              <a:rPr lang="en-US" altLang="zh-CN" sz="4800" b="1" dirty="0"/>
              <a:t>Properties of Expectation</a:t>
            </a:r>
          </a:p>
          <a:p>
            <a:r>
              <a:rPr lang="zh-CN" altLang="en-US" sz="4800" b="1" dirty="0">
                <a:solidFill>
                  <a:srgbClr val="FF0000"/>
                </a:solidFill>
              </a:rPr>
              <a:t>期望的性质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8651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67813" y="1490375"/>
            <a:ext cx="10770747" cy="5013664"/>
          </a:xfrm>
          <a:noFill/>
        </p:spPr>
        <p:txBody>
          <a:bodyPr>
            <a:norm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</a:rPr>
              <a:t>Outline</a:t>
            </a:r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Expectation of Sums of Random Variables </a:t>
            </a:r>
            <a:r>
              <a:rPr lang="zh-CN" altLang="en-US" sz="3600" b="1" dirty="0"/>
              <a:t>随机变量和的期望</a:t>
            </a:r>
            <a:endParaRPr lang="en-US" altLang="zh-CN" sz="36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Moments of the Number of Events that Occur </a:t>
            </a:r>
            <a:r>
              <a:rPr lang="zh-CN" altLang="en-US" sz="3600" b="1" dirty="0"/>
              <a:t>矩</a:t>
            </a:r>
            <a:endParaRPr lang="en-US" altLang="zh-CN" sz="36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Covariance, Variance of Sums, and Variables Correlations   </a:t>
            </a:r>
            <a:r>
              <a:rPr lang="zh-CN" altLang="en-US" sz="3600" b="1" dirty="0"/>
              <a:t>协方差、和的方差及相关系数</a:t>
            </a:r>
            <a:endParaRPr lang="en-US" altLang="zh-CN" sz="3600" b="1" dirty="0"/>
          </a:p>
          <a:p>
            <a:pPr marL="571500" indent="-571500" algn="l">
              <a:buFont typeface="Wingdings" panose="05000000000000000000" pitchFamily="2" charset="2"/>
              <a:buChar char="Ø"/>
            </a:pPr>
            <a:r>
              <a:rPr lang="en-US" altLang="zh-CN" sz="3600" b="1" dirty="0">
                <a:solidFill>
                  <a:srgbClr val="FF0000"/>
                </a:solidFill>
              </a:rPr>
              <a:t>Moment Generating Functions </a:t>
            </a:r>
            <a:r>
              <a:rPr lang="zh-CN" altLang="en-US" sz="3600" b="1" dirty="0"/>
              <a:t>矩生成函数</a:t>
            </a:r>
            <a:endParaRPr lang="en-US" altLang="zh-CN" sz="36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50805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6" y="1068997"/>
                <a:ext cx="12005187" cy="5685764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The expected value of the random variable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defined by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𝑥𝑝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where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a discrete random variable with probability mass function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,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when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a continuous random variable with probability density function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.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If 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s-E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E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ES" altLang="zh-CN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then 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E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ES" altLang="zh-CN" sz="2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6" y="1068997"/>
                <a:ext cx="12005187" cy="5685764"/>
              </a:xfrm>
              <a:blipFill>
                <a:blip r:embed="rId3"/>
                <a:stretch>
                  <a:fillRect l="-1015" t="-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55560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67382"/>
                <a:ext cx="11938819" cy="5813977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7.1 Expectation of Sums of Random Variables</a:t>
                </a:r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be jointly distributed </a:t>
                </a:r>
                <a:r>
                  <a:rPr lang="en-US" altLang="zh-CN" sz="2800" dirty="0">
                    <a:latin typeface="Times New Roman" panose="02020603050405020304" pitchFamily="18" charset="0"/>
                  </a:rPr>
                  <a:t>random variable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s with </a:t>
                </a:r>
                <a:r>
                  <a:rPr lang="en-US" altLang="zh-CN" sz="2800" dirty="0" err="1">
                    <a:solidFill>
                      <a:prstClr val="black"/>
                    </a:solidFill>
                  </a:rPr>
                  <a:t>pmf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or pdf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according to whether the variables are discrete or continuous. Then 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expected value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of a function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denoted by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)],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is given by</a:t>
                </a:r>
              </a:p>
              <a:p>
                <a:pPr lvl="0" algn="l"/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altLang="zh-CN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and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discrete</m:t>
                              </m:r>
                            </m:e>
                            <m:e>
                              <m:nary>
                                <m:nary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nary>
                                    <m:nary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b>
                                    <m:sup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  <m:e>
                                      <m:r>
                                        <a:rPr lang="en-US" altLang="zh-CN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  <m:r>
                                        <a:rPr lang="en-US" altLang="zh-CN" sz="2800" i="1" dirty="0" err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nary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and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continuous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lvl="0" algn="l"/>
                <a:endParaRPr lang="en-US" altLang="zh-CN" sz="2800" dirty="0"/>
              </a:p>
              <a:p>
                <a:pPr lvl="0" algn="l"/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67382"/>
                <a:ext cx="11938819" cy="5813977"/>
              </a:xfrm>
              <a:blipFill>
                <a:blip r:embed="rId3"/>
                <a:stretch>
                  <a:fillRect l="-1021" t="-1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80841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3741" y="1057587"/>
                <a:ext cx="11938819" cy="5813977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7.1 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Suppose the joint pdf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/>
                  <a:t>is given by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         0≤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≤1, 0≤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≤1,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0                                            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algn="l">
                  <a:lnSpc>
                    <a:spcPct val="100000"/>
                  </a:lnSpc>
                </a:pP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)=0.5+0.5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sz="2800" i="1" dirty="0" err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0.5+0.5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CN" sz="2800" dirty="0"/>
                                    <m:t> </m:t>
                                  </m:r>
                                </m:e>
                              </m:d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𝑥𝑦𝑑𝑦𝑑𝑥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800" i="1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=1.1</m:t>
                      </m:r>
                    </m:oMath>
                  </m:oMathPara>
                </a14:m>
                <a:endParaRPr lang="en-US" altLang="zh-CN" sz="2800" i="1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3741" y="1057587"/>
                <a:ext cx="11938819" cy="5813977"/>
              </a:xfrm>
              <a:blipFill>
                <a:blip r:embed="rId3"/>
                <a:stretch>
                  <a:fillRect l="-1021" t="-1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5130" y="1094827"/>
            <a:ext cx="3791659" cy="27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5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3742" y="1172236"/>
                <a:ext cx="12005187" cy="5685764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/>
                  <a:t>Suppose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 are both finite and 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. Then, in the continuous case,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] =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nary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nary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nary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]+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/>
              </a:p>
              <a:p>
                <a:pPr algn="l"/>
                <a:r>
                  <a:rPr lang="en-US" altLang="zh-CN" sz="2800" dirty="0"/>
                  <a:t>The same result holds in general; thus, whenever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 are finite,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]+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/>
              </a:p>
              <a:p>
                <a:pPr algn="l"/>
                <a:r>
                  <a:rPr lang="en-US" altLang="zh-CN" sz="2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 is finite for all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, then 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+ ···+ 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 err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 err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]+ ···+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i="1" dirty="0" err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3742" y="1172236"/>
                <a:ext cx="12005187" cy="5685764"/>
              </a:xfrm>
              <a:blipFill>
                <a:blip r:embed="rId3"/>
                <a:stretch>
                  <a:fillRect l="-1016" t="-1715" r="-1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76675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012528"/>
                <a:ext cx="11938819" cy="5813977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7.2   The sample mean</a:t>
                </a:r>
              </a:p>
              <a:p>
                <a:pPr algn="l"/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be independent and identically distributed random variables having distribution function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/>
                  <a:t> and expected value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800" dirty="0"/>
                  <a:t>. Such a sequence of random variables is said to constitute a sample from the distribution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zh-CN" sz="2800" dirty="0"/>
                  <a:t>. The quantity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2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zh-CN" sz="2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algn="l"/>
                <a:r>
                  <a:rPr lang="en-US" altLang="zh-CN" sz="2800" dirty="0"/>
                  <a:t>is called 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sample mean</a:t>
                </a:r>
                <a:r>
                  <a:rPr lang="en-US" altLang="zh-CN" sz="2800" dirty="0"/>
                  <a:t>. Compute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̅"/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.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/>
                  <a:t>Solution: 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6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012528"/>
                <a:ext cx="11938819" cy="5813977"/>
              </a:xfrm>
              <a:blipFill>
                <a:blip r:embed="rId3"/>
                <a:stretch>
                  <a:fillRect l="-1021" t="-1782" r="-1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46753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98880"/>
                <a:ext cx="11938819" cy="5659119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7.3   Expectation of a binomial random variable</a:t>
                </a:r>
              </a:p>
              <a:p>
                <a:pPr algn="l"/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be a binomial random variable with parameters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/>
                  <a:t>. Such a random variable represents the number of successes in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independent trials when each trial has probability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/>
                  <a:t> of being a success, we have that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 ···+ 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800" dirty="0"/>
              </a:p>
              <a:p>
                <a:pPr algn="l"/>
                <a:r>
                  <a:rPr lang="en-US" altLang="zh-CN" sz="2800" dirty="0"/>
                  <a:t>where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the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ith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trial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success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i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is a Bernoulli random variable having expectation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/>
                  <a:t>.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/>
                  <a:t>Then 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 ···+ </m:t>
                          </m:r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98880"/>
                <a:ext cx="11938819" cy="5659119"/>
              </a:xfrm>
              <a:blipFill>
                <a:blip r:embed="rId3"/>
                <a:stretch>
                  <a:fillRect l="-1021" t="-1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92201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7.4   Mean of a negative binomial random variable</a:t>
                </a:r>
              </a:p>
              <a:p>
                <a:pPr algn="l"/>
                <a:r>
                  <a:rPr lang="en-US" altLang="zh-CN" sz="2800" dirty="0"/>
                  <a:t>If independent trials having a constant probability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/>
                  <a:t> of being successes are performed, determine the expected number of trials required to amass a total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/>
                  <a:t> successes. </a:t>
                </a:r>
              </a:p>
              <a:p>
                <a:pPr algn="l"/>
                <a:r>
                  <a:rPr lang="en-US" altLang="zh-CN" sz="2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denotes the number of trials needed to amass a total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/>
                  <a:t> successes, then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a negative binomial random variable that can be represented by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 ···+ 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CN" sz="2800" dirty="0"/>
              </a:p>
              <a:p>
                <a:pPr algn="l"/>
                <a:r>
                  <a:rPr lang="en-US" altLang="zh-CN" sz="2800" dirty="0"/>
                  <a:t>each of the random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is a geometric random variable with parameter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/>
                  <a:t>. Hence,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sz="2800" dirty="0"/>
                  <a:t>.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/>
                  <a:t>Then 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 ···+ </m:t>
                          </m:r>
                          <m:sSub>
                            <m:sSubPr>
                              <m:ctrlPr>
                                <a:rPr lang="en-US" altLang="zh-CN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altLang="zh-CN" sz="2800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  <a:blipFill>
                <a:blip r:embed="rId3"/>
                <a:stretch>
                  <a:fillRect l="-1021" t="-2020" r="-2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55621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7985" y="1095380"/>
                <a:ext cx="11997815" cy="5570891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7.5   Expected number of matches</a:t>
                </a:r>
              </a:p>
              <a:p>
                <a:pPr algn="l"/>
                <a:r>
                  <a:rPr lang="en-US" altLang="zh-CN" sz="2800" dirty="0"/>
                  <a:t>Suppose that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/>
                  <a:t> people throw their hats into the center of a room. The hats are mixed up, and each person randomly selects one. Find the expected number of people who select their own hat.</a:t>
                </a:r>
              </a:p>
              <a:p>
                <a:pPr algn="l"/>
                <a:r>
                  <a:rPr lang="en-US" altLang="zh-CN" sz="2800" dirty="0"/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denotes the number matches, then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can be represented by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 ···+ 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where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the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ith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person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selects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his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own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hat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CN" sz="28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altLang="zh-CN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Hence,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/>
                  <a:t>.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/>
                  <a:t>Then                         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 ···+ </m:t>
                        </m:r>
                        <m:sSub>
                          <m:sSubPr>
                            <m:ctrlPr>
                              <a:rPr lang="en-US" altLang="zh-CN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800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7985" y="1095380"/>
                <a:ext cx="11997815" cy="5570891"/>
              </a:xfrm>
              <a:blipFill>
                <a:blip r:embed="rId3"/>
                <a:stretch>
                  <a:fillRect l="-1016" t="-1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787907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7988" y="1172236"/>
                <a:ext cx="12005187" cy="5685764"/>
              </a:xfrm>
            </p:spPr>
            <p:txBody>
              <a:bodyPr>
                <a:normAutofit fontScale="92500"/>
              </a:bodyPr>
              <a:lstStyle/>
              <a:p>
                <a:pPr lvl="0"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Moments of the Number of Events that Occur</a:t>
                </a:r>
              </a:p>
              <a:p>
                <a:pPr lvl="0" algn="l"/>
                <a:r>
                  <a:rPr lang="en-US" altLang="zh-CN" sz="2800" dirty="0"/>
                  <a:t>Many of the examples solved in the previous section were of the following form: For given events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/>
                  <a:t>, find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, where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the number of these events that occur. The solution then involved defining an indicator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for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such that</a:t>
                </a:r>
                <a:endParaRPr lang="en-US" altLang="zh-CN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dirty="0" smtClean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zh-CN" sz="2800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occurs</m:t>
                              </m:r>
                            </m:e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altLang="zh-CN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altLang="zh-CN" sz="28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Because 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we obtained the result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7988" y="1172236"/>
                <a:ext cx="12005187" cy="5685764"/>
              </a:xfrm>
              <a:blipFill>
                <a:blip r:embed="rId3"/>
                <a:stretch>
                  <a:fillRect l="-914" t="-16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99600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7988" y="1172236"/>
                <a:ext cx="12005187" cy="5685764"/>
              </a:xfrm>
            </p:spPr>
            <p:txBody>
              <a:bodyPr>
                <a:normAutofit fontScale="92500" lnSpcReduction="20000"/>
              </a:bodyPr>
              <a:lstStyle/>
              <a:p>
                <a:pPr lvl="0" algn="l">
                  <a:lnSpc>
                    <a:spcPct val="120000"/>
                  </a:lnSpc>
                </a:pPr>
                <a:r>
                  <a:rPr lang="en-US" altLang="zh-CN" sz="2800" dirty="0"/>
                  <a:t>Suppose we are interested in the number of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pairs </a:t>
                </a:r>
                <a:r>
                  <a:rPr lang="en-US" altLang="zh-CN" sz="2800" dirty="0"/>
                  <a:t>of events that occur.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will equal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/>
                  <a:t> if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800" dirty="0"/>
                  <a:t> occur and will equal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/>
                  <a:t> otherwise, it follows that the number of pairs is equal to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800" dirty="0"/>
                  <a:t>. But because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the number of events that occur, it also follows that the number of pairs of events that occur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800" dirty="0"/>
                  <a:t>.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Taking expectations yields 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num>
                            <m:den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we obtained the result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7988" y="1172236"/>
                <a:ext cx="12005187" cy="5685764"/>
              </a:xfrm>
              <a:blipFill>
                <a:blip r:embed="rId3"/>
                <a:stretch>
                  <a:fillRect l="-914" t="-857" r="-1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59044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7988" y="1172236"/>
                <a:ext cx="12005187" cy="5685764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20000"/>
                  </a:lnSpc>
                </a:pPr>
                <a:r>
                  <a:rPr lang="en-US" altLang="zh-CN" sz="2800" dirty="0"/>
                  <a:t>which yields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800" dirty="0"/>
                  <a:t>, and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]−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/>
                  <a:t>.</a:t>
                </a:r>
              </a:p>
              <a:p>
                <a:pPr lvl="0" algn="l">
                  <a:lnSpc>
                    <a:spcPct val="120000"/>
                  </a:lnSpc>
                </a:pPr>
                <a:r>
                  <a:rPr lang="en-US" altLang="zh-CN" sz="2800" dirty="0"/>
                  <a:t>Moreover, by considering the number of distinct subsets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800" dirty="0"/>
                  <a:t> events that all occur, we see that </a:t>
                </a:r>
              </a:p>
              <a:p>
                <a:pPr lvl="0"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8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&lt;…&lt;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lvl="0" algn="l">
                  <a:lnSpc>
                    <a:spcPct val="120000"/>
                  </a:lnSpc>
                </a:pPr>
                <a:r>
                  <a:rPr lang="en-US" altLang="zh-CN" sz="2800" dirty="0"/>
                  <a:t>Taking expectations gives the identity 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b="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&lt;…&lt;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&lt;…&lt;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7988" y="1172236"/>
                <a:ext cx="12005187" cy="5685764"/>
              </a:xfrm>
              <a:blipFill>
                <a:blip r:embed="rId3"/>
                <a:stretch>
                  <a:fillRect l="-1015" t="-107" r="-2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30432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3741" y="1247759"/>
                <a:ext cx="11938819" cy="5314530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7.6   Moments of binomial random variables</a:t>
                </a:r>
              </a:p>
              <a:p>
                <a:pPr algn="l"/>
                <a:r>
                  <a:rPr lang="en-US" altLang="zh-CN" sz="2800" dirty="0"/>
                  <a:t>Consider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 independent trials, with each trial being a success with probability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/>
                  <a:t>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be the event that trial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/>
                  <a:t> is a success. When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28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/>
                  <a:t>. Consequently, </a:t>
                </a:r>
                <a14:m>
                  <m:oMath xmlns:m="http://schemas.openxmlformats.org/officeDocument/2006/math">
                    <m:r>
                      <a:rPr lang="en-US" altLang="zh-CN" sz="26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6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/>
                <a:r>
                  <a:rPr lang="en-US" altLang="zh-CN" sz="2800" dirty="0">
                    <a:solidFill>
                      <a:prstClr val="black"/>
                    </a:solidFill>
                  </a:rPr>
                  <a:t>or 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6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6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6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dirty="0"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3741" y="1247759"/>
                <a:ext cx="11938819" cy="5314530"/>
              </a:xfrm>
              <a:blipFill>
                <a:blip r:embed="rId3"/>
                <a:stretch>
                  <a:fillRect l="-1021" t="-2067" r="-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21809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17504"/>
                <a:ext cx="11938819" cy="5659119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7.7   Moments in the match problem</a:t>
                </a:r>
              </a:p>
              <a:p>
                <a:pPr algn="l"/>
                <a:r>
                  <a:rPr lang="en-US" altLang="zh-CN" sz="2800" dirty="0"/>
                  <a:t>For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800" dirty="0"/>
                  <a:t>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be the event that person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2800" dirty="0"/>
                  <a:t> selects his or her own hat in the</a:t>
                </a:r>
              </a:p>
              <a:p>
                <a:pPr algn="l"/>
                <a:r>
                  <a:rPr lang="en-US" altLang="zh-CN" sz="2800" dirty="0"/>
                  <a:t>match problem. Then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 err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 err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 err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 err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altLang="zh-CN" sz="2800" b="0" i="1" dirty="0"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6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f>
                            <m:f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nary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6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thus 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6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6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6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zh-CN" sz="2800" b="0" i="0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/>
                <a:endParaRPr lang="en-US" altLang="zh-CN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17504"/>
                <a:ext cx="11938819" cy="5659119"/>
              </a:xfrm>
              <a:blipFill>
                <a:blip r:embed="rId3"/>
                <a:stretch>
                  <a:fillRect l="-1021" t="-1830" r="-562" b="-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67511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67382"/>
                <a:ext cx="11938819" cy="5137553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7.2 Expectation of a product of independent</a:t>
                </a:r>
              </a:p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random variables</a:t>
                </a:r>
              </a:p>
              <a:p>
                <a:pPr algn="l"/>
                <a:r>
                  <a:rPr lang="en-US" altLang="zh-CN" sz="2800" dirty="0">
                    <a:solidFill>
                      <a:prstClr val="black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are independent, then, for any functions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, </a:t>
                </a:r>
                <a:endParaRPr lang="en-US" altLang="zh-CN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b="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algn="l"/>
                <a:r>
                  <a:rPr lang="en-US" altLang="zh-CN" sz="2800" dirty="0">
                    <a:solidFill>
                      <a:prstClr val="black"/>
                    </a:solidFill>
                  </a:rPr>
                  <a:t>Proof: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sz="2800" i="1" dirty="0" err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nary>
                        <m:nary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altLang="zh-CN" sz="2800" i="1" dirty="0" err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67382"/>
                <a:ext cx="11938819" cy="5137553"/>
              </a:xfrm>
              <a:blipFill>
                <a:blip r:embed="rId3"/>
                <a:stretch>
                  <a:fillRect l="-1021" t="-20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56811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7988" y="1172236"/>
                <a:ext cx="12005187" cy="5206441"/>
              </a:xfrm>
            </p:spPr>
            <p:txBody>
              <a:bodyPr>
                <a:normAutofit/>
              </a:bodyPr>
              <a:lstStyle/>
              <a:p>
                <a:pPr lvl="0"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Definition 7.1  Covariance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（协方差）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lvl="0" algn="l"/>
                <a:r>
                  <a:rPr lang="en-US" altLang="zh-CN" sz="2800" dirty="0"/>
                  <a:t>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covariance</a:t>
                </a:r>
                <a:r>
                  <a:rPr lang="en-US" altLang="zh-CN" sz="2800" dirty="0"/>
                  <a:t> between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 denoted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altLang="zh-CN" sz="2800" dirty="0"/>
                  <a:t>, is defined by</a:t>
                </a:r>
              </a:p>
              <a:p>
                <a:pPr lvl="0" algn="l"/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US" altLang="zh-CN" sz="2800" b="0" i="0" dirty="0" smtClean="0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dirty="0" smtClean="0"/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f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and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discrete</m:t>
                              </m:r>
                            </m:e>
                            <m:e>
                              <m:nary>
                                <m:nary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nary>
                                    <m:naryPr>
                                      <m:ctrlP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b>
                                    <m:sup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∞</m:t>
                                      </m:r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  <m:r>
                                            <a:rPr lang="en-US" altLang="zh-CN" sz="28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altLang="zh-CN" sz="28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d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  <m:r>
                                        <a:rPr lang="en-US" altLang="zh-CN" sz="2800" i="1" dirty="0" err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nary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US" altLang="zh-CN" sz="2800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and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are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/>
                                <m:t>continuous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7988" y="1172236"/>
                <a:ext cx="12005187" cy="5206441"/>
              </a:xfrm>
              <a:blipFill>
                <a:blip r:embed="rId3"/>
                <a:stretch>
                  <a:fillRect l="-1015" t="-2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27755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25362" y="1247759"/>
                <a:ext cx="12005187" cy="5685764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The following shortcut formula for Cov(X, Y) 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Proof: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𝑋𝐸</m:t>
                          </m:r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𝑌𝐸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)∙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>
                    <a:solidFill>
                      <a:srgbClr val="FF0000"/>
                    </a:solidFill>
                  </a:rPr>
                  <a:t> are independent, then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</a:endParaRPr>
              </a:p>
              <a:p>
                <a:pPr algn="l">
                  <a:lnSpc>
                    <a:spcPct val="100000"/>
                  </a:lnSpc>
                </a:pPr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5362" y="1247759"/>
                <a:ext cx="12005187" cy="5685764"/>
              </a:xfrm>
              <a:blipFill>
                <a:blip r:embed="rId3"/>
                <a:stretch>
                  <a:fillRect l="-1067" t="-1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75267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3741" y="1057587"/>
                <a:ext cx="11938819" cy="5813977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7.8 </a:t>
                </a:r>
              </a:p>
              <a:p>
                <a:pPr algn="l"/>
                <a:r>
                  <a:rPr lang="en-US" altLang="zh-CN" sz="2800" dirty="0"/>
                  <a:t>Suppose the joint pdf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CN" sz="2800" dirty="0"/>
                  <a:t>is given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         0≤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≤1, 0≤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≤1, 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0                                            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dirty="0"/>
              </a:p>
              <a:p>
                <a:pPr algn="l"/>
                <a:r>
                  <a:rPr lang="en-US" altLang="zh-CN" sz="2800" dirty="0"/>
                  <a:t>The marginal pdf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algn="l"/>
                <a:r>
                  <a:rPr lang="en-US" altLang="zh-CN" sz="2800" dirty="0"/>
                  <a:t>The marginal pdf of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 is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 dirty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altLang="zh-CN" sz="28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=[4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−6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sSubSup>
                        <m:sSub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altLang="zh-CN" sz="2800" i="1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3741" y="1057587"/>
                <a:ext cx="11938819" cy="5813977"/>
              </a:xfrm>
              <a:blipFill>
                <a:blip r:embed="rId3"/>
                <a:stretch>
                  <a:fillRect l="-1021" t="-17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5335" y="2486623"/>
            <a:ext cx="3791659" cy="274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98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25362" y="1247759"/>
                <a:ext cx="12005187" cy="2948157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nary>
                            <m:nary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24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𝑥𝑦𝑑𝑦</m:t>
                              </m:r>
                            </m:e>
                          </m:nary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bSup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nary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US" altLang="zh-CN" sz="28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The </a:t>
                </a:r>
                <a:r>
                  <a:rPr lang="en-US" altLang="zh-CN" sz="2800" dirty="0"/>
                  <a:t>covariance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 between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is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den>
                      </m:f>
                    </m:oMath>
                  </m:oMathPara>
                </a14:m>
                <a:endParaRPr lang="en-US" altLang="zh-CN" sz="2800" dirty="0"/>
              </a:p>
              <a:p>
                <a:pPr algn="l"/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5362" y="1247759"/>
                <a:ext cx="12005187" cy="2948157"/>
              </a:xfrm>
              <a:blipFill>
                <a:blip r:embed="rId3"/>
                <a:stretch>
                  <a:fillRect l="-1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24005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25362" y="1247759"/>
                <a:ext cx="12005187" cy="5685764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7.3 Properties of covariance</a:t>
                </a: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(</a:t>
                </a:r>
                <a:r>
                  <a:rPr lang="en-US" altLang="zh-CN" sz="2800" dirty="0" err="1"/>
                  <a:t>i</a:t>
                </a:r>
                <a:r>
                  <a:rPr lang="en-US" altLang="zh-CN" sz="2800" dirty="0"/>
                  <a:t>)  </a:t>
                </a:r>
                <a:r>
                  <a:rPr lang="en-US" altLang="zh-CN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(ii)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Cov</m:t>
                    </m:r>
                    <m:d>
                      <m:d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(iv) 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Cov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5362" y="1247759"/>
                <a:ext cx="12005187" cy="5685764"/>
              </a:xfrm>
              <a:blipFill>
                <a:blip r:embed="rId3"/>
                <a:stretch>
                  <a:fillRect l="-1067" t="-1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09188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25362" y="1247759"/>
                <a:ext cx="12005187" cy="5685764"/>
              </a:xfrm>
            </p:spPr>
            <p:txBody>
              <a:bodyPr>
                <a:normAutofit/>
              </a:bodyPr>
              <a:lstStyle/>
              <a:p>
                <a:pPr lvl="0" algn="l">
                  <a:lnSpc>
                    <a:spcPct val="100000"/>
                  </a:lnSpc>
                </a:pP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Cov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b="0" i="1" dirty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err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are pairwise independent, in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800" dirty="0"/>
                  <a:t> are independent for</a:t>
                </a:r>
              </a:p>
              <a:p>
                <a:pPr lvl="0" algn="l"/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2800" dirty="0"/>
                  <a:t>, then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25362" y="1247759"/>
                <a:ext cx="12005187" cy="5685764"/>
              </a:xfrm>
              <a:blipFill>
                <a:blip r:embed="rId3"/>
                <a:stretch>
                  <a:fillRect l="-1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796013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17504"/>
                <a:ext cx="11938819" cy="5659119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7.9  Sample variance(</a:t>
                </a:r>
                <a:r>
                  <a:rPr lang="zh-CN" altLang="en-US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样本方差</a:t>
                </a: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)</a:t>
                </a:r>
              </a:p>
              <a:p>
                <a:pPr algn="l"/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altLang="zh-CN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err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/>
                  <a:t> be independent and identically distributed random variables having expected value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sz="2800" dirty="0"/>
                  <a:t>,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, let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zh-CN" sz="2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altLang="zh-CN" sz="2800" dirty="0"/>
                  <a:t> be 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sample mean</a:t>
                </a:r>
                <a:r>
                  <a:rPr lang="en-US" altLang="zh-CN" sz="2800" dirty="0"/>
                  <a:t>. The quantities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/>
                  <a:t>, are called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deviations</a:t>
                </a:r>
                <a:r>
                  <a:rPr lang="en-US" altLang="zh-CN" sz="2800" dirty="0"/>
                  <a:t>, as they equal the differences between the individual data and the sample mean. The  random variable </a:t>
                </a:r>
                <a:endParaRPr lang="en-US" altLang="zh-CN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algn="l"/>
                <a:r>
                  <a:rPr lang="en-US" altLang="zh-CN" sz="2800" dirty="0"/>
                  <a:t>is called 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sample variance</a:t>
                </a:r>
                <a:r>
                  <a:rPr lang="en-US" altLang="zh-CN" sz="2800" dirty="0"/>
                  <a:t>. Find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dirty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and (b)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800" dirty="0"/>
                  <a:t>.</a:t>
                </a:r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Solution: (a)</a:t>
                </a: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zh-CN" sz="26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800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  <m:r>
                                    <a:rPr lang="en-US" altLang="zh-CN" sz="28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altLang="zh-CN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:endParaRPr lang="en-US" altLang="zh-CN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17504"/>
                <a:ext cx="11938819" cy="5659119"/>
              </a:xfrm>
              <a:blipFill>
                <a:blip r:embed="rId3"/>
                <a:stretch>
                  <a:fillRect l="-1021" t="-2260" r="-1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27135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8994" y="1068997"/>
                <a:ext cx="12072865" cy="5659119"/>
              </a:xfrm>
            </p:spPr>
            <p:txBody>
              <a:bodyPr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−2(</m:t>
                      </m:r>
                      <m:acc>
                        <m:accPr>
                          <m:chr m:val="̅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8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</a:rPr>
                  <a:t>Taking expectations of the preceding yields</a:t>
                </a:r>
                <a:endParaRPr lang="en-US" altLang="zh-CN" sz="28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6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CN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zh-CN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6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sty m:val="p"/>
                        </m:rPr>
                        <a:rPr lang="en-US" altLang="zh-CN" sz="26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altLang="zh-CN" sz="26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altLang="zh-CN" sz="26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6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  <m:sSup>
                        <m:sSupPr>
                          <m:ctrlP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6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6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6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6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8994" y="1068997"/>
                <a:ext cx="12072865" cy="5659119"/>
              </a:xfrm>
              <a:blipFill>
                <a:blip r:embed="rId3"/>
                <a:stretch>
                  <a:fillRect l="-1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1192071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7988" y="1172236"/>
                <a:ext cx="11946193" cy="3362893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Correlation</a:t>
                </a:r>
              </a:p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Definition 7.2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correlation coefficient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（相关系数）</a:t>
                </a:r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r>
                  <a:rPr lang="en-US" altLang="zh-CN" sz="2800" dirty="0"/>
                  <a:t>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correlation coefficient </a:t>
                </a:r>
                <a:r>
                  <a:rPr lang="en-US" altLang="zh-CN" sz="2800" dirty="0"/>
                  <a:t>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, denoted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0" smtClean="0">
                        <a:latin typeface="Cambria Math" panose="02040503050406030204" pitchFamily="18" charset="0"/>
                      </a:rPr>
                      <m:t>Corr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CN" sz="2800" dirty="0"/>
                  <a:t>, or just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sz="2800" dirty="0"/>
                  <a:t>, is defined by</a:t>
                </a:r>
                <a:endParaRPr lang="en-US" altLang="zh-CN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7988" y="1172236"/>
                <a:ext cx="11946193" cy="3362893"/>
              </a:xfrm>
              <a:blipFill>
                <a:blip r:embed="rId3"/>
                <a:stretch>
                  <a:fillRect l="-1020" t="-30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81052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3742" y="1021090"/>
                <a:ext cx="11990439" cy="5785291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7.10 </a:t>
                </a:r>
              </a:p>
              <a:p>
                <a:pPr algn="l"/>
                <a:endParaRPr lang="en-US" altLang="zh-CN" sz="2800" b="0" dirty="0"/>
              </a:p>
              <a:p>
                <a:pPr algn="l"/>
                <a:endParaRPr lang="en-US" altLang="zh-CN" sz="2800" dirty="0"/>
              </a:p>
              <a:p>
                <a:pPr algn="l"/>
                <a:endParaRPr lang="en-US" altLang="zh-CN" sz="2800" b="0" i="1" dirty="0">
                  <a:latin typeface="Cambria Math" panose="02040503050406030204" pitchFamily="18" charset="0"/>
                </a:endParaRPr>
              </a:p>
              <a:p>
                <a:pPr algn="l"/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=175,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/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10000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0. 1+20000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∙0.2+25000∙0.15+50000∙0.3=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23750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Cov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altLang="zh-CN" sz="280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23750−175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∙125=23750−21875=1875</m:t>
                      </m:r>
                    </m:oMath>
                  </m:oMathPara>
                </a14:m>
                <a:endParaRPr lang="en-US" altLang="zh-CN" sz="2800" dirty="0"/>
              </a:p>
              <a:p>
                <a:pPr algn="l"/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3742" y="1021090"/>
                <a:ext cx="11990439" cy="5785291"/>
              </a:xfrm>
              <a:blipFill>
                <a:blip r:embed="rId3"/>
                <a:stretch>
                  <a:fillRect l="-1017" t="-1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733" y="1602258"/>
            <a:ext cx="11376494" cy="17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6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5865" y="1021087"/>
                <a:ext cx="11990439" cy="5563254"/>
              </a:xfrm>
            </p:spPr>
            <p:txBody>
              <a:bodyPr>
                <a:noAutofit/>
              </a:bodyPr>
              <a:lstStyle/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=10000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∙0.5+62500∙0.5=36250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=36250−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175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=5625, 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=75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nary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=10000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∙0.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5+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400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00∙0.5=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2250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2250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0−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68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25, 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82.9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/>
                  <a:t>The correlation coefficient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 is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Cov</m:t>
                          </m:r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1875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75∙82.9</m:t>
                          </m:r>
                        </m:den>
                      </m:f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=0.301</m:t>
                      </m:r>
                    </m:oMath>
                  </m:oMathPara>
                </a14:m>
                <a:endParaRPr lang="en-US" altLang="zh-CN" sz="2800" dirty="0"/>
              </a:p>
              <a:p>
                <a:pPr algn="l"/>
                <a:endParaRPr lang="en-US" altLang="zh-CN" sz="2800" dirty="0"/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5865" y="1021087"/>
                <a:ext cx="11990439" cy="5563254"/>
              </a:xfrm>
              <a:blipFill>
                <a:blip r:embed="rId3"/>
                <a:stretch>
                  <a:fillRect l="-10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056264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8324" y="1143336"/>
                <a:ext cx="11965857" cy="4822387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7.4 </a:t>
                </a: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1. 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CN" sz="2800" dirty="0"/>
                  <a:t> are either both positive or both negative,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0" smtClean="0">
                          <a:latin typeface="Cambria Math" panose="02040503050406030204" pitchFamily="18" charset="0"/>
                        </a:rPr>
                        <m:t>Corr</m:t>
                      </m:r>
                      <m:d>
                        <m:d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 err="1">
                              <a:latin typeface="Cambria Math" panose="02040503050406030204" pitchFamily="18" charset="0"/>
                            </a:rPr>
                            <m:t>𝑎𝑋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800" i="1" dirty="0" err="1">
                              <a:latin typeface="Cambria Math" panose="02040503050406030204" pitchFamily="18" charset="0"/>
                            </a:rPr>
                            <m:t>𝑐𝑌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i="0">
                          <a:latin typeface="Cambria Math" panose="02040503050406030204" pitchFamily="18" charset="0"/>
                        </a:rPr>
                        <m:t>Corr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2. For any two </a:t>
                </a:r>
                <a:r>
                  <a:rPr lang="en-US" altLang="zh-CN" sz="2800" dirty="0" err="1"/>
                  <a:t>rv’s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2800" i="0">
                        <a:latin typeface="Cambria Math" panose="02040503050406030204" pitchFamily="18" charset="0"/>
                      </a:rPr>
                      <m:t>Corr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)≤1.</m:t>
                    </m:r>
                  </m:oMath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Proposition 7.5 </a:t>
                </a:r>
              </a:p>
              <a:p>
                <a:pPr algn="l"/>
                <a:r>
                  <a:rPr lang="en-US" altLang="zh-CN" sz="2800" dirty="0"/>
                  <a:t>1. 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 are independent, then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/>
                  <a:t>, but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800" dirty="0"/>
                  <a:t> does not imply  independence.</a:t>
                </a:r>
              </a:p>
              <a:p>
                <a:pPr algn="l"/>
                <a:r>
                  <a:rPr lang="en-US" altLang="zh-CN" sz="2800" dirty="0"/>
                  <a:t>2.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800" dirty="0"/>
                  <a:t> or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800" dirty="0"/>
                  <a:t> </a:t>
                </a:r>
                <a:r>
                  <a:rPr lang="en-US" altLang="zh-CN" sz="2800" dirty="0" err="1"/>
                  <a:t>iff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 err="1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/>
                  <a:t>for some numbers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800" dirty="0"/>
                  <a:t> with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8324" y="1143336"/>
                <a:ext cx="11965857" cy="4822387"/>
              </a:xfrm>
              <a:blipFill>
                <a:blip r:embed="rId3"/>
                <a:stretch>
                  <a:fillRect l="-1019" t="-2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78605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82678" y="1247759"/>
                <a:ext cx="11909322" cy="5737384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Note: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sz="2800" dirty="0"/>
                  <a:t> is a measure of the degree of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linear relationship </a:t>
                </a:r>
                <a:r>
                  <a:rPr lang="en-US" altLang="zh-CN" sz="2800" dirty="0"/>
                  <a:t>between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, and only when the two variables are perfectly related in a linear manner will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zh-CN" sz="2800" dirty="0"/>
                  <a:t> be as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positive</a:t>
                </a:r>
                <a:r>
                  <a:rPr lang="en-US" altLang="zh-CN" sz="2800" dirty="0"/>
                  <a:t> or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negative</a:t>
                </a:r>
                <a:r>
                  <a:rPr lang="en-US" altLang="zh-CN" sz="2800" dirty="0"/>
                  <a:t> as it can be.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zh-CN" altLang="en-US" sz="2800" b="1" i="1" dirty="0">
                        <a:latin typeface="Cambria Math" panose="02040503050406030204" pitchFamily="18" charset="0"/>
                      </a:rPr>
                      <m:t>𝝆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2800" b="1" dirty="0"/>
                  <a:t> does not imply that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sz="2800" b="1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CN" sz="2800" b="1" dirty="0"/>
                  <a:t> are independent, but only that there is complete absence of a linear relationship. </a:t>
                </a:r>
                <a:r>
                  <a:rPr lang="en-US" altLang="zh-CN" sz="2800" dirty="0"/>
                  <a:t>When 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8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altLang="zh-CN" sz="2800" dirty="0"/>
                  <a:t> are said to be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uncorrelated</a:t>
                </a:r>
                <a:r>
                  <a:rPr lang="en-US" altLang="zh-CN" sz="2800" dirty="0"/>
                  <a:t>.</a:t>
                </a:r>
                <a:endParaRPr lang="en-US" altLang="zh-CN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82678" y="1247759"/>
                <a:ext cx="11909322" cy="5737384"/>
              </a:xfrm>
              <a:blipFill>
                <a:blip r:embed="rId3"/>
                <a:stretch>
                  <a:fillRect l="-1024" t="-10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5537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3237" y="1068997"/>
                <a:ext cx="11997815" cy="5570891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Moment Generating Functions</a:t>
                </a:r>
              </a:p>
              <a:p>
                <a:pPr algn="l"/>
                <a:r>
                  <a:rPr lang="en-US" altLang="zh-CN" sz="2800" dirty="0"/>
                  <a:t>The 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moment generating function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of the random variable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is defined for all real values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sz="2800" dirty="0"/>
                  <a:t> by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sz="280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800" b="0" i="1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p>
                                  </m:sSup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if</m:t>
                              </m:r>
                              <m: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1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discrete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with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mass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function</m:t>
                              </m:r>
                              <m:r>
                                <a:rPr lang="en-US" altLang="zh-CN" sz="2800" b="0" i="0" dirty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nary>
                                <m:naryPr>
                                  <m:ctrlPr>
                                    <a:rPr lang="en-US" altLang="zh-CN" sz="28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b="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altLang="zh-CN" sz="2800" i="1" dirty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𝑡𝑥</m:t>
                                      </m:r>
                                    </m:sup>
                                  </m:sSup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nary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if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dirty="0" smtClean="0">
                                  <a:solidFill>
                                    <a:prstClr val="black"/>
                                  </a:solidFill>
                                </a:rPr>
                                <m:t>continuous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with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b="0" i="0" dirty="0" smtClean="0">
                                  <a:solidFill>
                                    <a:prstClr val="black"/>
                                  </a:solidFill>
                                </a:rPr>
                                <m:t>density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</a:rPr>
                                <m:t>function</m:t>
                              </m:r>
                              <m:r>
                                <a:rPr lang="en-US" altLang="zh-CN" sz="2800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We call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the moment generating function because all of the moments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/>
                  <a:t> can be obtained by successively differentiating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/>
                  <a:t> and then evaluating the result 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800" dirty="0"/>
                  <a:t>. For example,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𝑡𝑋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endParaRPr lang="en-US" altLang="zh-CN" sz="2800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3237" y="1068997"/>
                <a:ext cx="11997815" cy="5570891"/>
              </a:xfrm>
              <a:blipFill>
                <a:blip r:embed="rId3"/>
                <a:stretch>
                  <a:fillRect l="-1067" t="-1860" r="-6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29738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3237" y="1068997"/>
                <a:ext cx="11997815" cy="5570891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/>
                  <a:t>Evaluated at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800" dirty="0"/>
                  <a:t>, we obtain</a:t>
                </a:r>
                <a:endParaRPr lang="en-US" altLang="zh-CN" sz="2800" b="0" i="1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/>
              </a:p>
              <a:p>
                <a:pPr lvl="0" algn="l"/>
                <a:r>
                  <a:rPr lang="en-US" altLang="zh-CN" sz="2800" dirty="0"/>
                  <a:t>Similarly,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𝑡𝑋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Thus,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′′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In general, the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th derivative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</a:rPr>
                  <a:t> is given by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𝑡𝑋</m:t>
                              </m:r>
                            </m:sup>
                          </m:sSup>
                        </m:e>
                      </m:d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  <a:p>
                <a:pPr lvl="0" algn="l"/>
                <a:r>
                  <a:rPr lang="en-US" altLang="zh-CN" sz="2800" dirty="0">
                    <a:solidFill>
                      <a:prstClr val="black"/>
                    </a:solidFill>
                  </a:rPr>
                  <a:t>implying that</a:t>
                </a:r>
              </a:p>
              <a:p>
                <a:pPr lvl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3237" y="1068997"/>
                <a:ext cx="11997815" cy="5570891"/>
              </a:xfrm>
              <a:blipFill>
                <a:blip r:embed="rId3"/>
                <a:stretch>
                  <a:fillRect l="-1067" t="-17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3839690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25140"/>
                <a:ext cx="11938819" cy="5659119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7.11  Binomial distribution with parameters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sz="2800" dirty="0">
                  <a:solidFill>
                    <a:srgbClr val="0070C0"/>
                  </a:solidFill>
                  <a:latin typeface="Arial Black" panose="020B0A04020102020204" pitchFamily="34" charset="0"/>
                </a:endParaRPr>
              </a:p>
              <a:p>
                <a:pPr algn="l"/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is a binomial random variable with parameters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then</a:t>
                </a:r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𝑡𝑘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</m:mr>
                              </m:m>
                            </m:e>
                          </m:d>
                          <m:sSup>
                            <m:sSup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+1−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28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where the last equality follows from the binomial theorem.</a:t>
                </a:r>
                <a:endParaRPr lang="en-US" altLang="zh-CN" sz="2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/>
                  <a:t>Differentiation yields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 err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 err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+1−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zh-CN" sz="2800" b="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25140"/>
                <a:ext cx="11938819" cy="5659119"/>
              </a:xfrm>
              <a:blipFill>
                <a:blip r:embed="rId3"/>
                <a:stretch>
                  <a:fillRect l="-1021" t="-19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94806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Thus,</a:t>
                </a:r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𝑛𝑝</m:t>
                      </m:r>
                    </m:oMath>
                  </m:oMathPara>
                </a14:m>
                <a:endParaRPr lang="en-US" altLang="zh-CN" sz="28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altLang="zh-CN" sz="2800" dirty="0"/>
                  <a:t>Differentiating a second time yields</a:t>
                </a:r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 err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 err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+1−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 err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 dirty="0" err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+1−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800" i="1" dirty="0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zh-CN" sz="28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So,</a:t>
                </a:r>
                <a:endParaRPr lang="zh-CN" altLang="zh-CN" sz="1200" dirty="0">
                  <a:solidFill>
                    <a:prstClr val="black"/>
                  </a:solidFill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lvl="0" indent="266700"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𝑛𝑝</m:t>
                      </m:r>
                    </m:oMath>
                  </m:oMathPara>
                </a14:m>
                <a:endParaRPr lang="en-US" altLang="zh-CN" sz="2800" dirty="0"/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The variance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is given by</a:t>
                </a:r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𝑛𝑝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𝑛𝑝</m:t>
                              </m:r>
                            </m:e>
                          </m:d>
                        </m:e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800" dirty="0"/>
              </a:p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𝑛𝑝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altLang="zh-CN" sz="2800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  <a:blipFill>
                <a:blip r:embed="rId3"/>
                <a:stretch>
                  <a:fillRect l="-1021" t="-11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50803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7.12   Poisson distribution with mean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.</a:t>
                </a:r>
              </a:p>
              <a:p>
                <a:pPr algn="l"/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If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is a Poisson random variable with parameters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, then</a:t>
                </a:r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8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zh-CN" sz="28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ctrlPr>
                            <a:rPr lang="zh-CN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  <m:sSup>
                                    <m:sSupPr>
                                      <m:ctrlPr>
                                        <a:rPr lang="zh-CN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  <m: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zh-CN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sz="28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  <a:endParaRPr lang="en-US" altLang="zh-CN" sz="2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l"/>
                <a:r>
                  <a:rPr lang="en-US" altLang="zh-CN" sz="2800" dirty="0"/>
                  <a:t>Differentiation yields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zh-CN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zh-CN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sz="2800" b="0" dirty="0">
                  <a:solidFill>
                    <a:prstClr val="black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zh-CN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zh-CN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sup>
                      </m:sSup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  <m:sSup>
                                    <m:sSupPr>
                                      <m:ctrlPr>
                                        <a:rPr lang="zh-CN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CN" sz="28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𝑡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sup>
                      </m:sSup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zh-CN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sz="2800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  <a:blipFill>
                <a:blip r:embed="rId3"/>
                <a:stretch>
                  <a:fillRect l="-1021" t="-2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403390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Thus,</a:t>
                </a:r>
                <a:endParaRPr lang="zh-CN" altLang="zh-CN" sz="12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0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US" altLang="zh-CN" sz="2800" b="0" dirty="0">
                  <a:cs typeface="Times New Roman" panose="02020603050405020304" pitchFamily="18" charset="0"/>
                </a:endParaRPr>
              </a:p>
              <a:p>
                <a:pPr lvl="0" indent="266700"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  <a:cs typeface="Times New Roman" panose="02020603050405020304" pitchFamily="18" charset="0"/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The variance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is given by</a:t>
                </a:r>
              </a:p>
              <a:p>
                <a:pPr lvl="0" indent="266700"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solidFill>
                                <a:prstClr val="black"/>
                              </a:solidFill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  <a:cs typeface="Times New Roman" panose="02020603050405020304" pitchFamily="18" charset="0"/>
                </a:endParaRPr>
              </a:p>
              <a:p>
                <a:pPr lvl="0" indent="266700" algn="just">
                  <a:lnSpc>
                    <a:spcPct val="100000"/>
                  </a:lnSpc>
                </a:pPr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Hence, both the mean and the variance of the Poisson random variable equal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  <a:blipFill>
                <a:blip r:embed="rId3"/>
                <a:stretch>
                  <a:fillRect l="-1021" t="-1122" r="-17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9164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副标题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Example 7.13   Exponential distribution with parameter 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800" dirty="0">
                    <a:solidFill>
                      <a:srgbClr val="0070C0"/>
                    </a:solidFill>
                    <a:latin typeface="Arial Black" panose="020B0A04020102020204" pitchFamily="34" charset="0"/>
                  </a:rPr>
                  <a:t>.</a:t>
                </a:r>
              </a:p>
              <a:p>
                <a:pPr indent="26670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𝑡𝑋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zh-CN" sz="2800" dirty="0">
                  <a:latin typeface="Tahoma" panose="020B060403050404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nary>
                        <m:nary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for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</m:oMath>
                  </m:oMathPara>
                </a14:m>
                <a:endParaRPr lang="en-US" altLang="zh-CN" sz="2800" dirty="0"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0" algn="just"/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We note from this derivation that for the exponential distribution,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is defined only for values of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zh-CN" sz="28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less than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</m:oMath>
                </a14:m>
                <a:r>
                  <a:rPr lang="en-US" altLang="zh-CN" sz="2800" dirty="0">
                    <a:solidFill>
                      <a:prstClr val="black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CN" sz="2800" dirty="0"/>
                  <a:t>Differentiation yields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sz="28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𝜆</m:t>
                                  </m:r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800" b="0" dirty="0">
                  <a:solidFill>
                    <a:prstClr val="black"/>
                  </a:solidFill>
                </a:endParaRPr>
              </a:p>
              <a:p>
                <a:pPr lvl="0" algn="l">
                  <a:lnSpc>
                    <a:spcPct val="100000"/>
                  </a:lnSpc>
                </a:pPr>
                <a:r>
                  <a:rPr lang="en-US" altLang="zh-CN" sz="2800" dirty="0">
                    <a:solidFill>
                      <a:prstClr val="black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Thus,                            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zh-CN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den>
                    </m:f>
                    <m:r>
                      <a:rPr lang="en-US" altLang="zh-CN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zh-CN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zh-CN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800" dirty="0">
                  <a:solidFill>
                    <a:prstClr val="black"/>
                  </a:solidFill>
                  <a:cs typeface="Times New Roman" panose="02020603050405020304" pitchFamily="18" charset="0"/>
                </a:endParaRPr>
              </a:p>
              <a:p>
                <a:pPr lvl="0" indent="266700"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d>
                        <m:d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8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副标题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81115" y="1198881"/>
                <a:ext cx="11938819" cy="5430520"/>
              </a:xfrm>
              <a:blipFill>
                <a:blip r:embed="rId3"/>
                <a:stretch>
                  <a:fillRect l="-1021" t="-2020" r="-10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62457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2845" y="1327356"/>
            <a:ext cx="11049090" cy="4581216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Homework</a:t>
            </a:r>
          </a:p>
          <a:p>
            <a:pPr algn="l"/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Page 375  Problems</a:t>
            </a:r>
          </a:p>
          <a:p>
            <a:pPr algn="l"/>
            <a:r>
              <a:rPr lang="en-US" altLang="zh-CN" sz="2800" dirty="0"/>
              <a:t>1, 4, 6, 30, 33, 40</a:t>
            </a:r>
          </a:p>
          <a:p>
            <a:pPr lvl="0" algn="l"/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Page 382  Theoretical Exercises</a:t>
            </a:r>
          </a:p>
          <a:p>
            <a:pPr lvl="0" algn="l"/>
            <a:r>
              <a:rPr lang="en-US" altLang="zh-CN" sz="2800" dirty="0"/>
              <a:t>1, 19, 22</a:t>
            </a:r>
          </a:p>
          <a:p>
            <a:pPr lvl="0" algn="l"/>
            <a:r>
              <a:rPr lang="en-US" altLang="zh-CN" sz="2800" dirty="0">
                <a:solidFill>
                  <a:srgbClr val="0070C0"/>
                </a:solidFill>
                <a:latin typeface="Arial Black" panose="020B0A04020102020204" pitchFamily="34" charset="0"/>
              </a:rPr>
              <a:t>Page 386  Self-Test Problems and Exercises</a:t>
            </a:r>
          </a:p>
          <a:p>
            <a:pPr lvl="0" algn="l"/>
            <a:r>
              <a:rPr lang="en-US" altLang="zh-CN" sz="2800" dirty="0"/>
              <a:t>32</a:t>
            </a:r>
          </a:p>
          <a:p>
            <a:pPr algn="l"/>
            <a:endParaRPr lang="en-US" altLang="zh-CN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" y="124886"/>
            <a:ext cx="3180080" cy="9441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0" y="1"/>
            <a:ext cx="3942080" cy="11988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84880" y="48879"/>
            <a:ext cx="490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DLI</a:t>
            </a:r>
          </a:p>
        </p:txBody>
      </p:sp>
    </p:spTree>
    <p:extLst>
      <p:ext uri="{BB962C8B-B14F-4D97-AF65-F5344CB8AC3E}">
        <p14:creationId xmlns:p14="http://schemas.microsoft.com/office/powerpoint/2010/main" val="2153331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50093</TotalTime>
  <Words>2563</Words>
  <Application>Microsoft Office PowerPoint</Application>
  <PresentationFormat>宽屏</PresentationFormat>
  <Paragraphs>284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Arial</vt:lpstr>
      <vt:lpstr>Arial Black</vt:lpstr>
      <vt:lpstr>Calibri</vt:lpstr>
      <vt:lpstr>Calibri Light</vt:lpstr>
      <vt:lpstr>Cambria Math</vt:lpstr>
      <vt:lpstr>Tahoma</vt:lpstr>
      <vt:lpstr>Times New Roman</vt:lpstr>
      <vt:lpstr>Wingdings</vt:lpstr>
      <vt:lpstr>Office 主题</vt:lpstr>
      <vt:lpstr>Lecture 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jintao</dc:creator>
  <cp:lastModifiedBy>gqj200312067@163.com</cp:lastModifiedBy>
  <cp:revision>1996</cp:revision>
  <dcterms:created xsi:type="dcterms:W3CDTF">2017-08-02T16:53:24Z</dcterms:created>
  <dcterms:modified xsi:type="dcterms:W3CDTF">2025-12-10T15:13:09Z</dcterms:modified>
</cp:coreProperties>
</file>