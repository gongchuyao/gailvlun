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429" r:id="rId3"/>
    <p:sldId id="477" r:id="rId4"/>
    <p:sldId id="480" r:id="rId5"/>
    <p:sldId id="478" r:id="rId6"/>
    <p:sldId id="486" r:id="rId7"/>
    <p:sldId id="488" r:id="rId8"/>
    <p:sldId id="483" r:id="rId9"/>
    <p:sldId id="487" r:id="rId10"/>
    <p:sldId id="490" r:id="rId11"/>
    <p:sldId id="491" r:id="rId12"/>
    <p:sldId id="489" r:id="rId13"/>
    <p:sldId id="492" r:id="rId14"/>
    <p:sldId id="484" r:id="rId15"/>
    <p:sldId id="469" r:id="rId16"/>
    <p:sldId id="485" r:id="rId17"/>
    <p:sldId id="470" r:id="rId18"/>
    <p:sldId id="471" r:id="rId19"/>
    <p:sldId id="476" r:id="rId20"/>
    <p:sldId id="494" r:id="rId21"/>
    <p:sldId id="450" r:id="rId22"/>
    <p:sldId id="495" r:id="rId23"/>
    <p:sldId id="481" r:id="rId24"/>
    <p:sldId id="451" r:id="rId25"/>
    <p:sldId id="482" r:id="rId26"/>
    <p:sldId id="493" r:id="rId27"/>
    <p:sldId id="458" r:id="rId28"/>
    <p:sldId id="496" r:id="rId29"/>
    <p:sldId id="497" r:id="rId30"/>
    <p:sldId id="498" r:id="rId31"/>
    <p:sldId id="499" r:id="rId32"/>
    <p:sldId id="472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0996" autoAdjust="0"/>
  </p:normalViewPr>
  <p:slideViewPr>
    <p:cSldViewPr snapToGrid="0">
      <p:cViewPr varScale="1">
        <p:scale>
          <a:sx n="65" d="100"/>
          <a:sy n="65" d="100"/>
        </p:scale>
        <p:origin x="144" y="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11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B4A429-F965-43FE-9E80-AA88C25A97ED}" type="datetimeFigureOut">
              <a:rPr lang="zh-CN" altLang="en-US" smtClean="0"/>
              <a:t>2024/9/20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B7839-0288-40B0-805F-AB96B0C1BE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07398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40FB8-AFBC-4675-8070-BC9FB7D3F440}" type="datetimeFigureOut">
              <a:rPr lang="zh-CN" altLang="en-US" smtClean="0"/>
              <a:t>2024/9/20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522D6-4530-4D22-B87B-D541727931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6297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054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349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533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736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828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334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694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442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106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0653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6935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6008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3569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7176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0029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7030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0488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3523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8294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3682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4965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4316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9476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878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7005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1610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5716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3008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175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7179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7617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457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9CE6-CAEB-4385-B336-CF7D7D192455}" type="datetime1">
              <a:rPr lang="zh-CN" altLang="en-US" smtClean="0"/>
              <a:t>2024/9/20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754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1E69C-C08A-4A65-B447-AADFA937ABE1}" type="datetime1">
              <a:rPr lang="zh-CN" altLang="en-US" smtClean="0"/>
              <a:t>2024/9/20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156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9A651-68BC-4573-8900-8E8A57F54EFA}" type="datetime1">
              <a:rPr lang="zh-CN" altLang="en-US" smtClean="0"/>
              <a:t>2024/9/20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13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435C6-1BFE-4317-9FC4-5E89E00569D3}" type="datetime1">
              <a:rPr lang="zh-CN" altLang="en-US" smtClean="0"/>
              <a:t>2024/9/20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43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54329-6BF8-4599-85CA-31126AB9D141}" type="datetime1">
              <a:rPr lang="zh-CN" altLang="en-US" smtClean="0"/>
              <a:t>2024/9/20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382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B017-5F45-44A5-988A-8F6FDCD39E7E}" type="datetime1">
              <a:rPr lang="zh-CN" altLang="en-US" smtClean="0"/>
              <a:t>2024/9/20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86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237B2-D9E3-4464-903E-B93583AF56FF}" type="datetime1">
              <a:rPr lang="zh-CN" altLang="en-US" smtClean="0"/>
              <a:t>2024/9/20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35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2C316-55FC-4088-B0CC-FABDB989E157}" type="datetime1">
              <a:rPr lang="zh-CN" altLang="en-US" smtClean="0"/>
              <a:t>2024/9/20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48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EE58-D793-4AE8-80E6-AC00A4704FC4}" type="datetime1">
              <a:rPr lang="zh-CN" altLang="en-US" smtClean="0"/>
              <a:t>2024/9/20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37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A92A-E230-4543-8945-BF93DC996D15}" type="datetime1">
              <a:rPr lang="zh-CN" altLang="en-US" smtClean="0"/>
              <a:t>2024/9/20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544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EE6F0-7055-4C0D-8BCA-9538F0E5021B}" type="datetime1">
              <a:rPr lang="zh-CN" altLang="en-US" smtClean="0"/>
              <a:t>2024/9/20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651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83BF8-85A7-44CC-8B86-6D05CB52A8A5}" type="datetime1">
              <a:rPr lang="zh-CN" altLang="en-US" smtClean="0"/>
              <a:t>2024/9/20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smtClean="0"/>
              <a:t>Lecture 13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44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831282"/>
            <a:ext cx="9144000" cy="1045184"/>
          </a:xfrm>
        </p:spPr>
        <p:txBody>
          <a:bodyPr>
            <a:noAutofit/>
          </a:bodyPr>
          <a:lstStyle/>
          <a:p>
            <a:r>
              <a:rPr lang="en-US" altLang="zh-CN" sz="8000" b="1" dirty="0" smtClean="0"/>
              <a:t>Lecture 3</a:t>
            </a:r>
            <a:endParaRPr lang="zh-CN" altLang="en-US" sz="8000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61258" y="3128753"/>
            <a:ext cx="10069484" cy="2529878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FF0000"/>
                </a:solidFill>
              </a:rPr>
              <a:t>Conditional Probability and </a:t>
            </a:r>
            <a:r>
              <a:rPr lang="en-US" altLang="zh-CN" sz="4800" b="1" dirty="0" smtClean="0">
                <a:solidFill>
                  <a:srgbClr val="FF0000"/>
                </a:solidFill>
              </a:rPr>
              <a:t>Independence</a:t>
            </a:r>
          </a:p>
          <a:p>
            <a:r>
              <a:rPr lang="zh-CN" altLang="en-US" sz="4800" b="1" dirty="0" smtClean="0"/>
              <a:t>条件概率和独立性</a:t>
            </a:r>
            <a:endParaRPr lang="zh-CN" altLang="en-US" sz="4800" b="1" dirty="0">
              <a:solidFill>
                <a:srgbClr val="FF0000"/>
              </a:solidFill>
            </a:endParaRPr>
          </a:p>
          <a:p>
            <a:endParaRPr lang="en-US" altLang="zh-CN" sz="4800" b="1" dirty="0" smtClean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86516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7440" y="1490375"/>
            <a:ext cx="10231120" cy="4488583"/>
          </a:xfrm>
          <a:noFill/>
        </p:spPr>
        <p:txBody>
          <a:bodyPr>
            <a:normAutofit/>
          </a:bodyPr>
          <a:lstStyle/>
          <a:p>
            <a:r>
              <a:rPr lang="en-US" altLang="zh-CN" sz="4000" b="1" dirty="0" smtClean="0">
                <a:solidFill>
                  <a:srgbClr val="FF0000"/>
                </a:solidFill>
              </a:rPr>
              <a:t>Outline</a:t>
            </a:r>
          </a:p>
          <a:p>
            <a:endParaRPr lang="en-US" altLang="zh-CN" sz="4000" b="1" dirty="0">
              <a:solidFill>
                <a:srgbClr val="FF0000"/>
              </a:solidFill>
            </a:endParaRP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rgbClr val="FF0000"/>
                </a:solidFill>
              </a:rPr>
              <a:t>Conditional </a:t>
            </a:r>
            <a:r>
              <a:rPr lang="en-US" altLang="zh-CN" sz="3600" b="1" dirty="0" smtClean="0">
                <a:solidFill>
                  <a:srgbClr val="FF0000"/>
                </a:solidFill>
              </a:rPr>
              <a:t>Probability           </a:t>
            </a:r>
            <a:r>
              <a:rPr lang="zh-CN" altLang="en-US" sz="3600" b="1" dirty="0" smtClean="0"/>
              <a:t>条件概率</a:t>
            </a:r>
            <a:endParaRPr lang="en-US" altLang="zh-CN" sz="3600" b="1" dirty="0" smtClean="0"/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altLang="zh-CN" sz="3600" b="1" dirty="0" err="1" smtClean="0">
                <a:solidFill>
                  <a:srgbClr val="FF0000"/>
                </a:solidFill>
              </a:rPr>
              <a:t>Bayes‘s</a:t>
            </a:r>
            <a:r>
              <a:rPr lang="en-US" altLang="zh-CN" sz="36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</a:rPr>
              <a:t>Formula</a:t>
            </a:r>
            <a:r>
              <a:rPr lang="en-US" altLang="zh-CN" sz="3600" b="1" dirty="0"/>
              <a:t>                        </a:t>
            </a:r>
            <a:r>
              <a:rPr lang="zh-CN" altLang="en-US" sz="3600" b="1" dirty="0"/>
              <a:t>贝叶斯公式</a:t>
            </a:r>
            <a:endParaRPr lang="en-US" altLang="zh-CN" sz="3600" b="1" dirty="0"/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altLang="zh-CN" sz="3600" b="1" dirty="0" smtClean="0">
                <a:solidFill>
                  <a:srgbClr val="FF0000"/>
                </a:solidFill>
              </a:rPr>
              <a:t>Independence</a:t>
            </a:r>
            <a:r>
              <a:rPr lang="en-US" altLang="zh-CN" sz="3600" b="1" dirty="0" smtClean="0"/>
              <a:t>                            </a:t>
            </a:r>
            <a:r>
              <a:rPr lang="zh-CN" altLang="en-US" sz="3600" b="1" dirty="0" smtClean="0"/>
              <a:t>独立性</a:t>
            </a:r>
            <a:endParaRPr lang="en-US" altLang="zh-CN" sz="3600" b="1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50805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116" y="1157487"/>
            <a:ext cx="11887200" cy="5700513"/>
          </a:xfrm>
        </p:spPr>
        <p:txBody>
          <a:bodyPr>
            <a:normAutofit/>
          </a:bodyPr>
          <a:lstStyle/>
          <a:p>
            <a:pPr lvl="0" algn="l">
              <a:lnSpc>
                <a:spcPct val="100000"/>
              </a:lnSpc>
            </a:pPr>
            <a:r>
              <a:rPr lang="en-US" altLang="zh-CN" sz="28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Introduction</a:t>
            </a:r>
          </a:p>
          <a:p>
            <a:pPr lvl="0" algn="l">
              <a:lnSpc>
                <a:spcPct val="100000"/>
              </a:lnSpc>
            </a:pPr>
            <a:r>
              <a:rPr lang="en-US" altLang="zh-CN" sz="2800" dirty="0"/>
              <a:t>In this chapter, we introduce one of the most important concepts in </a:t>
            </a:r>
            <a:r>
              <a:rPr lang="en-US" altLang="zh-CN" sz="2800" dirty="0" smtClean="0"/>
              <a:t>probability theory</a:t>
            </a:r>
            <a:r>
              <a:rPr lang="en-US" altLang="zh-CN" sz="2800" dirty="0"/>
              <a:t>, that of </a:t>
            </a:r>
            <a:r>
              <a:rPr lang="en-US" altLang="zh-CN" sz="2800" dirty="0">
                <a:solidFill>
                  <a:srgbClr val="FF0000"/>
                </a:solidFill>
              </a:rPr>
              <a:t>conditional probability</a:t>
            </a:r>
            <a:r>
              <a:rPr lang="en-US" altLang="zh-CN" sz="2800" dirty="0"/>
              <a:t>. </a:t>
            </a:r>
            <a:endParaRPr lang="en-US" altLang="zh-CN" sz="2800" dirty="0" smtClean="0"/>
          </a:p>
          <a:p>
            <a:pPr lvl="0" algn="l">
              <a:lnSpc>
                <a:spcPct val="100000"/>
              </a:lnSpc>
            </a:pPr>
            <a:r>
              <a:rPr lang="en-US" altLang="zh-CN" sz="2800" dirty="0" smtClean="0"/>
              <a:t>The </a:t>
            </a:r>
            <a:r>
              <a:rPr lang="en-US" altLang="zh-CN" sz="2800" dirty="0"/>
              <a:t>importance of this concept is twofold</a:t>
            </a:r>
            <a:r>
              <a:rPr lang="en-US" altLang="zh-CN" sz="2800" dirty="0" smtClean="0"/>
              <a:t>. </a:t>
            </a:r>
          </a:p>
          <a:p>
            <a:pPr lvl="0" algn="l">
              <a:lnSpc>
                <a:spcPct val="100000"/>
              </a:lnSpc>
            </a:pPr>
            <a:r>
              <a:rPr lang="en-US" altLang="zh-CN" sz="2800" dirty="0" smtClean="0"/>
              <a:t>In </a:t>
            </a:r>
            <a:r>
              <a:rPr lang="en-US" altLang="zh-CN" sz="2800" dirty="0"/>
              <a:t>the first place, we are often interested in calculating probabilities when </a:t>
            </a:r>
            <a:r>
              <a:rPr lang="en-US" altLang="zh-CN" sz="2800" dirty="0" smtClean="0"/>
              <a:t>some partial </a:t>
            </a:r>
            <a:r>
              <a:rPr lang="en-US" altLang="zh-CN" sz="2800" dirty="0"/>
              <a:t>information concerning the result of an experiment is available; in such </a:t>
            </a:r>
            <a:r>
              <a:rPr lang="en-US" altLang="zh-CN" sz="2800" dirty="0" smtClean="0"/>
              <a:t>a situation</a:t>
            </a:r>
            <a:r>
              <a:rPr lang="en-US" altLang="zh-CN" sz="2800" dirty="0"/>
              <a:t>, the desired probabilities are conditional. </a:t>
            </a:r>
            <a:endParaRPr lang="en-US" altLang="zh-CN" sz="2800" dirty="0" smtClean="0"/>
          </a:p>
          <a:p>
            <a:pPr lvl="0" algn="l">
              <a:lnSpc>
                <a:spcPct val="100000"/>
              </a:lnSpc>
            </a:pPr>
            <a:r>
              <a:rPr lang="en-US" altLang="zh-CN" sz="2800" dirty="0" smtClean="0"/>
              <a:t>Second</a:t>
            </a:r>
            <a:r>
              <a:rPr lang="en-US" altLang="zh-CN" sz="2800" dirty="0"/>
              <a:t>, even when no </a:t>
            </a:r>
            <a:r>
              <a:rPr lang="en-US" altLang="zh-CN" sz="2800" dirty="0" smtClean="0"/>
              <a:t>partial information </a:t>
            </a:r>
            <a:r>
              <a:rPr lang="en-US" altLang="zh-CN" sz="2800" dirty="0"/>
              <a:t>is available, conditional probabilities can often be used to compute </a:t>
            </a:r>
            <a:r>
              <a:rPr lang="en-US" altLang="zh-CN" sz="2800" dirty="0" smtClean="0"/>
              <a:t>the desired </a:t>
            </a:r>
            <a:r>
              <a:rPr lang="en-US" altLang="zh-CN" sz="2800" dirty="0"/>
              <a:t>probabilities more </a:t>
            </a:r>
            <a:r>
              <a:rPr lang="en-US" altLang="zh-CN" sz="2800" dirty="0" smtClean="0"/>
              <a:t>easily</a:t>
            </a:r>
            <a:r>
              <a:rPr lang="en-US" altLang="zh-CN" sz="2800" dirty="0"/>
              <a:t>.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89195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0" y="1068997"/>
                <a:ext cx="12137923" cy="5706477"/>
              </a:xfrm>
            </p:spPr>
            <p:txBody>
              <a:bodyPr>
                <a:normAutofit/>
              </a:bodyPr>
              <a:lstStyle/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Conditional Probabilities</a:t>
                </a: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prstClr val="black"/>
                    </a:solidFill>
                  </a:rPr>
                  <a:t>The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probability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is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called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the conditional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probability that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occurs given that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has occurred and is denoted by</a:t>
                </a: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Definition 3.1</a:t>
                </a:r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prstClr val="black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8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)&gt;0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, then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𝐸𝐹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28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algn="l">
                  <a:lnSpc>
                    <a:spcPct val="100000"/>
                  </a:lnSpc>
                </a:pPr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0" y="1068997"/>
                <a:ext cx="12137923" cy="5706477"/>
              </a:xfrm>
              <a:blipFill>
                <a:blip r:embed="rId3"/>
                <a:stretch>
                  <a:fillRect l="-1005" t="-10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41323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25115" y="1198881"/>
                <a:ext cx="11621729" cy="51252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3.1   </a:t>
                </a:r>
                <a:r>
                  <a:rPr lang="en-US" altLang="zh-CN" sz="2800" dirty="0"/>
                  <a:t>In the card game bridge, the 52 cards are dealt out equally to 4 players-called East</a:t>
                </a:r>
                <a:r>
                  <a:rPr lang="en-US" altLang="zh-CN" sz="2800" dirty="0" smtClean="0"/>
                  <a:t>, West</a:t>
                </a:r>
                <a:r>
                  <a:rPr lang="en-US" altLang="zh-CN" sz="2800" dirty="0"/>
                  <a:t>, North, and South. If North and South have a total of 8 spades among them</a:t>
                </a:r>
                <a:r>
                  <a:rPr lang="en-US" altLang="zh-CN" sz="2800" dirty="0" smtClean="0"/>
                  <a:t>, what </a:t>
                </a:r>
                <a:r>
                  <a:rPr lang="en-US" altLang="zh-CN" sz="2800" dirty="0"/>
                  <a:t>is the probability that East has 3 of the remaining 5 spades</a:t>
                </a:r>
                <a:r>
                  <a:rPr lang="en-US" altLang="zh-CN" sz="2800" dirty="0" smtClean="0"/>
                  <a:t>?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80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280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80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2800" dirty="0"/>
              </a:p>
              <a:p>
                <a:pPr lvl="0"/>
                <a:endParaRPr lang="en-US" altLang="zh-CN" sz="2800" dirty="0" smtClean="0"/>
              </a:p>
              <a:p>
                <a:pPr lvl="0"/>
                <a:endParaRPr lang="en-US" altLang="zh-CN" sz="2800" dirty="0"/>
              </a:p>
              <a:p>
                <a:pPr lvl="0"/>
                <a:endParaRPr lang="en-US" altLang="zh-CN" sz="2800" dirty="0" smtClean="0"/>
              </a:p>
              <a:p>
                <a:pPr lvl="0"/>
                <a:endParaRPr lang="en-US" altLang="zh-CN" sz="28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15" y="1198881"/>
                <a:ext cx="11621729" cy="5125249"/>
              </a:xfrm>
              <a:prstGeom prst="rect">
                <a:avLst/>
              </a:prstGeom>
              <a:blipFill>
                <a:blip r:embed="rId5"/>
                <a:stretch>
                  <a:fillRect l="-1102" t="-1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700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93040" y="1068997"/>
                <a:ext cx="11747090" cy="5455382"/>
              </a:xfrm>
            </p:spPr>
            <p:txBody>
              <a:bodyPr>
                <a:normAutofit/>
              </a:bodyPr>
              <a:lstStyle/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The Multiplication Rule for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𝐸𝐹</m:t>
                    </m:r>
                    <m:r>
                      <a:rPr lang="en-US" altLang="zh-CN" sz="2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dirty="0" smtClean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prstClr val="black"/>
                    </a:solidFill>
                  </a:rPr>
                  <a:t>The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probability that both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occur is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equal to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the probability that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occurs multiplied by the conditional probability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given that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occurred.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Proposition </a:t>
                </a: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3.1 </a:t>
                </a:r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𝐸𝐹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)∙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prstClr val="black"/>
                    </a:solidFill>
                  </a:rPr>
                  <a:t>For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the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probability of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the intersection of an arbitrary number of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events,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The Multiplication </a:t>
                </a: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Rule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···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 err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 err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)···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···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93040" y="1068997"/>
                <a:ext cx="11747090" cy="5455382"/>
              </a:xfrm>
              <a:blipFill>
                <a:blip r:embed="rId3"/>
                <a:stretch>
                  <a:fillRect l="-1090" t="-1117" r="-1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77154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25115" y="1198881"/>
                <a:ext cx="11621729" cy="52629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3.2   </a:t>
                </a:r>
                <a:r>
                  <a:rPr lang="en-US" altLang="zh-CN" sz="2800" dirty="0"/>
                  <a:t>An ordinary deck of 52 playing cards is randomly divided into 4 piles of 13 </a:t>
                </a:r>
                <a:r>
                  <a:rPr lang="en-US" altLang="zh-CN" sz="2800" dirty="0" smtClean="0"/>
                  <a:t>cards each</a:t>
                </a:r>
                <a:r>
                  <a:rPr lang="en-US" altLang="zh-CN" sz="2800" dirty="0"/>
                  <a:t>. Compute the probability that each pile has exactly 1 ace. </a:t>
                </a:r>
                <a:endParaRPr lang="en-US" altLang="zh-CN" sz="2800" dirty="0" smtClean="0"/>
              </a:p>
              <a:p>
                <a:pPr lvl="0"/>
                <a:r>
                  <a:rPr lang="en-US" altLang="zh-CN" sz="2800" dirty="0" smtClean="0">
                    <a:solidFill>
                      <a:srgbClr val="FF0000"/>
                    </a:solidFill>
                  </a:rPr>
                  <a:t>Solution</a:t>
                </a:r>
                <a:r>
                  <a:rPr lang="zh-CN" altLang="en-US" sz="2800" dirty="0" smtClean="0"/>
                  <a:t>：</a:t>
                </a:r>
                <a:r>
                  <a:rPr lang="en-US" altLang="zh-CN" sz="2800" dirty="0" smtClean="0"/>
                  <a:t>Define </a:t>
                </a:r>
                <a:r>
                  <a:rPr lang="en-US" altLang="zh-CN" sz="2800" dirty="0"/>
                  <a:t>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=1, 2, 3, 4,</m:t>
                    </m:r>
                  </m:oMath>
                </a14:m>
                <a:r>
                  <a:rPr lang="en-US" altLang="zh-CN" sz="2800" dirty="0"/>
                  <a:t> as follows: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= {the ace of spades is in any one of the piles}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 smtClean="0"/>
                  <a:t>= </a:t>
                </a:r>
                <a:r>
                  <a:rPr lang="en-US" altLang="zh-CN" sz="2800" dirty="0"/>
                  <a:t>{the ace of spades and the ace of hearts are in different piles}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800" dirty="0"/>
                  <a:t> = {the aces of spades, hearts, and diamonds are all in different piles}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 smtClean="0"/>
                  <a:t>= </a:t>
                </a:r>
                <a:r>
                  <a:rPr lang="en-US" altLang="zh-CN" sz="2800" dirty="0"/>
                  <a:t>{all 4 aces are in different piles}</a:t>
                </a:r>
                <a:endParaRPr lang="en-US" altLang="zh-CN" sz="2800" dirty="0" smtClean="0"/>
              </a:p>
              <a:p>
                <a:pPr lvl="0"/>
                <a:endParaRPr lang="en-US" altLang="zh-CN" sz="2800" dirty="0"/>
              </a:p>
              <a:p>
                <a:pPr lvl="0"/>
                <a:r>
                  <a:rPr lang="en-US" altLang="zh-CN" sz="2800" dirty="0"/>
                  <a:t>The desired probability is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n-US" altLang="zh-CN" sz="2800" dirty="0"/>
                  <a:t>and by the multiplication rule,</a:t>
                </a:r>
                <a:endParaRPr lang="en-US" altLang="zh-CN" sz="28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 err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/>
                <a:endParaRPr lang="en-US" altLang="zh-CN" sz="28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15" y="1198881"/>
                <a:ext cx="11621729" cy="5262979"/>
              </a:xfrm>
              <a:prstGeom prst="rect">
                <a:avLst/>
              </a:prstGeom>
              <a:blipFill>
                <a:blip r:embed="rId5"/>
                <a:stretch>
                  <a:fillRect l="-1102" t="-1275" r="-1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083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0" y="1151523"/>
                <a:ext cx="12137923" cy="5706477"/>
              </a:xfrm>
            </p:spPr>
            <p:txBody>
              <a:bodyPr>
                <a:normAutofit fontScale="92500"/>
              </a:bodyPr>
              <a:lstStyle/>
              <a:p>
                <a:pPr algn="l"/>
                <a:r>
                  <a:rPr lang="en-US" altLang="zh-CN" sz="2800" dirty="0" smtClean="0">
                    <a:solidFill>
                      <a:prstClr val="black"/>
                    </a:solidFill>
                  </a:rPr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is the sample space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8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sz="280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80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en-US" altLang="zh-CN" sz="2800" dirty="0">
                    <a:solidFill>
                      <a:prstClr val="black"/>
                    </a:solidFill>
                  </a:rPr>
                  <a:t>To determine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, consider the pile that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contains the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ace of spades. Because its remaining 12 cards are equally likely to be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any 12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of the remaining 51 cards, the probability that the ace of hearts is among them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US" altLang="zh-CN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, giving that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51</m:t>
                          </m:r>
                        </m:den>
                      </m:f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39</m:t>
                          </m:r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51</m:t>
                          </m:r>
                        </m:den>
                      </m:f>
                    </m:oMath>
                  </m:oMathPara>
                </a14:m>
                <a:endParaRPr lang="en-US" altLang="zh-CN" sz="280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26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US" altLang="zh-CN" sz="28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36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49</m:t>
                          </m:r>
                        </m:den>
                      </m:f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49</m:t>
                          </m:r>
                        </m:den>
                      </m:f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 err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39</m:t>
                          </m:r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51</m:t>
                          </m:r>
                        </m:den>
                      </m:f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26</m:t>
                          </m:r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≈0.105</m:t>
                      </m:r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0" y="1151523"/>
                <a:ext cx="12137923" cy="5706477"/>
              </a:xfrm>
              <a:blipFill>
                <a:blip r:embed="rId3"/>
                <a:stretch>
                  <a:fillRect l="-904" t="-14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48813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03238" y="1198881"/>
                <a:ext cx="11865077" cy="5058958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altLang="zh-CN" sz="2800" dirty="0" smtClean="0"/>
                  <a:t>Let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sz="2800" dirty="0"/>
                  <a:t> be events. We may express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800" dirty="0"/>
                  <a:t> </a:t>
                </a:r>
                <a:r>
                  <a:rPr lang="en-US" altLang="zh-CN" sz="2800" dirty="0" smtClean="0"/>
                  <a:t>as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𝐸𝐹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</m:oMath>
                  </m:oMathPara>
                </a14:m>
                <a:endParaRPr lang="en-US" altLang="zh-CN" sz="2800" i="1" dirty="0" smtClean="0">
                  <a:latin typeface="Cambria Math" panose="02040503050406030204" pitchFamily="18" charset="0"/>
                </a:endParaRPr>
              </a:p>
              <a:p>
                <a:pPr algn="l"/>
                <a:r>
                  <a:rPr lang="en-US" altLang="zh-CN" sz="2800" dirty="0"/>
                  <a:t>As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𝐸𝐹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altLang="zh-CN" sz="2800" dirty="0"/>
                  <a:t>are clearly mutually exclusive, we have,</a:t>
                </a:r>
              </a:p>
              <a:p>
                <a:pPr algn="l"/>
                <a:r>
                  <a:rPr lang="en-US" altLang="zh-CN" sz="2800" dirty="0"/>
                  <a:t>by Axiom 3,</a:t>
                </a:r>
                <a:endParaRPr lang="en-US" altLang="zh-CN" sz="2800" dirty="0" smtClean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𝐸𝐹</m:t>
                          </m:r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i="1" dirty="0" smtClean="0"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i="1" dirty="0" smtClean="0"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 algn="l"/>
                <a:endParaRPr lang="en-US" altLang="zh-CN" sz="2800" i="1" dirty="0" smtClean="0">
                  <a:latin typeface="Cambria Math" panose="02040503050406030204" pitchFamily="18" charset="0"/>
                </a:endParaRPr>
              </a:p>
              <a:p>
                <a:pPr algn="l"/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/>
                <a:endParaRPr lang="en-US" altLang="zh-CN" sz="2800" dirty="0" smtClean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/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03238" y="1198881"/>
                <a:ext cx="11865077" cy="5058958"/>
              </a:xfrm>
              <a:blipFill>
                <a:blip r:embed="rId3"/>
                <a:stretch>
                  <a:fillRect l="-1079" t="-2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5993" y="1140112"/>
            <a:ext cx="3580484" cy="240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74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25115" y="1198881"/>
                <a:ext cx="11621729" cy="56938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3.3   </a:t>
                </a:r>
                <a:r>
                  <a:rPr lang="en-US" altLang="zh-CN" sz="2800" dirty="0"/>
                  <a:t>An insurance company believes that people can be divided into two classes: </a:t>
                </a:r>
                <a:r>
                  <a:rPr lang="en-US" altLang="zh-CN" sz="2800" dirty="0" smtClean="0"/>
                  <a:t>those who </a:t>
                </a:r>
                <a:r>
                  <a:rPr lang="en-US" altLang="zh-CN" sz="2800" dirty="0"/>
                  <a:t>are accident prone and those who are not. The company's statistics show </a:t>
                </a:r>
                <a:r>
                  <a:rPr lang="en-US" altLang="zh-CN" sz="2800" dirty="0" smtClean="0"/>
                  <a:t>that an </a:t>
                </a:r>
                <a:r>
                  <a:rPr lang="en-US" altLang="zh-CN" sz="2800" dirty="0"/>
                  <a:t>accident-prone person will have an accident at some time within a fixed </a:t>
                </a:r>
                <a:r>
                  <a:rPr lang="en-US" altLang="zh-CN" sz="2800" dirty="0" smtClean="0"/>
                  <a:t>1-year period </a:t>
                </a:r>
                <a:r>
                  <a:rPr lang="en-US" altLang="zh-CN" sz="2800" dirty="0"/>
                  <a:t>with probability </a:t>
                </a:r>
                <a:r>
                  <a:rPr lang="en-US" altLang="zh-CN" sz="2800" dirty="0" smtClean="0"/>
                  <a:t>0.4</a:t>
                </a:r>
                <a:r>
                  <a:rPr lang="en-US" altLang="zh-CN" sz="2800" dirty="0"/>
                  <a:t>, whereas this probability decreases to </a:t>
                </a:r>
                <a:r>
                  <a:rPr lang="en-US" altLang="zh-CN" sz="2800" dirty="0" smtClean="0"/>
                  <a:t>0.2 </a:t>
                </a:r>
                <a:r>
                  <a:rPr lang="en-US" altLang="zh-CN" sz="2800" dirty="0"/>
                  <a:t>for a person </a:t>
                </a:r>
                <a:r>
                  <a:rPr lang="en-US" altLang="zh-CN" sz="2800" dirty="0" smtClean="0"/>
                  <a:t>who is </a:t>
                </a:r>
                <a:r>
                  <a:rPr lang="en-US" altLang="zh-CN" sz="2800" dirty="0"/>
                  <a:t>not accident prone. If we assume that 30 percent of the population is </a:t>
                </a:r>
                <a:r>
                  <a:rPr lang="en-US" altLang="zh-CN" sz="2800" dirty="0" smtClean="0"/>
                  <a:t>accident prone</a:t>
                </a:r>
                <a:r>
                  <a:rPr lang="en-US" altLang="zh-CN" sz="2800" dirty="0"/>
                  <a:t>, what is the probability that a new policyholder will have an accident within </a:t>
                </a:r>
                <a:r>
                  <a:rPr lang="en-US" altLang="zh-CN" sz="2800" dirty="0" smtClean="0"/>
                  <a:t>a year </a:t>
                </a:r>
                <a:r>
                  <a:rPr lang="en-US" altLang="zh-CN" sz="2800" dirty="0"/>
                  <a:t>of purchasing a policy</a:t>
                </a:r>
                <a:r>
                  <a:rPr lang="en-US" altLang="zh-CN" sz="2800" dirty="0" smtClean="0"/>
                  <a:t>?</a:t>
                </a:r>
              </a:p>
              <a:p>
                <a:pPr lvl="0"/>
                <a:r>
                  <a:rPr lang="en-US" altLang="zh-CN" sz="2800" dirty="0" smtClean="0">
                    <a:solidFill>
                      <a:srgbClr val="FF0000"/>
                    </a:solidFill>
                  </a:rPr>
                  <a:t>Solution</a:t>
                </a:r>
                <a:r>
                  <a:rPr lang="zh-CN" altLang="en-US" sz="2800" dirty="0" smtClean="0"/>
                  <a:t>：</a:t>
                </a:r>
                <a:r>
                  <a:rPr lang="en-US" altLang="zh-CN" sz="28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dirty="0"/>
                  <a:t> denote the event that the </a:t>
                </a:r>
                <a:r>
                  <a:rPr lang="en-US" altLang="zh-CN" sz="2800" dirty="0" smtClean="0"/>
                  <a:t>policyholder will </a:t>
                </a:r>
                <a:r>
                  <a:rPr lang="en-US" altLang="zh-CN" sz="2800" dirty="0"/>
                  <a:t>have an accident within a year of purchasing the policy, and let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2800" dirty="0"/>
                  <a:t> denote the event that the policyholder is accident prone. Hence, the desired probability </a:t>
                </a:r>
                <a:r>
                  <a:rPr lang="en-US" altLang="zh-CN" sz="2800" dirty="0" smtClean="0"/>
                  <a:t>is given </a:t>
                </a:r>
                <a:r>
                  <a:rPr lang="en-US" altLang="zh-CN" sz="2800" dirty="0"/>
                  <a:t>by</a:t>
                </a:r>
                <a:endParaRPr lang="en-US" altLang="zh-CN" sz="280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=0.4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∙0.3+0.2∙0.7=0.26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15" y="1198881"/>
                <a:ext cx="11621729" cy="5693866"/>
              </a:xfrm>
              <a:prstGeom prst="rect">
                <a:avLst/>
              </a:prstGeom>
              <a:blipFill>
                <a:blip r:embed="rId5"/>
                <a:stretch>
                  <a:fillRect l="-1102" t="-1178" r="-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2272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25115" y="1198881"/>
                <a:ext cx="11621729" cy="56789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3.4   </a:t>
                </a:r>
                <a:r>
                  <a:rPr lang="en-US" altLang="zh-CN" sz="2800" dirty="0"/>
                  <a:t>Suppose that a new policyholder has an accident within a year of purchasing a policy</a:t>
                </a:r>
                <a:r>
                  <a:rPr lang="en-US" altLang="zh-CN" sz="2800" dirty="0" smtClean="0"/>
                  <a:t>. What </a:t>
                </a:r>
                <a:r>
                  <a:rPr lang="en-US" altLang="zh-CN" sz="2800" dirty="0"/>
                  <a:t>is the probability that he or she is accident prone?</a:t>
                </a:r>
                <a:endParaRPr lang="en-US" altLang="zh-CN" sz="2800" dirty="0" smtClean="0"/>
              </a:p>
              <a:p>
                <a:pPr lvl="0"/>
                <a:r>
                  <a:rPr lang="en-US" altLang="zh-CN" sz="2800" dirty="0" smtClean="0">
                    <a:solidFill>
                      <a:srgbClr val="FF0000"/>
                    </a:solidFill>
                  </a:rPr>
                  <a:t>Solution</a:t>
                </a:r>
                <a:r>
                  <a:rPr lang="zh-CN" altLang="en-US" sz="2800" dirty="0" smtClean="0"/>
                  <a:t>：</a:t>
                </a:r>
                <a:r>
                  <a:rPr lang="en-US" altLang="zh-CN" sz="2800" dirty="0"/>
                  <a:t>The desired probability is</a:t>
                </a:r>
                <a:endParaRPr lang="en-US" altLang="zh-CN" sz="280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0.4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∙0.3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0.26</m:t>
                          </m:r>
                        </m:den>
                      </m:f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/>
                <a:endParaRPr lang="en-US" altLang="zh-CN" sz="28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15" y="1198881"/>
                <a:ext cx="11621729" cy="5678991"/>
              </a:xfrm>
              <a:prstGeom prst="rect">
                <a:avLst/>
              </a:prstGeom>
              <a:blipFill>
                <a:blip r:embed="rId5"/>
                <a:stretch>
                  <a:fillRect l="-1102" t="-1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32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03238" y="1198881"/>
                <a:ext cx="11865077" cy="5058958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Definition 3.2 </a:t>
                </a:r>
                <a:r>
                  <a:rPr lang="en-US" altLang="zh-CN" sz="2800" dirty="0"/>
                  <a:t>odds </a:t>
                </a:r>
                <a:r>
                  <a:rPr lang="en-US" altLang="zh-CN" sz="2800" dirty="0" smtClean="0"/>
                  <a:t>(</a:t>
                </a:r>
                <a:r>
                  <a:rPr lang="zh-CN" altLang="en-US" sz="2800" dirty="0" smtClean="0">
                    <a:solidFill>
                      <a:srgbClr val="FF0000"/>
                    </a:solidFill>
                  </a:rPr>
                  <a:t>优势比，发生比</a:t>
                </a:r>
                <a:r>
                  <a:rPr lang="en-US" altLang="zh-CN" sz="2800" dirty="0" smtClean="0"/>
                  <a:t>)</a:t>
                </a:r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/>
                <a:r>
                  <a:rPr lang="en-US" altLang="zh-CN" sz="2800" dirty="0"/>
                  <a:t>The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odds</a:t>
                </a:r>
                <a:r>
                  <a:rPr lang="en-US" altLang="zh-CN" sz="2800" dirty="0"/>
                  <a:t> of an event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2800" dirty="0"/>
                  <a:t> are defined by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800" dirty="0"/>
                            <m:t> </m:t>
                          </m:r>
                        </m:den>
                      </m:f>
                    </m:oMath>
                  </m:oMathPara>
                </a14:m>
                <a:endParaRPr lang="en-US" altLang="zh-CN" sz="2800" i="1" dirty="0" smtClean="0">
                  <a:latin typeface="Cambria Math" panose="02040503050406030204" pitchFamily="18" charset="0"/>
                </a:endParaRPr>
              </a:p>
              <a:p>
                <a:pPr algn="l"/>
                <a:r>
                  <a:rPr lang="en-US" altLang="zh-CN" sz="2800" dirty="0" smtClean="0"/>
                  <a:t>That </a:t>
                </a:r>
                <a:r>
                  <a:rPr lang="en-US" altLang="zh-CN" sz="2800" dirty="0"/>
                  <a:t>is, the odds of an event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2800" dirty="0"/>
                  <a:t> tell how much more likely it is that the event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2800" dirty="0" smtClean="0"/>
                  <a:t> occurs </a:t>
                </a:r>
                <a:r>
                  <a:rPr lang="en-US" altLang="zh-CN" sz="2800" dirty="0"/>
                  <a:t>than it is that it does not occur. For instance, if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800" dirty="0" smtClean="0"/>
                  <a:t> then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)=2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n-US" altLang="zh-CN" sz="2800" dirty="0"/>
                  <a:t>so the odds are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800" dirty="0"/>
                  <a:t>. If the odds are equal to </a:t>
                </a:r>
                <a14:m>
                  <m:oMath xmlns:m="http://schemas.openxmlformats.org/officeDocument/2006/math">
                    <m:r>
                      <a:rPr lang="zh-CN" altLang="en-US" sz="280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sz="2800" dirty="0"/>
                  <a:t>, then it is common to </a:t>
                </a:r>
                <a:r>
                  <a:rPr lang="en-US" altLang="zh-CN" sz="2800" dirty="0" smtClean="0"/>
                  <a:t>say that </a:t>
                </a:r>
                <a:r>
                  <a:rPr lang="en-US" altLang="zh-CN" sz="2800" dirty="0"/>
                  <a:t>the odds are "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to </a:t>
                </a:r>
                <a:r>
                  <a:rPr lang="en-US" altLang="zh-CN" sz="2800" dirty="0" smtClean="0"/>
                  <a:t>1" </a:t>
                </a:r>
                <a:r>
                  <a:rPr lang="en-US" altLang="zh-CN" sz="2800" dirty="0"/>
                  <a:t>in favor of the hypothesis.</a:t>
                </a:r>
                <a:endParaRPr lang="en-US" altLang="zh-CN" sz="2800" dirty="0" smtClean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/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/>
                <a:endParaRPr lang="en-US" altLang="zh-CN" sz="2800" dirty="0" smtClean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/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03238" y="1198881"/>
                <a:ext cx="11865077" cy="5058958"/>
              </a:xfrm>
              <a:blipFill>
                <a:blip r:embed="rId3"/>
                <a:stretch>
                  <a:fillRect l="-1079" t="-2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52163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03238" y="1198881"/>
                <a:ext cx="11865077" cy="5058958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altLang="zh-CN" sz="2800" dirty="0" smtClean="0"/>
                  <a:t>Consider now a hypothesis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zh-CN" sz="2800" dirty="0"/>
                  <a:t> that is true with probability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/>
                  <a:t>, and </a:t>
                </a:r>
                <a:r>
                  <a:rPr lang="en-US" altLang="zh-CN" sz="2800" dirty="0" smtClean="0"/>
                  <a:t>suppose that </a:t>
                </a:r>
                <a:r>
                  <a:rPr lang="en-US" altLang="zh-CN" sz="2800" dirty="0"/>
                  <a:t>new evidence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is introduced. Then, the conditional probabilities, given </a:t>
                </a:r>
                <a:r>
                  <a:rPr lang="en-US" altLang="zh-CN" sz="2800" dirty="0" smtClean="0"/>
                  <a:t>the evidence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800" dirty="0"/>
                  <a:t>, that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zh-CN" sz="2800" dirty="0"/>
                  <a:t> is true and that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zh-CN" sz="2800" dirty="0" smtClean="0"/>
                  <a:t> is </a:t>
                </a:r>
                <a:r>
                  <a:rPr lang="en-US" altLang="zh-CN" sz="2800" dirty="0"/>
                  <a:t>not true are respectively given </a:t>
                </a:r>
                <a:r>
                  <a:rPr lang="en-US" altLang="zh-CN" sz="2800" dirty="0" smtClean="0"/>
                  <a:t>by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sz="2800" i="1" dirty="0" smtClean="0">
                  <a:latin typeface="Cambria Math" panose="02040503050406030204" pitchFamily="18" charset="0"/>
                </a:endParaRPr>
              </a:p>
              <a:p>
                <a:pPr lvl="0" algn="l"/>
                <a:r>
                  <a:rPr lang="en-US" altLang="zh-CN" sz="2800" dirty="0"/>
                  <a:t>Therefore, the new odds after the evidence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800" dirty="0"/>
                  <a:t> has been introduced </a:t>
                </a:r>
                <a:r>
                  <a:rPr lang="en-US" altLang="zh-CN" sz="2800" dirty="0" smtClean="0"/>
                  <a:t>are</a:t>
                </a:r>
                <a:endParaRPr lang="en-US" altLang="zh-CN" sz="2800" i="1" dirty="0" smtClean="0"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800" dirty="0"/>
                            <m:t> </m:t>
                          </m:r>
                        </m:den>
                      </m:f>
                      <m:f>
                        <m:f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2800" i="1" dirty="0" smtClean="0">
                  <a:latin typeface="Cambria Math" panose="02040503050406030204" pitchFamily="18" charset="0"/>
                </a:endParaRPr>
              </a:p>
              <a:p>
                <a:pPr algn="l"/>
                <a:r>
                  <a:rPr lang="en-US" altLang="zh-CN" sz="2800" dirty="0"/>
                  <a:t>That is, the new value of the odds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zh-CN" sz="2800" dirty="0" smtClean="0"/>
                  <a:t> </a:t>
                </a:r>
                <a:r>
                  <a:rPr lang="en-US" altLang="zh-CN" sz="2800" dirty="0"/>
                  <a:t>is the old value multiplied by the ratio of </a:t>
                </a:r>
                <a:r>
                  <a:rPr lang="en-US" altLang="zh-CN" sz="2800" dirty="0" smtClean="0"/>
                  <a:t>the conditional </a:t>
                </a:r>
                <a:r>
                  <a:rPr lang="en-US" altLang="zh-CN" sz="2800" dirty="0"/>
                  <a:t>probability of the new evidence given that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zh-CN" sz="2800" dirty="0"/>
                  <a:t> is true to the </a:t>
                </a:r>
                <a:r>
                  <a:rPr lang="en-US" altLang="zh-CN" sz="2800" dirty="0" smtClean="0"/>
                  <a:t>conditional probability </a:t>
                </a:r>
                <a:r>
                  <a:rPr lang="en-US" altLang="zh-CN" sz="2800" dirty="0"/>
                  <a:t>given that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zh-CN" sz="2800" dirty="0" smtClean="0"/>
                  <a:t> </a:t>
                </a:r>
                <a:r>
                  <a:rPr lang="en-US" altLang="zh-CN" sz="2800" dirty="0"/>
                  <a:t>is not true.</a:t>
                </a:r>
              </a:p>
              <a:p>
                <a:pPr algn="l"/>
                <a:endParaRPr lang="en-US" altLang="zh-CN" sz="2800" dirty="0" smtClean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/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03238" y="1198881"/>
                <a:ext cx="11865077" cy="5058958"/>
              </a:xfrm>
              <a:blipFill>
                <a:blip r:embed="rId3"/>
                <a:stretch>
                  <a:fillRect l="-1079" t="-2048" r="-7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674462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6368" y="1198881"/>
                <a:ext cx="12056806" cy="5342028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Definition 3.3 </a:t>
                </a:r>
                <a:r>
                  <a:rPr lang="en-US" altLang="zh-CN" sz="2800" dirty="0"/>
                  <a:t>Complete event group(</a:t>
                </a:r>
                <a:r>
                  <a:rPr lang="zh-CN" altLang="en-US" sz="2800" dirty="0">
                    <a:solidFill>
                      <a:srgbClr val="FF0000"/>
                    </a:solidFill>
                  </a:rPr>
                  <a:t>完备事件组</a:t>
                </a:r>
                <a:r>
                  <a:rPr lang="zh-CN" altLang="en-US" sz="2800" dirty="0" smtClean="0">
                    <a:solidFill>
                      <a:srgbClr val="FF0000"/>
                    </a:solidFill>
                  </a:rPr>
                  <a:t>，</a:t>
                </a:r>
                <a:r>
                  <a:rPr lang="en-US" altLang="zh-CN" sz="2800" dirty="0"/>
                  <a:t>partitioning</a:t>
                </a: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 </a:t>
                </a:r>
                <a:r>
                  <a:rPr lang="zh-CN" altLang="en-US" sz="2800" dirty="0" smtClean="0">
                    <a:solidFill>
                      <a:srgbClr val="FF0000"/>
                    </a:solidFill>
                  </a:rPr>
                  <a:t>划分</a:t>
                </a:r>
                <a:r>
                  <a:rPr lang="en-US" altLang="zh-CN" sz="2800" dirty="0" smtClean="0"/>
                  <a:t>)</a:t>
                </a:r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/>
                <a:r>
                  <a:rPr lang="en-US" altLang="zh-CN" sz="2800" dirty="0" smtClean="0"/>
                  <a:t>The 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 smtClean="0"/>
                  <a:t>are </a:t>
                </a: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mutually exclusive(</a:t>
                </a:r>
                <a:r>
                  <a:rPr lang="zh-CN" altLang="en-US" sz="2800" dirty="0" smtClean="0">
                    <a:solidFill>
                      <a:srgbClr val="FF0000"/>
                    </a:solidFill>
                  </a:rPr>
                  <a:t>互斥</a:t>
                </a: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) </a:t>
                </a:r>
                <a:r>
                  <a:rPr lang="en-US" altLang="zh-CN" sz="2800" dirty="0" smtClean="0"/>
                  <a:t>if </a:t>
                </a:r>
                <a:r>
                  <a:rPr lang="en-US" altLang="zh-CN" sz="2800" dirty="0"/>
                  <a:t>no two have any common outcomes. </a:t>
                </a:r>
                <a:r>
                  <a:rPr lang="en-US" altLang="zh-CN" sz="2800" dirty="0" smtClean="0"/>
                  <a:t>The events </a:t>
                </a:r>
                <a:r>
                  <a:rPr lang="en-US" altLang="zh-CN" sz="2800" dirty="0"/>
                  <a:t>are </a:t>
                </a: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exhaustive(</a:t>
                </a:r>
                <a:r>
                  <a:rPr lang="zh-CN" altLang="en-US" sz="2800" dirty="0" smtClean="0">
                    <a:solidFill>
                      <a:srgbClr val="FF0000"/>
                    </a:solidFill>
                  </a:rPr>
                  <a:t>穷尽</a:t>
                </a: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)</a:t>
                </a:r>
                <a:r>
                  <a:rPr lang="en-US" altLang="zh-CN" sz="2800" dirty="0" smtClean="0"/>
                  <a:t> </a:t>
                </a:r>
                <a:r>
                  <a:rPr lang="en-US" altLang="zh-CN" sz="2800" dirty="0"/>
                  <a:t>if 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dirty="0"/>
                  <a:t> </a:t>
                </a:r>
                <a:r>
                  <a:rPr lang="en-US" altLang="zh-CN" sz="2800" dirty="0" smtClean="0"/>
                  <a:t>must </a:t>
                </a:r>
                <a:r>
                  <a:rPr lang="en-US" altLang="zh-CN" sz="2800" dirty="0"/>
                  <a:t>occur, 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. . . 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err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2800" dirty="0" smtClean="0"/>
                  <a:t> We </a:t>
                </a:r>
                <a:r>
                  <a:rPr lang="en-US" altLang="zh-CN" sz="2800" dirty="0" smtClean="0">
                    <a:solidFill>
                      <a:schemeClr val="tx1"/>
                    </a:solidFill>
                  </a:rPr>
                  <a:t>call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800" dirty="0" smtClean="0">
                    <a:solidFill>
                      <a:schemeClr val="tx1"/>
                    </a:solidFill>
                  </a:rPr>
                  <a:t> is </a:t>
                </a:r>
                <a:r>
                  <a:rPr lang="en-US" altLang="zh-CN" sz="2800" dirty="0">
                    <a:solidFill>
                      <a:schemeClr val="tx1"/>
                    </a:solidFill>
                  </a:rPr>
                  <a:t>a </a:t>
                </a: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complete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event </a:t>
                </a: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group </a:t>
                </a:r>
                <a:r>
                  <a:rPr lang="en-US" altLang="zh-CN" sz="2800" dirty="0" smtClean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>
                    <a:solidFill>
                      <a:schemeClr val="tx1"/>
                    </a:solidFill>
                  </a:rPr>
                  <a:t>are mutually </a:t>
                </a:r>
                <a:r>
                  <a:rPr lang="en-US" altLang="zh-CN" sz="2800" dirty="0" smtClean="0">
                    <a:solidFill>
                      <a:schemeClr val="tx1"/>
                    </a:solidFill>
                  </a:rPr>
                  <a:t>exclusive and exhaustive events.</a:t>
                </a:r>
              </a:p>
              <a:p>
                <a:pPr algn="l"/>
                <a:endParaRPr lang="en-US" altLang="zh-CN" sz="2800" dirty="0" smtClean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/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/>
                <a:endParaRPr lang="en-US" altLang="zh-CN" sz="2800" dirty="0" smtClean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/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6368" y="1198881"/>
                <a:ext cx="12056806" cy="5342028"/>
              </a:xfrm>
              <a:blipFill>
                <a:blip r:embed="rId3"/>
                <a:stretch>
                  <a:fillRect l="-1062" t="-2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6452" y="3299725"/>
            <a:ext cx="5601744" cy="324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7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0" y="1247759"/>
                <a:ext cx="12192000" cy="5088455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Theorem 3.1  The 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Law of Total </a:t>
                </a: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Probability </a:t>
                </a:r>
                <a:r>
                  <a:rPr lang="zh-CN" altLang="en-US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全概率公式</a:t>
                </a:r>
                <a:endParaRPr lang="en-US" altLang="zh-CN" sz="2800" dirty="0" smtClean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/>
                <a:r>
                  <a:rPr lang="en-US" altLang="zh-CN" sz="28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err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be mutually exclusive and exhaustive events. </a:t>
                </a:r>
                <a:endParaRPr lang="en-US" altLang="zh-CN" sz="2800" dirty="0" smtClean="0"/>
              </a:p>
              <a:p>
                <a:pPr algn="l"/>
                <a:r>
                  <a:rPr lang="en-US" altLang="zh-CN" sz="2800" dirty="0" smtClean="0"/>
                  <a:t>Then </a:t>
                </a:r>
                <a:r>
                  <a:rPr lang="en-US" altLang="zh-CN" sz="2800" dirty="0"/>
                  <a:t>for </a:t>
                </a:r>
                <a:r>
                  <a:rPr lang="en-US" altLang="zh-CN" sz="2800" dirty="0" smtClean="0"/>
                  <a:t>any other </a:t>
                </a:r>
                <a:r>
                  <a:rPr lang="en-US" altLang="zh-CN" sz="2800" dirty="0"/>
                  <a:t>event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sz="2800" dirty="0" smtClean="0"/>
                  <a:t>,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0" y="1247759"/>
                <a:ext cx="12192000" cy="5088455"/>
              </a:xfrm>
              <a:blipFill>
                <a:blip r:embed="rId3"/>
                <a:stretch>
                  <a:fillRect l="-1000" t="-26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37788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0" y="1247759"/>
                <a:ext cx="12192000" cy="5088455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altLang="zh-CN" sz="2800" dirty="0" smtClean="0">
                    <a:solidFill>
                      <a:srgbClr val="FF0000"/>
                    </a:solidFill>
                  </a:rPr>
                  <a:t>Proof</a:t>
                </a:r>
                <a:r>
                  <a:rPr lang="en-US" altLang="zh-CN" sz="2800" dirty="0" smtClean="0"/>
                  <a:t>: For event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sz="2800" dirty="0" smtClean="0"/>
                  <a:t>,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d>
                            <m:d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. . 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 err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800" b="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). . . 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altLang="zh-CN" sz="2800" i="1" dirty="0" err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altLang="zh-CN" sz="280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2800" i="1" dirty="0" err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0" y="1247759"/>
                <a:ext cx="12192000" cy="5088455"/>
              </a:xfrm>
              <a:blipFill>
                <a:blip r:embed="rId3"/>
                <a:stretch>
                  <a:fillRect l="-1000" t="-20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8195" y="3285260"/>
            <a:ext cx="5977608" cy="345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52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3351" y="1068997"/>
                <a:ext cx="12055577" cy="5641258"/>
              </a:xfrm>
            </p:spPr>
            <p:txBody>
              <a:bodyPr>
                <a:norm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Theorem 3.2    Bayes’ Theorem </a:t>
                </a:r>
                <a:r>
                  <a:rPr lang="zh-CN" altLang="en-US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贝叶斯定理</a:t>
                </a:r>
                <a:endParaRPr lang="en-US" altLang="zh-CN" sz="2800" dirty="0" smtClean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800" dirty="0"/>
                  <a:t>be a collection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800" dirty="0"/>
                  <a:t> mutually exclusive and exhaustive </a:t>
                </a:r>
                <a:r>
                  <a:rPr lang="en-US" altLang="zh-CN" sz="2800" dirty="0" smtClean="0"/>
                  <a:t>events with </a:t>
                </a:r>
                <a:r>
                  <a:rPr lang="en-US" altLang="zh-CN" sz="2800" dirty="0"/>
                  <a:t>prior probabilities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 (</m:t>
                    </m:r>
                    <m:r>
                      <a:rPr lang="en-US" altLang="zh-CN" sz="28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1, . . . , 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r>
                  <a:rPr lang="en-US" altLang="zh-CN" sz="2800" dirty="0"/>
                  <a:t>Then for any other event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sz="2800" dirty="0"/>
                  <a:t> </a:t>
                </a:r>
                <a:r>
                  <a:rPr lang="en-US" altLang="zh-CN" sz="2800" dirty="0" smtClean="0"/>
                  <a:t>for  which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)≠0</m:t>
                    </m:r>
                  </m:oMath>
                </a14:m>
                <a:r>
                  <a:rPr lang="en-US" altLang="zh-CN" sz="2800" dirty="0"/>
                  <a:t>, the posterior probability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800" dirty="0"/>
                  <a:t> given that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sz="2800" dirty="0"/>
                  <a:t> has occurred </a:t>
                </a:r>
                <a:r>
                  <a:rPr lang="en-US" altLang="zh-CN" sz="2800" dirty="0" smtClean="0"/>
                  <a:t>is 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=1, . . . , 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altLang="zh-CN" sz="2800" dirty="0" smtClean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3351" y="1068997"/>
                <a:ext cx="12055577" cy="5641258"/>
              </a:xfrm>
              <a:blipFill>
                <a:blip r:embed="rId3"/>
                <a:stretch>
                  <a:fillRect l="-1062" t="-1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67850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87594" y="1128252"/>
                <a:ext cx="11688096" cy="5641258"/>
              </a:xfrm>
            </p:spPr>
            <p:txBody>
              <a:bodyPr>
                <a:normAutofit/>
              </a:bodyPr>
              <a:lstStyle/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3.5   </a:t>
                </a:r>
                <a:r>
                  <a:rPr lang="en-US" altLang="zh-CN" sz="2800" dirty="0"/>
                  <a:t>Incidence of a rare disease. Only 1 in 1000 adults is afflicted with a rare disease </a:t>
                </a:r>
                <a:r>
                  <a:rPr lang="en-US" altLang="zh-CN" sz="2800" dirty="0" smtClean="0"/>
                  <a:t>for which </a:t>
                </a:r>
                <a:r>
                  <a:rPr lang="en-US" altLang="zh-CN" sz="2800" dirty="0"/>
                  <a:t>a diagnostic test has been developed. The test is such that when an </a:t>
                </a:r>
                <a:r>
                  <a:rPr lang="en-US" altLang="zh-CN" sz="2800" dirty="0" smtClean="0"/>
                  <a:t>individual actually </a:t>
                </a:r>
                <a:r>
                  <a:rPr lang="en-US" altLang="zh-CN" sz="2800" dirty="0"/>
                  <a:t>has the disease, a positive result will occur 99% of the time, whereas </a:t>
                </a:r>
                <a:r>
                  <a:rPr lang="en-US" altLang="zh-CN" sz="2800" dirty="0" smtClean="0"/>
                  <a:t>an individual </a:t>
                </a:r>
                <a:r>
                  <a:rPr lang="en-US" altLang="zh-CN" sz="2800" dirty="0"/>
                  <a:t>without the disease will show a positive test result only 2% of the time. </a:t>
                </a:r>
                <a:r>
                  <a:rPr lang="en-US" altLang="zh-CN" sz="2800" dirty="0" smtClean="0"/>
                  <a:t>If a </a:t>
                </a:r>
                <a:r>
                  <a:rPr lang="en-US" altLang="zh-CN" sz="2800" dirty="0"/>
                  <a:t>randomly selected individual is tested and the result is positive, what is the </a:t>
                </a:r>
                <a:r>
                  <a:rPr lang="en-US" altLang="zh-CN" sz="2800" dirty="0" smtClean="0"/>
                  <a:t>probability that </a:t>
                </a:r>
                <a:r>
                  <a:rPr lang="en-US" altLang="zh-CN" sz="2800" dirty="0"/>
                  <a:t>the individual has the disease</a:t>
                </a:r>
                <a:r>
                  <a:rPr lang="en-US" altLang="zh-CN" sz="2800" dirty="0" smtClean="0"/>
                  <a:t>?</a:t>
                </a: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/>
                  <a:t>To use Bayes’ theorem,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{individual has the disease},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dirty="0"/>
                  <a:t> {</a:t>
                </a:r>
                <a:r>
                  <a:rPr lang="en-US" altLang="zh-CN" sz="2800" dirty="0" smtClean="0"/>
                  <a:t>individual does </a:t>
                </a:r>
                <a:r>
                  <a:rPr lang="en-US" altLang="zh-CN" sz="2800" dirty="0"/>
                  <a:t>not have the disease},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{positive test result}. Then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.001</m:t>
                    </m:r>
                  </m:oMath>
                </a14:m>
                <a:r>
                  <a:rPr lang="en-US" altLang="zh-CN" sz="2800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.999</m:t>
                    </m:r>
                  </m:oMath>
                </a14:m>
                <a:r>
                  <a:rPr lang="en-US" altLang="zh-CN" sz="28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.99</m:t>
                    </m:r>
                  </m:oMath>
                </a14:m>
                <a:r>
                  <a:rPr lang="en-US" altLang="zh-CN" sz="2800" dirty="0"/>
                  <a:t>,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.02</m:t>
                    </m:r>
                  </m:oMath>
                </a14:m>
                <a:r>
                  <a:rPr lang="en-US" altLang="zh-CN" sz="2800" dirty="0"/>
                  <a:t>. </a:t>
                </a: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87594" y="1128252"/>
                <a:ext cx="11688096" cy="5641258"/>
              </a:xfrm>
              <a:blipFill>
                <a:blip r:embed="rId3"/>
                <a:stretch>
                  <a:fillRect l="-1043" t="-1081" r="-3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725882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39212" y="1247759"/>
                <a:ext cx="11533239" cy="5492253"/>
              </a:xfrm>
            </p:spPr>
            <p:txBody>
              <a:bodyPr>
                <a:normAutofit/>
              </a:bodyPr>
              <a:lstStyle/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prstClr val="black"/>
                    </a:solidFill>
                  </a:rPr>
                  <a:t>The tree diagram for this problem is</a:t>
                </a: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prstClr val="black"/>
                    </a:solidFill>
                  </a:rPr>
                  <a:t>Therefore, </a:t>
                </a:r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800" b="0" i="1" dirty="0" smtClean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algn="l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.00099</m:t>
                    </m:r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.01998</m:t>
                    </m:r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.02097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,</a:t>
                </a: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prstClr val="black"/>
                    </a:solidFill>
                  </a:rPr>
                  <a:t>from which we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have</a:t>
                </a: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.00099</m:t>
                          </m:r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.02097</m:t>
                          </m:r>
                        </m:den>
                      </m:f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=.047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39212" y="1247759"/>
                <a:ext cx="11533239" cy="5492253"/>
              </a:xfrm>
              <a:blipFill>
                <a:blip r:embed="rId3"/>
                <a:stretch>
                  <a:fillRect l="-1110" t="-1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1451" y="1198881"/>
            <a:ext cx="5609515" cy="303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871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0" y="1128252"/>
                <a:ext cx="12192000" cy="5641258"/>
              </a:xfrm>
            </p:spPr>
            <p:txBody>
              <a:bodyPr>
                <a:normAutofit fontScale="92500" lnSpcReduction="10000"/>
              </a:bodyPr>
              <a:lstStyle/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3.6   </a:t>
                </a:r>
                <a:r>
                  <a:rPr lang="en-US" altLang="zh-CN" sz="2800" dirty="0"/>
                  <a:t>Suppose that we have 3 cards that are identical in form, except that both sides of </a:t>
                </a:r>
                <a:r>
                  <a:rPr lang="en-US" altLang="zh-CN" sz="2800" dirty="0" smtClean="0"/>
                  <a:t>the first </a:t>
                </a:r>
                <a:r>
                  <a:rPr lang="en-US" altLang="zh-CN" sz="2800" dirty="0"/>
                  <a:t>card are colored red, both sides of the second card are colored black, and </a:t>
                </a:r>
                <a:r>
                  <a:rPr lang="en-US" altLang="zh-CN" sz="2800" dirty="0" smtClean="0"/>
                  <a:t>one side </a:t>
                </a:r>
                <a:r>
                  <a:rPr lang="en-US" altLang="zh-CN" sz="2800" dirty="0"/>
                  <a:t>of the third card is colored red and the other side black. The 3 cards are </a:t>
                </a:r>
                <a:r>
                  <a:rPr lang="en-US" altLang="zh-CN" sz="2800" dirty="0" smtClean="0"/>
                  <a:t>mixed up </a:t>
                </a:r>
                <a:r>
                  <a:rPr lang="en-US" altLang="zh-CN" sz="2800" dirty="0"/>
                  <a:t>in a hat, and 1 card is randomly selected and put down on the ground. If the </a:t>
                </a:r>
                <a:r>
                  <a:rPr lang="en-US" altLang="zh-CN" sz="2800" dirty="0" smtClean="0"/>
                  <a:t>upper side </a:t>
                </a:r>
                <a:r>
                  <a:rPr lang="en-US" altLang="zh-CN" sz="2800" dirty="0"/>
                  <a:t>of the chosen card is colored red, what is the probability that the other side </a:t>
                </a:r>
                <a:r>
                  <a:rPr lang="en-US" altLang="zh-CN" sz="2800" dirty="0" smtClean="0"/>
                  <a:t>is colored </a:t>
                </a:r>
                <a:r>
                  <a:rPr lang="en-US" altLang="zh-CN" sz="2800" dirty="0"/>
                  <a:t>black?</a:t>
                </a:r>
                <a:endParaRPr lang="en-US" altLang="zh-CN" sz="2800" dirty="0" smtClean="0"/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Solution: </a:t>
                </a:r>
                <a:r>
                  <a:rPr lang="en-US" altLang="zh-CN" sz="2800" dirty="0"/>
                  <a:t>Let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𝑅𝑅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𝐵𝐵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zh-CN" sz="28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𝑅𝐵</m:t>
                    </m:r>
                  </m:oMath>
                </a14:m>
                <a:r>
                  <a:rPr lang="en-US" altLang="zh-CN" sz="2800" dirty="0"/>
                  <a:t> denote, respectively, the events that the chosen </a:t>
                </a:r>
                <a:r>
                  <a:rPr lang="en-US" altLang="zh-CN" sz="2800" dirty="0" smtClean="0"/>
                  <a:t>card is </a:t>
                </a:r>
                <a:r>
                  <a:rPr lang="en-US" altLang="zh-CN" sz="2800" dirty="0"/>
                  <a:t>all red, all black, or the red-black card. Also, let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2800" dirty="0"/>
                  <a:t> be the event that the </a:t>
                </a:r>
                <a:r>
                  <a:rPr lang="en-US" altLang="zh-CN" sz="2800" dirty="0" smtClean="0"/>
                  <a:t>upturned side </a:t>
                </a:r>
                <a:r>
                  <a:rPr lang="en-US" altLang="zh-CN" sz="2800" dirty="0"/>
                  <a:t>of the chosen card is red. Then, the desired probability is obtained </a:t>
                </a:r>
                <a:r>
                  <a:rPr lang="en-US" altLang="zh-CN" sz="2800" dirty="0" smtClean="0"/>
                  <a:t>by</a:t>
                </a: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𝑅𝐵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𝑅𝐵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𝑅𝐵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𝑅𝐵</m:t>
                              </m:r>
                            </m:e>
                          </m:d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𝑅𝐵</m:t>
                              </m:r>
                            </m:e>
                          </m:d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sz="2800" dirty="0" smtClean="0"/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>
                            <m:f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num>
                        <m:den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f>
                            <m:f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>
                            <m:f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+0</m:t>
                          </m:r>
                          <m:f>
                            <m:f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den>
                      </m:f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0" y="1128252"/>
                <a:ext cx="12192000" cy="5641258"/>
              </a:xfrm>
              <a:blipFill>
                <a:blip r:embed="rId3"/>
                <a:stretch>
                  <a:fillRect l="-900" t="-1622" r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911817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39212" y="1247759"/>
                <a:ext cx="11533239" cy="5492253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Independence </a:t>
                </a:r>
                <a:r>
                  <a:rPr lang="zh-CN" altLang="en-US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独立性</a:t>
                </a:r>
                <a:endParaRPr lang="en-US" altLang="zh-CN" sz="2800" dirty="0" smtClean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lvl="0"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Definition </a:t>
                </a: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3.4</a:t>
                </a:r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/>
                <a:r>
                  <a:rPr lang="en-US" altLang="zh-CN" sz="2800" dirty="0" smtClean="0"/>
                  <a:t>Two </a:t>
                </a:r>
                <a:r>
                  <a:rPr lang="en-US" altLang="zh-CN" sz="2800" dirty="0"/>
                  <a:t>events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sz="2800" dirty="0"/>
                  <a:t> are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independent</a:t>
                </a:r>
                <a:r>
                  <a:rPr lang="en-US" altLang="zh-CN" sz="2800" dirty="0"/>
                  <a:t> if</a:t>
                </a:r>
                <a:r>
                  <a:rPr lang="en-US" altLang="zh-CN" sz="28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𝐸𝐹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algn="l"/>
                <a:r>
                  <a:rPr lang="en-US" altLang="zh-CN" sz="2800" dirty="0"/>
                  <a:t>and are </a:t>
                </a: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dependent</a:t>
                </a:r>
                <a:r>
                  <a:rPr lang="en-US" altLang="zh-CN" sz="2800" dirty="0" smtClean="0"/>
                  <a:t> otherwise.</a:t>
                </a:r>
              </a:p>
              <a:p>
                <a:pPr algn="l"/>
                <a:endParaRPr lang="en-US" altLang="zh-CN" dirty="0"/>
              </a:p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The Multiplication Rule for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𝐸𝐹</m:t>
                    </m:r>
                    <m:r>
                      <a:rPr lang="en-US" altLang="zh-CN" sz="28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𝐸𝐹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algn="l"/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Independence</a:t>
                </a:r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algn="l"/>
                <a:r>
                  <a:rPr lang="en-US" altLang="zh-CN" sz="2800" dirty="0" smtClean="0">
                    <a:solidFill>
                      <a:prstClr val="black"/>
                    </a:solidFill>
                  </a:rPr>
                  <a:t>or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algn="l"/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39212" y="1247759"/>
                <a:ext cx="11533239" cy="5492253"/>
              </a:xfrm>
              <a:blipFill>
                <a:blip r:embed="rId3"/>
                <a:stretch>
                  <a:fillRect l="-1110" t="-2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65988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87594" y="1128252"/>
                <a:ext cx="11688096" cy="5641258"/>
              </a:xfrm>
            </p:spPr>
            <p:txBody>
              <a:bodyPr>
                <a:normAutofit/>
              </a:bodyPr>
              <a:lstStyle/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3.7   </a:t>
                </a:r>
                <a:r>
                  <a:rPr lang="en-US" altLang="zh-CN" sz="2800" dirty="0"/>
                  <a:t>A card is selected at random from an ordinary deck of 52 playing cards. If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800" dirty="0"/>
                  <a:t> is </a:t>
                </a:r>
                <a:r>
                  <a:rPr lang="en-US" altLang="zh-CN" sz="2800" dirty="0" smtClean="0"/>
                  <a:t>the event </a:t>
                </a:r>
                <a:r>
                  <a:rPr lang="en-US" altLang="zh-CN" sz="2800" dirty="0"/>
                  <a:t>that the selected card is an ace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sz="2800" dirty="0"/>
                  <a:t> is the event that it is a spade, then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800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sz="2800" dirty="0"/>
                  <a:t> are independent. </a:t>
                </a:r>
                <a:endParaRPr lang="en-US" altLang="zh-CN" sz="2800" dirty="0" smtClean="0"/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/>
                  <a:t>This </a:t>
                </a:r>
                <a:r>
                  <a:rPr lang="en-US" altLang="zh-CN" sz="2800" dirty="0"/>
                  <a:t>follows because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𝐸𝐹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</m:oMath>
                </a14:m>
                <a:r>
                  <a:rPr lang="en-US" altLang="zh-CN" sz="2800" dirty="0"/>
                  <a:t>, whereas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</m:oMath>
                </a14:m>
                <a:r>
                  <a:rPr lang="en-US" altLang="zh-CN" sz="2800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</m:oMath>
                </a14:m>
                <a:r>
                  <a:rPr lang="en-US" altLang="zh-CN" sz="2800" dirty="0" smtClean="0"/>
                  <a:t>·</a:t>
                </a: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87594" y="1128252"/>
                <a:ext cx="11688096" cy="5641258"/>
              </a:xfrm>
              <a:blipFill>
                <a:blip r:embed="rId3"/>
                <a:stretch>
                  <a:fillRect l="-1043" t="-10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98225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87594" y="1128252"/>
                <a:ext cx="11688096" cy="5641258"/>
              </a:xfrm>
            </p:spPr>
            <p:txBody>
              <a:bodyPr>
                <a:normAutofit/>
              </a:bodyPr>
              <a:lstStyle/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3.8   </a:t>
                </a:r>
                <a:r>
                  <a:rPr lang="en-US" altLang="zh-CN" sz="2800" dirty="0"/>
                  <a:t>Let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sz="2800" dirty="0" smtClean="0"/>
                  <a:t> </a:t>
                </a:r>
                <a:r>
                  <a:rPr lang="en-US" altLang="zh-CN" sz="2800" dirty="0"/>
                  <a:t>be any two mutually exclusive events with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)&gt;0</m:t>
                    </m:r>
                  </m:oMath>
                </a14:m>
                <a:r>
                  <a:rPr lang="en-US" altLang="zh-CN" sz="2800" dirty="0"/>
                  <a:t>. For example, </a:t>
                </a:r>
                <a:r>
                  <a:rPr lang="en-US" altLang="zh-CN" sz="2800" dirty="0" smtClean="0"/>
                  <a:t>for a </a:t>
                </a:r>
                <a:r>
                  <a:rPr lang="en-US" altLang="zh-CN" sz="2800" dirty="0"/>
                  <a:t>randomly chosen automobile, let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dirty="0" smtClean="0"/>
                  <a:t> </a:t>
                </a:r>
                <a:r>
                  <a:rPr lang="en-US" altLang="zh-CN" sz="2800" dirty="0"/>
                  <a:t>{the car has four cylinders}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dirty="0" smtClean="0"/>
                  <a:t> </a:t>
                </a:r>
                <a:r>
                  <a:rPr lang="en-US" altLang="zh-CN" sz="2800" dirty="0"/>
                  <a:t>{</a:t>
                </a:r>
                <a:r>
                  <a:rPr lang="en-US" altLang="zh-CN" sz="2800" dirty="0" smtClean="0"/>
                  <a:t>the car </a:t>
                </a:r>
                <a:r>
                  <a:rPr lang="en-US" altLang="zh-CN" sz="2800" dirty="0"/>
                  <a:t>has six cylinders}. Since the events are mutually exclusive, if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sz="2800" dirty="0"/>
                  <a:t> occurs, then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2800" dirty="0" smtClean="0"/>
                  <a:t> cannot </a:t>
                </a:r>
                <a:r>
                  <a:rPr lang="en-US" altLang="zh-CN" sz="2800" dirty="0"/>
                  <a:t>possibly have occurred, so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)=0≠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endParaRPr lang="en-US" altLang="zh-CN" sz="2800" dirty="0" smtClean="0"/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/>
                  <a:t>The </a:t>
                </a:r>
                <a:r>
                  <a:rPr lang="en-US" altLang="zh-CN" sz="2800" dirty="0"/>
                  <a:t>message here is that </a:t>
                </a: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if two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events are mutually exclusive, they cannot be independent</a:t>
                </a:r>
                <a:r>
                  <a:rPr lang="en-US" altLang="zh-CN" sz="2800" dirty="0"/>
                  <a:t>. When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sz="2800" dirty="0"/>
                  <a:t> </a:t>
                </a:r>
                <a:r>
                  <a:rPr lang="en-US" altLang="zh-CN" sz="2800" dirty="0" smtClean="0"/>
                  <a:t>are mutually </a:t>
                </a:r>
                <a:r>
                  <a:rPr lang="en-US" altLang="zh-CN" sz="2800" dirty="0"/>
                  <a:t>exclusive, the information that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2800" dirty="0"/>
                  <a:t> occurred says something about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sz="2800" dirty="0"/>
                  <a:t> (it </a:t>
                </a:r>
                <a:r>
                  <a:rPr lang="en-US" altLang="zh-CN" sz="2800" dirty="0" smtClean="0"/>
                  <a:t>cannot have </a:t>
                </a:r>
                <a:r>
                  <a:rPr lang="en-US" altLang="zh-CN" sz="2800" dirty="0"/>
                  <a:t>occurred), so independence is precluded</a:t>
                </a:r>
                <a:r>
                  <a:rPr lang="en-US" altLang="zh-CN" sz="2800" dirty="0" smtClean="0"/>
                  <a:t>.</a:t>
                </a: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87594" y="1128252"/>
                <a:ext cx="11688096" cy="5641258"/>
              </a:xfrm>
              <a:blipFill>
                <a:blip r:embed="rId3"/>
                <a:stretch>
                  <a:fillRect l="-1043" t="-1081" r="-1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132974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93040" y="1068997"/>
                <a:ext cx="11747090" cy="5455382"/>
              </a:xfrm>
            </p:spPr>
            <p:txBody>
              <a:bodyPr>
                <a:norm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Proposition 3.2 </a:t>
                </a:r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sz="2800" dirty="0"/>
                  <a:t> are independent, then so are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altLang="zh-CN" sz="2800" dirty="0" smtClean="0"/>
                  <a:t>.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srgbClr val="FF0000"/>
                    </a:solidFill>
                  </a:rPr>
                  <a:t>Proof: </a:t>
                </a:r>
                <a:r>
                  <a:rPr lang="en-US" altLang="zh-CN" sz="2800" dirty="0"/>
                  <a:t>Assume that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sz="2800" dirty="0" smtClean="0"/>
                  <a:t> </a:t>
                </a:r>
                <a:r>
                  <a:rPr lang="en-US" altLang="zh-CN" sz="2800" dirty="0"/>
                  <a:t>are independent. Since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𝐸𝐹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altLang="zh-CN" sz="2800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𝐸𝐹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and</a:t>
                </a:r>
                <a:r>
                  <a:rPr lang="en-US" altLang="zh-CN" sz="28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altLang="zh-CN" sz="2800" dirty="0" smtClean="0"/>
                  <a:t>are </a:t>
                </a:r>
                <a:r>
                  <a:rPr lang="en-US" altLang="zh-CN" sz="2800" dirty="0"/>
                  <a:t>obviously mutually exclusive, we </a:t>
                </a:r>
                <a:r>
                  <a:rPr lang="en-US" altLang="zh-CN" sz="2800" dirty="0" smtClean="0"/>
                  <a:t>have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𝐸𝐹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/>
                  <a:t>or</a:t>
                </a:r>
                <a:r>
                  <a:rPr lang="en-US" altLang="zh-CN" sz="2800" dirty="0"/>
                  <a:t>, equivalently,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)[1−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 smtClean="0"/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and the result is proved</a:t>
                </a:r>
                <a:r>
                  <a:rPr lang="en-US" altLang="zh-CN" sz="2800" dirty="0" smtClean="0"/>
                  <a:t>.</a:t>
                </a:r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93040" y="1068997"/>
                <a:ext cx="11747090" cy="5455382"/>
              </a:xfrm>
              <a:blipFill>
                <a:blip r:embed="rId3"/>
                <a:stretch>
                  <a:fillRect l="-1090" t="-11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910654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3352" y="1050323"/>
                <a:ext cx="11688096" cy="5641258"/>
              </a:xfrm>
            </p:spPr>
            <p:txBody>
              <a:bodyPr>
                <a:normAutofit/>
              </a:bodyPr>
              <a:lstStyle/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3.9   </a:t>
                </a:r>
                <a:r>
                  <a:rPr lang="en-US" altLang="zh-CN" sz="2800" dirty="0"/>
                  <a:t>Each day, Monday through Friday, a batch of components sent by a first supplier </a:t>
                </a:r>
                <a:r>
                  <a:rPr lang="en-US" altLang="zh-CN" sz="2800" dirty="0" smtClean="0"/>
                  <a:t>arrives at </a:t>
                </a:r>
                <a:r>
                  <a:rPr lang="en-US" altLang="zh-CN" sz="2800" dirty="0"/>
                  <a:t>a certain inspection facility. Two days a week, a batch also arrives from a second supplier</a:t>
                </a:r>
                <a:r>
                  <a:rPr lang="en-US" altLang="zh-CN" sz="2800" dirty="0" smtClean="0"/>
                  <a:t>.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80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% </a:t>
                </a:r>
                <a:r>
                  <a:rPr lang="en-US" altLang="zh-CN" sz="2800" dirty="0" smtClean="0"/>
                  <a:t>of </a:t>
                </a:r>
                <a:r>
                  <a:rPr lang="en-US" altLang="zh-CN" sz="2800" dirty="0"/>
                  <a:t>all supplier 1’s batches pass inspection, and 90% of supplier </a:t>
                </a:r>
                <a:r>
                  <a:rPr lang="en-US" altLang="zh-CN" sz="2800" dirty="0" smtClean="0"/>
                  <a:t>2’s do </a:t>
                </a:r>
                <a:r>
                  <a:rPr lang="en-US" altLang="zh-CN" sz="2800" dirty="0"/>
                  <a:t>likewise. What is the probability that, on a randomly selected day, two batches </a:t>
                </a:r>
                <a:r>
                  <a:rPr lang="en-US" altLang="zh-CN" sz="2800" dirty="0" smtClean="0"/>
                  <a:t>pass inspection</a:t>
                </a:r>
                <a:r>
                  <a:rPr lang="en-US" altLang="zh-CN" sz="2800" dirty="0"/>
                  <a:t>? We will answer this assuming that on days when two batches are tested</a:t>
                </a:r>
                <a:r>
                  <a:rPr lang="en-US" altLang="zh-CN" sz="2800" dirty="0" smtClean="0"/>
                  <a:t>, whether </a:t>
                </a:r>
                <a:r>
                  <a:rPr lang="en-US" altLang="zh-CN" sz="2800" dirty="0"/>
                  <a:t>the first batch passes is independent of whether the second batch does so</a:t>
                </a:r>
                <a:r>
                  <a:rPr lang="en-US" altLang="zh-CN" sz="2800" dirty="0" smtClean="0"/>
                  <a:t>.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CN" sz="2800" dirty="0"/>
                  <a:t>(two pass)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CN" sz="2800" dirty="0"/>
                  <a:t>(two received  both pass)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CN" sz="2800" dirty="0"/>
                  <a:t>(both </a:t>
                </a:r>
                <a:r>
                  <a:rPr lang="en-US" altLang="zh-CN" sz="2800" dirty="0" err="1"/>
                  <a:t>pass</a:t>
                </a:r>
                <a14:m>
                  <m:oMath xmlns:m="http://schemas.openxmlformats.org/officeDocument/2006/math">
                    <m:r>
                      <a:rPr lang="en-US" altLang="zh-CN" sz="2800" i="1" dirty="0" err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sz="2800" dirty="0" err="1"/>
                  <a:t>two</a:t>
                </a:r>
                <a:r>
                  <a:rPr lang="en-US" altLang="zh-CN" sz="2800" dirty="0"/>
                  <a:t> received)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CN" sz="2800" dirty="0"/>
                  <a:t>(two received)</a:t>
                </a:r>
                <a:endParaRPr lang="en-US" altLang="zh-CN" sz="2800" dirty="0" smtClean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[(.8)(.9)](.4)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=.288</m:t>
                      </m:r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3352" y="1050323"/>
                <a:ext cx="11688096" cy="5641258"/>
              </a:xfrm>
              <a:blipFill>
                <a:blip r:embed="rId3"/>
                <a:stretch>
                  <a:fillRect l="-1095" t="-1080" r="-13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4772" y="4136922"/>
            <a:ext cx="5417228" cy="241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8490" y="1334730"/>
                <a:ext cx="11975691" cy="5147186"/>
              </a:xfrm>
            </p:spPr>
            <p:txBody>
              <a:bodyPr>
                <a:norm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Independence of Three Events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/>
                  <a:t>Three events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zh-CN" sz="2800" dirty="0" smtClean="0"/>
                  <a:t>and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 smtClean="0"/>
                  <a:t>are said to be </a:t>
                </a: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independent </a:t>
                </a:r>
                <a:r>
                  <a:rPr lang="en-US" altLang="zh-CN" sz="2800" dirty="0"/>
                  <a:t>if </a:t>
                </a:r>
                <a:endParaRPr lang="en-US" altLang="zh-CN" sz="2800" dirty="0" smtClean="0"/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𝐸𝐹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)∙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𝐸𝐺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)∙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𝐹𝐺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)∙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𝐸𝐹𝐺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Note that if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zh-CN" sz="28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are independent, then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800" dirty="0"/>
                  <a:t> will be independent of </a:t>
                </a:r>
                <a:r>
                  <a:rPr lang="en-US" altLang="zh-CN" sz="2800" dirty="0" smtClean="0"/>
                  <a:t>any event </a:t>
                </a:r>
                <a:r>
                  <a:rPr lang="en-US" altLang="zh-CN" sz="2800" dirty="0"/>
                  <a:t>formed from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CN" sz="2800" dirty="0" smtClean="0"/>
                  <a:t>.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For instance,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sz="2800" dirty="0" smtClean="0"/>
                  <a:t> is </a:t>
                </a:r>
                <a:r>
                  <a:rPr lang="en-US" altLang="zh-CN" sz="2800" dirty="0"/>
                  <a:t>independent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CN" sz="2800" dirty="0"/>
                  <a:t>, since</a:t>
                </a:r>
                <a:endParaRPr lang="en-US" altLang="zh-CN" sz="2800" dirty="0" smtClean="0"/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800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)∙</m:t>
                      </m:r>
                      <m:r>
                        <a:rPr lang="zh-CN" altLang="en-US" sz="28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8490" y="1334730"/>
                <a:ext cx="11975691" cy="5147186"/>
              </a:xfrm>
              <a:blipFill>
                <a:blip r:embed="rId3"/>
                <a:stretch>
                  <a:fillRect l="-1069" t="-1303" r="-17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63737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8490" y="1334730"/>
                <a:ext cx="11975691" cy="5147186"/>
              </a:xfrm>
            </p:spPr>
            <p:txBody>
              <a:bodyPr>
                <a:norm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Independence of More Than Two Events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are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mutually independent </a:t>
                </a:r>
                <a:r>
                  <a:rPr lang="en-US" altLang="zh-CN" sz="2800" dirty="0"/>
                  <a:t>if for every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2, 3, . . . , 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2800" dirty="0" smtClean="0"/>
                  <a:t>and every </a:t>
                </a:r>
                <a:r>
                  <a:rPr lang="en-US" altLang="zh-CN" sz="2800" dirty="0"/>
                  <a:t>subset of indices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800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800" dirty="0" smtClean="0"/>
                  <a:t>,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⋯∙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 smtClean="0">
                  <a:solidFill>
                    <a:prstClr val="black"/>
                  </a:solidFill>
                </a:endParaRPr>
              </a:p>
              <a:p>
                <a:pPr algn="l">
                  <a:lnSpc>
                    <a:spcPct val="100000"/>
                  </a:lnSpc>
                </a:pP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prstClr val="black"/>
                    </a:solidFill>
                  </a:rPr>
                  <a:t>Finally, we define an infinite set of events to be independent if every finite subset </a:t>
                </a:r>
                <a:r>
                  <a:rPr lang="en-US" altLang="zh-CN" sz="2800" dirty="0" smtClean="0">
                    <a:solidFill>
                      <a:prstClr val="black"/>
                    </a:solidFill>
                  </a:rPr>
                  <a:t>of those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events is independent.</a:t>
                </a:r>
              </a:p>
              <a:p>
                <a:pPr algn="l">
                  <a:lnSpc>
                    <a:spcPct val="100000"/>
                  </a:lnSpc>
                </a:pPr>
                <a:endParaRPr lang="en-US" altLang="zh-CN" sz="2800" dirty="0" smtClean="0"/>
              </a:p>
              <a:p>
                <a:pPr algn="l">
                  <a:lnSpc>
                    <a:spcPct val="100000"/>
                  </a:lnSpc>
                </a:pPr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8490" y="1334730"/>
                <a:ext cx="11975691" cy="5147186"/>
              </a:xfrm>
              <a:blipFill>
                <a:blip r:embed="rId3"/>
                <a:stretch>
                  <a:fillRect l="-1069" t="-1303" r="-9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05760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87594" y="1128252"/>
                <a:ext cx="11688096" cy="5641258"/>
              </a:xfrm>
            </p:spPr>
            <p:txBody>
              <a:bodyPr>
                <a:normAutofit/>
              </a:bodyPr>
              <a:lstStyle/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3.10   </a:t>
                </a:r>
                <a:r>
                  <a:rPr lang="en-US" altLang="zh-CN" sz="2800" dirty="0"/>
                  <a:t>An infinite sequence of independent trials is to be performed. Each trial results in </a:t>
                </a:r>
                <a:r>
                  <a:rPr lang="en-US" altLang="zh-CN" sz="2800" dirty="0" smtClean="0"/>
                  <a:t>a success </a:t>
                </a:r>
                <a:r>
                  <a:rPr lang="en-US" altLang="zh-CN" sz="2800" dirty="0"/>
                  <a:t>with probability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2800" dirty="0"/>
                  <a:t> and a failure with probability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2800" dirty="0"/>
                  <a:t>. What is the </a:t>
                </a:r>
                <a:r>
                  <a:rPr lang="en-US" altLang="zh-CN" sz="2800" dirty="0" smtClean="0"/>
                  <a:t>probability that</a:t>
                </a: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/>
                  <a:t>(a) at least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800" dirty="0"/>
                  <a:t> success occurs in the first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 trials;</a:t>
                </a: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/>
                  <a:t>(b) exactly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successes occur in the first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 trials;</a:t>
                </a: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/>
                  <a:t>(c) all </a:t>
                </a:r>
                <a:r>
                  <a:rPr lang="en-US" altLang="zh-CN" sz="2800" dirty="0" smtClean="0"/>
                  <a:t>trials </a:t>
                </a:r>
                <a:r>
                  <a:rPr lang="en-US" altLang="zh-CN" sz="2800" dirty="0"/>
                  <a:t>result in successes</a:t>
                </a:r>
                <a:r>
                  <a:rPr lang="en-US" altLang="zh-CN" sz="2800" dirty="0" smtClean="0"/>
                  <a:t>?</a:t>
                </a: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>
                    <a:solidFill>
                      <a:srgbClr val="FF0000"/>
                    </a:solidFill>
                  </a:rPr>
                  <a:t>Solution</a:t>
                </a:r>
                <a:r>
                  <a:rPr lang="zh-CN" altLang="en-US" sz="2800" dirty="0" smtClean="0">
                    <a:solidFill>
                      <a:srgbClr val="FF0000"/>
                    </a:solidFill>
                  </a:rPr>
                  <a:t>：</a:t>
                </a:r>
                <a:r>
                  <a:rPr lang="en-US" altLang="zh-CN" sz="2800" dirty="0"/>
                  <a:t>(a) </a:t>
                </a:r>
                <a:r>
                  <a:rPr lang="en-US" altLang="zh-CN" sz="2800" dirty="0" smtClean="0"/>
                  <a:t> </a:t>
                </a:r>
                <a:r>
                  <a:rPr lang="en-US" altLang="zh-CN" sz="2800" dirty="0"/>
                  <a:t>In order to determine the probability of at least 1 success in the first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 smtClean="0"/>
                  <a:t> trials</a:t>
                </a:r>
                <a:r>
                  <a:rPr lang="en-US" altLang="zh-CN" sz="2800" dirty="0"/>
                  <a:t>, it is easiest to compute first the probability of the complementary event: </a:t>
                </a:r>
                <a:r>
                  <a:rPr lang="en-US" altLang="zh-CN" sz="2800" dirty="0" smtClean="0"/>
                  <a:t>that of </a:t>
                </a:r>
                <a:r>
                  <a:rPr lang="en-US" altLang="zh-CN" sz="2800" dirty="0"/>
                  <a:t>no successes in the first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 trials. If we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dirty="0"/>
                  <a:t> denote the event of a failure on the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800" dirty="0" err="1" smtClean="0"/>
                  <a:t>th</a:t>
                </a:r>
                <a:r>
                  <a:rPr lang="en-US" altLang="zh-CN" sz="2800" dirty="0" smtClean="0"/>
                  <a:t> trial</a:t>
                </a:r>
                <a:r>
                  <a:rPr lang="en-US" altLang="zh-CN" sz="2800" dirty="0"/>
                  <a:t>, then the probability of no successes is, by independence</a:t>
                </a:r>
                <a:r>
                  <a:rPr lang="en-US" altLang="zh-CN" sz="2800" dirty="0" smtClean="0"/>
                  <a:t>, Hence</a:t>
                </a:r>
                <a:r>
                  <a:rPr lang="en-US" altLang="zh-CN" sz="2800" dirty="0"/>
                  <a:t>, the answer </a:t>
                </a:r>
                <a:r>
                  <a:rPr lang="en-US" altLang="zh-CN" sz="2800" dirty="0" smtClean="0"/>
                  <a:t>is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  <m:t>1− </m:t>
                            </m:r>
                            <m: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800" dirty="0"/>
                  <a:t>.</a:t>
                </a:r>
                <a:endParaRPr lang="en-US" altLang="zh-CN" sz="2800" dirty="0" smtClean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87594" y="1128252"/>
                <a:ext cx="11688096" cy="5641258"/>
              </a:xfrm>
              <a:blipFill>
                <a:blip r:embed="rId3"/>
                <a:stretch>
                  <a:fillRect l="-1043" t="-1081" r="-25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47232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87594" y="1128252"/>
                <a:ext cx="11688096" cy="5641258"/>
              </a:xfrm>
            </p:spPr>
            <p:txBody>
              <a:bodyPr>
                <a:normAutofit/>
              </a:bodyPr>
              <a:lstStyle/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/>
                  <a:t>(b) consider any particular sequence of the first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 smtClean="0"/>
                  <a:t> </a:t>
                </a:r>
                <a:r>
                  <a:rPr lang="en-US" altLang="zh-CN" sz="2800" dirty="0"/>
                  <a:t>outcomes containing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800" dirty="0"/>
                  <a:t> successes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failures. Each one of these </a:t>
                </a:r>
                <a:r>
                  <a:rPr lang="en-US" altLang="zh-CN" sz="2800" dirty="0" smtClean="0"/>
                  <a:t>sequences will</a:t>
                </a:r>
                <a:r>
                  <a:rPr lang="en-US" altLang="zh-CN" sz="2800" dirty="0"/>
                  <a:t>, by the assumed independence of trials, occur with probability </a:t>
                </a:r>
                <a:endParaRPr lang="en-US" altLang="zh-CN" sz="2800" dirty="0" smtClean="0"/>
              </a:p>
              <a:p>
                <a:pPr lvl="0"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CN" sz="2800" dirty="0" smtClean="0"/>
                  <a:t>.</a:t>
                </a:r>
                <a:endParaRPr lang="en-US" altLang="zh-CN" sz="2800" dirty="0"/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/>
                  <a:t>Since 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 smtClean="0"/>
                  <a:t> such </a:t>
                </a:r>
                <a:r>
                  <a:rPr lang="en-US" altLang="zh-CN" sz="2800" dirty="0"/>
                  <a:t>sequences [there are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altLang="zh-CN" sz="2800" dirty="0" smtClean="0"/>
                  <a:t> permutations </a:t>
                </a:r>
                <a:r>
                  <a:rPr lang="en-US" altLang="zh-CN" sz="2800" dirty="0"/>
                  <a:t>of 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 smtClean="0"/>
                  <a:t>successes </a:t>
                </a:r>
                <a:r>
                  <a:rPr lang="en-US" altLang="zh-CN" sz="28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failures], the desired probability </a:t>
                </a:r>
                <a:r>
                  <a:rPr lang="en-US" altLang="zh-CN" sz="2800" dirty="0" smtClean="0"/>
                  <a:t>is</a:t>
                </a:r>
                <a:endParaRPr lang="en-US" altLang="zh-CN" sz="2800" dirty="0"/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en-US" altLang="zh-CN" sz="2800" i="0" dirty="0" smtClean="0">
                          <a:latin typeface="Cambria Math" panose="02040503050406030204" pitchFamily="18" charset="0"/>
                        </a:rPr>
                        <m:t>exactly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 i="0" dirty="0" smtClean="0">
                          <a:latin typeface="Cambria Math" panose="02040503050406030204" pitchFamily="18" charset="0"/>
                        </a:rPr>
                        <m:t>successes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} =</m:t>
                      </m:r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sz="2800" dirty="0" smtClean="0"/>
              </a:p>
              <a:p>
                <a:pPr lvl="0" algn="l">
                  <a:lnSpc>
                    <a:spcPct val="100000"/>
                  </a:lnSpc>
                </a:pPr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87594" y="1128252"/>
                <a:ext cx="11688096" cy="5641258"/>
              </a:xfrm>
              <a:blipFill>
                <a:blip r:embed="rId3"/>
                <a:stretch>
                  <a:fillRect l="-1043" t="-973" r="-11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416727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87594" y="1128252"/>
                <a:ext cx="11688096" cy="5641258"/>
              </a:xfrm>
            </p:spPr>
            <p:txBody>
              <a:bodyPr>
                <a:normAutofit/>
              </a:bodyPr>
              <a:lstStyle/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/>
                  <a:t>(c) The </a:t>
                </a:r>
                <a:r>
                  <a:rPr lang="en-US" altLang="zh-CN" sz="2800" dirty="0"/>
                  <a:t>probability of the first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 </a:t>
                </a:r>
                <a:r>
                  <a:rPr lang="en-US" altLang="zh-CN" sz="2800" dirty="0" smtClean="0"/>
                  <a:t>trials all </a:t>
                </a:r>
                <a:r>
                  <a:rPr lang="en-US" altLang="zh-CN" sz="2800" dirty="0"/>
                  <a:t>resulting in success is given by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bSup>
                              <m:r>
                                <a:rPr lang="en-US" altLang="zh-CN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  <m:sSubSup>
                                <m:sSubSup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altLang="zh-CN" sz="2800" dirty="0"/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 smtClean="0"/>
                  <a:t>Thus</a:t>
                </a:r>
                <a:r>
                  <a:rPr lang="en-US" altLang="zh-CN" sz="2800" dirty="0"/>
                  <a:t>, using the continuity property of probabilities, we </a:t>
                </a:r>
                <a:r>
                  <a:rPr lang="en-US" altLang="zh-CN" sz="2800" dirty="0" smtClean="0"/>
                  <a:t>get</a:t>
                </a:r>
                <a:endParaRPr lang="en-US" altLang="zh-CN" sz="2800" dirty="0"/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⋂"/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2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 i="0" dirty="0" smtClean="0"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→+∞</m:t>
                                  </m:r>
                                </m:lim>
                              </m:limLow>
                            </m:fName>
                            <m:e>
                              <m:nary>
                                <m:naryPr>
                                  <m:chr m:val="⋂"/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func>
                        </m:e>
                      </m:d>
                    </m:oMath>
                  </m:oMathPara>
                </a14:m>
                <a:endParaRPr lang="en-US" altLang="zh-CN" sz="2800" dirty="0" smtClean="0"/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dirty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→+∞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⋂"/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800" dirty="0" smtClean="0"/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dirty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→+∞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&lt;1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87594" y="1128252"/>
                <a:ext cx="11688096" cy="5641258"/>
              </a:xfrm>
              <a:blipFill>
                <a:blip r:embed="rId3"/>
                <a:stretch>
                  <a:fillRect l="-1043" t="-9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25917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8490" y="1334730"/>
                <a:ext cx="11975691" cy="5147186"/>
              </a:xfrm>
            </p:spPr>
            <p:txBody>
              <a:bodyPr>
                <a:normAutofit fontScale="92500" lnSpcReduction="10000"/>
              </a:bodyPr>
              <a:lstStyle/>
              <a:p>
                <a:pPr algn="l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 ·|</m:t>
                    </m:r>
                    <m:r>
                      <a:rPr lang="en-US" altLang="zh-CN" sz="2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 is 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a </a:t>
                </a: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Probability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Conditional probabilities satisfy all of the properties of ordinary probabilities, as </a:t>
                </a:r>
                <a:r>
                  <a:rPr lang="en-US" altLang="zh-CN" sz="2800" dirty="0" smtClean="0"/>
                  <a:t>is proved </a:t>
                </a:r>
                <a:r>
                  <a:rPr lang="en-US" altLang="zh-CN" sz="2800" dirty="0"/>
                  <a:t>by Proposition </a:t>
                </a:r>
                <a:r>
                  <a:rPr lang="en-US" altLang="zh-CN" sz="2800" dirty="0" smtClean="0"/>
                  <a:t>3.3, </a:t>
                </a:r>
                <a:r>
                  <a:rPr lang="en-US" altLang="zh-CN" sz="2800" dirty="0"/>
                  <a:t>which shows that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/>
                  <a:t> satisfies the three axioms of </a:t>
                </a:r>
                <a:r>
                  <a:rPr lang="en-US" altLang="zh-CN" sz="2800" dirty="0" smtClean="0"/>
                  <a:t>a probability.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Proposition </a:t>
                </a:r>
                <a:r>
                  <a:rPr lang="en-US" altLang="zh-CN" sz="2800" dirty="0" smtClean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3.3 </a:t>
                </a:r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dirty="0">
                        <a:solidFill>
                          <a:srgbClr val="FF0000"/>
                        </a:solidFill>
                      </a:rPr>
                      <m:t>Axiom</m:t>
                    </m:r>
                    <m:r>
                      <m:rPr>
                        <m:nor/>
                      </m:rPr>
                      <a:rPr lang="en-US" altLang="zh-CN" sz="2800" dirty="0"/>
                      <m:t> 1 </m:t>
                    </m:r>
                    <m:r>
                      <a:rPr lang="en-US" altLang="zh-CN" sz="28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)≤1</m:t>
                    </m:r>
                    <m:r>
                      <m:rPr>
                        <m:nor/>
                      </m:rPr>
                      <a:rPr lang="en-US" altLang="zh-CN" sz="2800" dirty="0"/>
                      <m:t>.</m:t>
                    </m:r>
                    <m:r>
                      <m:rPr>
                        <m:nor/>
                      </m:rPr>
                      <a:rPr lang="en-US" altLang="zh-CN" sz="2800" dirty="0">
                        <a:solidFill>
                          <a:srgbClr val="FF000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zh-CN" altLang="en-US" sz="2800" dirty="0">
                        <a:solidFill>
                          <a:srgbClr val="FF0000"/>
                        </a:solidFill>
                      </a:rPr>
                      <m:t>非负性</m:t>
                    </m:r>
                    <m:r>
                      <m:rPr>
                        <m:nor/>
                      </m:rPr>
                      <a:rPr lang="en-US" altLang="zh-CN" sz="2800" dirty="0">
                        <a:solidFill>
                          <a:srgbClr val="FF0000"/>
                        </a:solidFill>
                      </a:rPr>
                      <m:t>)</m:t>
                    </m:r>
                  </m:oMath>
                </a14:m>
                <a:endParaRPr lang="en-US" altLang="zh-CN" sz="2800" dirty="0">
                  <a:solidFill>
                    <a:srgbClr val="FF0000"/>
                  </a:solidFill>
                </a:endParaRPr>
              </a:p>
              <a:p>
                <a:pPr marL="457200" indent="-457200" algn="l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dirty="0">
                        <a:solidFill>
                          <a:srgbClr val="FF0000"/>
                        </a:solidFill>
                      </a:rPr>
                      <m:t>Axiom</m:t>
                    </m:r>
                    <m:r>
                      <m:rPr>
                        <m:nor/>
                      </m:rPr>
                      <a:rPr lang="en-US" altLang="zh-CN" sz="2800" dirty="0"/>
                      <m:t> 2 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)=1</m:t>
                    </m:r>
                    <m:r>
                      <m:rPr>
                        <m:nor/>
                      </m:rPr>
                      <a:rPr lang="en-US" altLang="zh-CN" sz="2800" dirty="0"/>
                      <m:t>.</m:t>
                    </m:r>
                    <m:r>
                      <m:rPr>
                        <m:nor/>
                      </m:rPr>
                      <a:rPr lang="en-US" altLang="zh-CN" sz="2800" dirty="0">
                        <a:solidFill>
                          <a:srgbClr val="FF000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zh-CN" altLang="en-US" sz="2800" dirty="0">
                        <a:solidFill>
                          <a:srgbClr val="FF0000"/>
                        </a:solidFill>
                      </a:rPr>
                      <m:t>归一性</m:t>
                    </m:r>
                    <m:r>
                      <m:rPr>
                        <m:nor/>
                      </m:rPr>
                      <a:rPr lang="en-US" altLang="zh-CN" sz="2800" dirty="0">
                        <a:solidFill>
                          <a:srgbClr val="FF0000"/>
                        </a:solidFill>
                      </a:rPr>
                      <m:t>)</m:t>
                    </m:r>
                  </m:oMath>
                </a14:m>
                <a:endParaRPr lang="en-US" altLang="zh-CN" sz="2800" dirty="0">
                  <a:solidFill>
                    <a:srgbClr val="FF0000"/>
                  </a:solidFill>
                </a:endParaRPr>
              </a:p>
              <a:p>
                <a:pPr marL="457200" indent="-457200" algn="l">
                  <a:lnSpc>
                    <a:spcPct val="10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dirty="0">
                        <a:solidFill>
                          <a:srgbClr val="FF0000"/>
                        </a:solidFill>
                      </a:rPr>
                      <m:t>Axiom</m:t>
                    </m:r>
                    <m:r>
                      <m:rPr>
                        <m:nor/>
                      </m:rPr>
                      <a:rPr lang="en-US" altLang="zh-CN" sz="2800" dirty="0">
                        <a:solidFill>
                          <a:srgbClr val="FF0000"/>
                        </a:solidFill>
                      </a:rPr>
                      <m:t> 3 </m:t>
                    </m:r>
                    <m:r>
                      <m:rPr>
                        <m:nor/>
                      </m:rPr>
                      <a:rPr lang="en-US" altLang="zh-CN" sz="2800" dirty="0" smtClean="0">
                        <a:solidFill>
                          <a:schemeClr val="tx1"/>
                        </a:solidFill>
                      </a:rPr>
                      <m:t>If</m:t>
                    </m:r>
                    <m:r>
                      <m:rPr>
                        <m:nor/>
                      </m:rPr>
                      <a:rPr lang="en-US" altLang="zh-CN" sz="2800" b="0" i="0" dirty="0" smtClean="0">
                        <a:solidFill>
                          <a:schemeClr val="tx1"/>
                        </a:solidFill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800" dirty="0">
                        <a:solidFill>
                          <a:schemeClr val="tx1"/>
                        </a:solidFill>
                      </a:rPr>
                      <m:t>,</m:t>
                    </m:r>
                    <m:r>
                      <a:rPr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brk m:alnAt="23"/>
                      </m:rPr>
                      <a:rPr lang="en-US" altLang="zh-CN" sz="2800" i="1"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nor/>
                      </m:rPr>
                      <a:rPr lang="en-US" altLang="zh-CN" sz="2800" b="0" i="0" dirty="0" smtClean="0">
                        <a:solidFill>
                          <a:schemeClr val="tx1"/>
                        </a:solidFill>
                      </a:rPr>
                      <m:t>=1,2,</m:t>
                    </m:r>
                    <m:r>
                      <a:rPr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…,</m:t>
                    </m:r>
                    <m:r>
                      <m:rPr>
                        <m:nor/>
                      </m:rPr>
                      <a:rPr lang="en-US" altLang="zh-CN" sz="2800" dirty="0">
                        <a:solidFill>
                          <a:schemeClr val="tx1"/>
                        </a:solidFill>
                      </a:rPr>
                      <m:t>are</m:t>
                    </m:r>
                    <m:r>
                      <m:rPr>
                        <m:nor/>
                      </m:rPr>
                      <a:rPr lang="en-US" altLang="zh-CN" sz="2800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CN" sz="2800" dirty="0">
                        <a:solidFill>
                          <a:schemeClr val="tx1"/>
                        </a:solidFill>
                      </a:rPr>
                      <m:t>mutually</m:t>
                    </m:r>
                    <m:r>
                      <m:rPr>
                        <m:nor/>
                      </m:rPr>
                      <a:rPr lang="en-US" altLang="zh-CN" sz="2800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CN" sz="2800" dirty="0">
                        <a:solidFill>
                          <a:schemeClr val="tx1"/>
                        </a:solidFill>
                      </a:rPr>
                      <m:t>exclusive</m:t>
                    </m:r>
                    <m:r>
                      <m:rPr>
                        <m:nor/>
                      </m:rPr>
                      <a:rPr lang="en-US" altLang="zh-CN" sz="2800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CN" sz="2800" dirty="0">
                        <a:solidFill>
                          <a:schemeClr val="tx1"/>
                        </a:solidFill>
                      </a:rPr>
                      <m:t>events</m:t>
                    </m:r>
                    <m:r>
                      <m:rPr>
                        <m:nor/>
                      </m:rPr>
                      <a:rPr lang="en-US" altLang="zh-CN" sz="2800" dirty="0">
                        <a:solidFill>
                          <a:schemeClr val="tx1"/>
                        </a:solidFill>
                      </a:rPr>
                      <m:t>, </m:t>
                    </m:r>
                    <m:r>
                      <m:rPr>
                        <m:nor/>
                      </m:rPr>
                      <a:rPr lang="en-US" altLang="zh-CN" sz="2800" dirty="0">
                        <a:solidFill>
                          <a:schemeClr val="tx1"/>
                        </a:solidFill>
                      </a:rPr>
                      <m:t>then</m:t>
                    </m:r>
                    <m:r>
                      <m:rPr>
                        <m:nor/>
                      </m:rPr>
                      <a:rPr lang="en-US" altLang="zh-CN" sz="2800" dirty="0">
                        <a:solidFill>
                          <a:srgbClr val="FF000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zh-CN" altLang="en-US" sz="2800" dirty="0">
                        <a:solidFill>
                          <a:srgbClr val="FF0000"/>
                        </a:solidFill>
                      </a:rPr>
                      <m:t>可列可加性</m:t>
                    </m:r>
                    <m:r>
                      <m:rPr>
                        <m:nor/>
                      </m:rPr>
                      <a:rPr lang="en-US" altLang="zh-CN" sz="2800" dirty="0">
                        <a:solidFill>
                          <a:srgbClr val="FF0000"/>
                        </a:solidFill>
                      </a:rPr>
                      <m:t>)</m:t>
                    </m:r>
                  </m:oMath>
                </a14:m>
                <a:endParaRPr lang="en-US" altLang="zh-CN" sz="2800" dirty="0">
                  <a:solidFill>
                    <a:srgbClr val="FF0000"/>
                  </a:solidFill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⋃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nary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8490" y="1334730"/>
                <a:ext cx="11975691" cy="5147186"/>
              </a:xfrm>
              <a:blipFill>
                <a:blip r:embed="rId3"/>
                <a:stretch>
                  <a:fillRect l="-916" t="-17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21241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613" y="1143000"/>
            <a:ext cx="11990439" cy="5715000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Homework</a:t>
            </a:r>
          </a:p>
          <a:p>
            <a:pPr lvl="0" algn="l"/>
            <a:r>
              <a:rPr lang="en-US" altLang="zh-CN" sz="28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Page 102 Problems</a:t>
            </a:r>
          </a:p>
          <a:p>
            <a:pPr lvl="0" algn="l"/>
            <a:r>
              <a:rPr lang="en-US" altLang="zh-CN" sz="2800" dirty="0">
                <a:solidFill>
                  <a:prstClr val="black"/>
                </a:solidFill>
              </a:rPr>
              <a:t>1, </a:t>
            </a:r>
            <a:r>
              <a:rPr lang="en-US" altLang="zh-CN" sz="2800" dirty="0" smtClean="0">
                <a:solidFill>
                  <a:prstClr val="black"/>
                </a:solidFill>
              </a:rPr>
              <a:t>12, 15, 18, 26, 40, 70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lvl="0" algn="l"/>
            <a:r>
              <a:rPr lang="en-US" altLang="zh-CN" sz="2800" dirty="0">
                <a:solidFill>
                  <a:srgbClr val="0070C0"/>
                </a:solidFill>
                <a:latin typeface="Arial Black" panose="020B0A04020102020204" pitchFamily="34" charset="0"/>
              </a:rPr>
              <a:t>Page </a:t>
            </a:r>
            <a:r>
              <a:rPr lang="en-US" altLang="zh-CN" sz="28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111  </a:t>
            </a:r>
            <a:r>
              <a:rPr lang="en-US" altLang="zh-CN" sz="2800" dirty="0">
                <a:solidFill>
                  <a:srgbClr val="0070C0"/>
                </a:solidFill>
                <a:latin typeface="Arial Black" panose="020B0A04020102020204" pitchFamily="34" charset="0"/>
              </a:rPr>
              <a:t>Theoretical Exercises</a:t>
            </a:r>
          </a:p>
          <a:p>
            <a:pPr lvl="0" algn="l"/>
            <a:r>
              <a:rPr lang="en-US" altLang="zh-CN" sz="2800" dirty="0" smtClean="0">
                <a:solidFill>
                  <a:prstClr val="black"/>
                </a:solidFill>
              </a:rPr>
              <a:t>2, 5, 25</a:t>
            </a:r>
          </a:p>
          <a:p>
            <a:pPr algn="l"/>
            <a:r>
              <a:rPr lang="en-US" altLang="zh-CN" sz="2800" dirty="0">
                <a:solidFill>
                  <a:srgbClr val="0070C0"/>
                </a:solidFill>
                <a:latin typeface="Arial Black" panose="020B0A04020102020204" pitchFamily="34" charset="0"/>
              </a:rPr>
              <a:t>Page 114 Self-Test Problems and </a:t>
            </a:r>
            <a:r>
              <a:rPr lang="en-US" altLang="zh-CN" sz="28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Exercises</a:t>
            </a:r>
          </a:p>
          <a:p>
            <a:pPr algn="l"/>
            <a:r>
              <a:rPr lang="en-US" altLang="zh-CN" sz="2800" dirty="0">
                <a:solidFill>
                  <a:prstClr val="black"/>
                </a:solidFill>
              </a:rPr>
              <a:t>5, 8, </a:t>
            </a:r>
            <a:r>
              <a:rPr lang="en-US" altLang="zh-CN" sz="2800" dirty="0" smtClean="0">
                <a:solidFill>
                  <a:prstClr val="black"/>
                </a:solidFill>
              </a:rPr>
              <a:t>10, 23, 31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algn="l"/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4269740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49852</TotalTime>
  <Words>4420</Words>
  <Application>Microsoft Office PowerPoint</Application>
  <PresentationFormat>宽屏</PresentationFormat>
  <Paragraphs>208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宋体</vt:lpstr>
      <vt:lpstr>Arial</vt:lpstr>
      <vt:lpstr>Arial Black</vt:lpstr>
      <vt:lpstr>Calibri</vt:lpstr>
      <vt:lpstr>Calibri Light</vt:lpstr>
      <vt:lpstr>Cambria Math</vt:lpstr>
      <vt:lpstr>Wingdings</vt:lpstr>
      <vt:lpstr>Office 主题</vt:lpstr>
      <vt:lpstr>Lecture 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Qingjie</dc:creator>
  <cp:lastModifiedBy>guo</cp:lastModifiedBy>
  <cp:revision>1820</cp:revision>
  <dcterms:created xsi:type="dcterms:W3CDTF">2017-08-02T16:53:24Z</dcterms:created>
  <dcterms:modified xsi:type="dcterms:W3CDTF">2024-09-20T01:47:25Z</dcterms:modified>
</cp:coreProperties>
</file>