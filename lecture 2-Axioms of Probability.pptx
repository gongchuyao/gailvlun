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256" r:id="rId2"/>
    <p:sldId id="429" r:id="rId3"/>
    <p:sldId id="486" r:id="rId4"/>
    <p:sldId id="487" r:id="rId5"/>
    <p:sldId id="488" r:id="rId6"/>
    <p:sldId id="489" r:id="rId7"/>
    <p:sldId id="490" r:id="rId8"/>
    <p:sldId id="491" r:id="rId9"/>
    <p:sldId id="492" r:id="rId10"/>
    <p:sldId id="495" r:id="rId11"/>
    <p:sldId id="496" r:id="rId12"/>
    <p:sldId id="493" r:id="rId13"/>
    <p:sldId id="441" r:id="rId14"/>
    <p:sldId id="442" r:id="rId15"/>
    <p:sldId id="443" r:id="rId16"/>
    <p:sldId id="497" r:id="rId17"/>
    <p:sldId id="498" r:id="rId18"/>
    <p:sldId id="444" r:id="rId19"/>
    <p:sldId id="445" r:id="rId20"/>
    <p:sldId id="462" r:id="rId21"/>
    <p:sldId id="494" r:id="rId22"/>
    <p:sldId id="499" r:id="rId23"/>
    <p:sldId id="500" r:id="rId24"/>
    <p:sldId id="501" r:id="rId25"/>
    <p:sldId id="502" r:id="rId26"/>
    <p:sldId id="447" r:id="rId27"/>
    <p:sldId id="472"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508" autoAdjust="0"/>
  </p:normalViewPr>
  <p:slideViewPr>
    <p:cSldViewPr snapToGrid="0">
      <p:cViewPr varScale="1">
        <p:scale>
          <a:sx n="60" d="100"/>
          <a:sy n="60" d="100"/>
        </p:scale>
        <p:origin x="870" y="57"/>
      </p:cViewPr>
      <p:guideLst>
        <p:guide orient="horz" pos="2160"/>
        <p:guide pos="3840"/>
      </p:guideLst>
    </p:cSldViewPr>
  </p:slideViewPr>
  <p:outlineViewPr>
    <p:cViewPr>
      <p:scale>
        <a:sx n="33" d="100"/>
        <a:sy n="33" d="100"/>
      </p:scale>
      <p:origin x="0" y="-31188"/>
    </p:cViewPr>
  </p:outlineViewPr>
  <p:notesTextViewPr>
    <p:cViewPr>
      <p:scale>
        <a:sx n="1" d="1"/>
        <a:sy n="1" d="1"/>
      </p:scale>
      <p:origin x="0" y="0"/>
    </p:cViewPr>
  </p:notesTextViewPr>
  <p:sorterViewPr>
    <p:cViewPr>
      <p:scale>
        <a:sx n="100" d="100"/>
        <a:sy n="100" d="100"/>
      </p:scale>
      <p:origin x="0" y="-421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B4A429-F965-43FE-9E80-AA88C25A97ED}" type="datetimeFigureOut">
              <a:rPr lang="zh-CN" altLang="en-US" smtClean="0"/>
              <a:t>2025/9/8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4B7839-0288-40B0-805F-AB96B0C1BE39}" type="slidenum">
              <a:rPr lang="zh-CN" altLang="en-US" smtClean="0"/>
              <a:t>‹#›</a:t>
            </a:fld>
            <a:endParaRPr lang="zh-CN" altLang="en-US"/>
          </a:p>
        </p:txBody>
      </p:sp>
    </p:spTree>
    <p:extLst>
      <p:ext uri="{BB962C8B-B14F-4D97-AF65-F5344CB8AC3E}">
        <p14:creationId xmlns:p14="http://schemas.microsoft.com/office/powerpoint/2010/main" val="350207398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940FB8-AFBC-4675-8070-BC9FB7D3F440}" type="datetimeFigureOut">
              <a:rPr lang="zh-CN" altLang="en-US" smtClean="0"/>
              <a:t>2025/9/8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5522D6-4530-4D22-B87B-D541727931B9}" type="slidenum">
              <a:rPr lang="zh-CN" altLang="en-US" smtClean="0"/>
              <a:t>‹#›</a:t>
            </a:fld>
            <a:endParaRPr lang="zh-CN" altLang="en-US"/>
          </a:p>
        </p:txBody>
      </p:sp>
    </p:spTree>
    <p:extLst>
      <p:ext uri="{BB962C8B-B14F-4D97-AF65-F5344CB8AC3E}">
        <p14:creationId xmlns:p14="http://schemas.microsoft.com/office/powerpoint/2010/main" val="352962975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61054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97349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81724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41515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31494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89672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2822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92919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53962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05098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517488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59714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08389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344609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747028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951874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422980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469850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102653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071184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978534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643507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09232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599272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779093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040284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43457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70F9CE6-CAEB-4385-B336-CF7D7D192455}" type="datetime1">
              <a:rPr lang="zh-CN" altLang="en-US" smtClean="0"/>
              <a:t>2025/9/8</a:t>
            </a:fld>
            <a:endParaRPr lang="zh-CN" altLang="en-US"/>
          </a:p>
        </p:txBody>
      </p:sp>
      <p:sp>
        <p:nvSpPr>
          <p:cNvPr id="5" name="页脚占位符 4"/>
          <p:cNvSpPr>
            <a:spLocks noGrp="1"/>
          </p:cNvSpPr>
          <p:nvPr>
            <p:ph type="ftr" sz="quarter" idx="11"/>
          </p:nvPr>
        </p:nvSpPr>
        <p:spPr/>
        <p:txBody>
          <a:bodyPr/>
          <a:lstStyle/>
          <a:p>
            <a:r>
              <a:rPr lang="en-US" altLang="zh-CN"/>
              <a:t>Lecture 13</a:t>
            </a:r>
            <a:endParaRPr lang="zh-CN" altLang="en-US"/>
          </a:p>
        </p:txBody>
      </p:sp>
      <p:sp>
        <p:nvSpPr>
          <p:cNvPr id="6" name="灯片编号占位符 5"/>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1303754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1E69C-C08A-4A65-B447-AADFA937ABE1}" type="datetime1">
              <a:rPr lang="zh-CN" altLang="en-US" smtClean="0"/>
              <a:t>2025/9/8</a:t>
            </a:fld>
            <a:endParaRPr lang="zh-CN" altLang="en-US"/>
          </a:p>
        </p:txBody>
      </p:sp>
      <p:sp>
        <p:nvSpPr>
          <p:cNvPr id="5" name="页脚占位符 4"/>
          <p:cNvSpPr>
            <a:spLocks noGrp="1"/>
          </p:cNvSpPr>
          <p:nvPr>
            <p:ph type="ftr" sz="quarter" idx="11"/>
          </p:nvPr>
        </p:nvSpPr>
        <p:spPr/>
        <p:txBody>
          <a:bodyPr/>
          <a:lstStyle/>
          <a:p>
            <a:r>
              <a:rPr lang="en-US" altLang="zh-CN"/>
              <a:t>Lecture 13</a:t>
            </a:r>
            <a:endParaRPr lang="zh-CN" altLang="en-US"/>
          </a:p>
        </p:txBody>
      </p:sp>
      <p:sp>
        <p:nvSpPr>
          <p:cNvPr id="6" name="灯片编号占位符 5"/>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800156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599A651-68BC-4573-8900-8E8A57F54EFA}" type="datetime1">
              <a:rPr lang="zh-CN" altLang="en-US" smtClean="0"/>
              <a:t>2025/9/8</a:t>
            </a:fld>
            <a:endParaRPr lang="zh-CN" altLang="en-US"/>
          </a:p>
        </p:txBody>
      </p:sp>
      <p:sp>
        <p:nvSpPr>
          <p:cNvPr id="5" name="页脚占位符 4"/>
          <p:cNvSpPr>
            <a:spLocks noGrp="1"/>
          </p:cNvSpPr>
          <p:nvPr>
            <p:ph type="ftr" sz="quarter" idx="11"/>
          </p:nvPr>
        </p:nvSpPr>
        <p:spPr/>
        <p:txBody>
          <a:bodyPr/>
          <a:lstStyle/>
          <a:p>
            <a:r>
              <a:rPr lang="en-US" altLang="zh-CN"/>
              <a:t>Lecture 13</a:t>
            </a:r>
            <a:endParaRPr lang="zh-CN" altLang="en-US"/>
          </a:p>
        </p:txBody>
      </p:sp>
      <p:sp>
        <p:nvSpPr>
          <p:cNvPr id="6" name="灯片编号占位符 5"/>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307013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88435C6-1BFE-4317-9FC4-5E89E00569D3}" type="datetime1">
              <a:rPr lang="zh-CN" altLang="en-US" smtClean="0"/>
              <a:t>2025/9/8</a:t>
            </a:fld>
            <a:endParaRPr lang="zh-CN" altLang="en-US"/>
          </a:p>
        </p:txBody>
      </p:sp>
      <p:sp>
        <p:nvSpPr>
          <p:cNvPr id="6" name="页脚占位符 5"/>
          <p:cNvSpPr>
            <a:spLocks noGrp="1"/>
          </p:cNvSpPr>
          <p:nvPr>
            <p:ph type="ftr" sz="quarter" idx="11"/>
          </p:nvPr>
        </p:nvSpPr>
        <p:spPr/>
        <p:txBody>
          <a:bodyPr/>
          <a:lstStyle/>
          <a:p>
            <a:r>
              <a:rPr lang="en-US" altLang="zh-CN"/>
              <a:t>Lecture 13</a:t>
            </a:r>
            <a:endParaRPr lang="zh-CN" altLang="en-US"/>
          </a:p>
        </p:txBody>
      </p:sp>
      <p:sp>
        <p:nvSpPr>
          <p:cNvPr id="7" name="灯片编号占位符 6"/>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3288438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DF54329-6BF8-4599-85CA-31126AB9D141}" type="datetime1">
              <a:rPr lang="zh-CN" altLang="en-US" smtClean="0"/>
              <a:t>2025/9/8</a:t>
            </a:fld>
            <a:endParaRPr lang="zh-CN" altLang="en-US"/>
          </a:p>
        </p:txBody>
      </p:sp>
      <p:sp>
        <p:nvSpPr>
          <p:cNvPr id="8" name="页脚占位符 7"/>
          <p:cNvSpPr>
            <a:spLocks noGrp="1"/>
          </p:cNvSpPr>
          <p:nvPr>
            <p:ph type="ftr" sz="quarter" idx="11"/>
          </p:nvPr>
        </p:nvSpPr>
        <p:spPr/>
        <p:txBody>
          <a:bodyPr/>
          <a:lstStyle/>
          <a:p>
            <a:r>
              <a:rPr lang="en-US" altLang="zh-CN"/>
              <a:t>Lecture 13</a:t>
            </a:r>
            <a:endParaRPr lang="zh-CN" altLang="en-US"/>
          </a:p>
        </p:txBody>
      </p:sp>
      <p:sp>
        <p:nvSpPr>
          <p:cNvPr id="9" name="灯片编号占位符 8"/>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535382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825B017-5F45-44A5-988A-8F6FDCD39E7E}" type="datetime1">
              <a:rPr lang="zh-CN" altLang="en-US" smtClean="0"/>
              <a:t>2025/9/8</a:t>
            </a:fld>
            <a:endParaRPr lang="zh-CN" altLang="en-US"/>
          </a:p>
        </p:txBody>
      </p:sp>
      <p:sp>
        <p:nvSpPr>
          <p:cNvPr id="4" name="页脚占位符 3"/>
          <p:cNvSpPr>
            <a:spLocks noGrp="1"/>
          </p:cNvSpPr>
          <p:nvPr>
            <p:ph type="ftr" sz="quarter" idx="11"/>
          </p:nvPr>
        </p:nvSpPr>
        <p:spPr/>
        <p:txBody>
          <a:bodyPr/>
          <a:lstStyle/>
          <a:p>
            <a:r>
              <a:rPr lang="en-US" altLang="zh-CN"/>
              <a:t>Lecture 13</a:t>
            </a:r>
            <a:endParaRPr lang="zh-CN" altLang="en-US"/>
          </a:p>
        </p:txBody>
      </p:sp>
      <p:sp>
        <p:nvSpPr>
          <p:cNvPr id="5" name="灯片编号占位符 4"/>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942865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16237B2-D9E3-4464-903E-B93583AF56FF}" type="datetime1">
              <a:rPr lang="zh-CN" altLang="en-US" smtClean="0"/>
              <a:t>2025/9/8</a:t>
            </a:fld>
            <a:endParaRPr lang="zh-CN" altLang="en-US"/>
          </a:p>
        </p:txBody>
      </p:sp>
      <p:sp>
        <p:nvSpPr>
          <p:cNvPr id="3" name="页脚占位符 2"/>
          <p:cNvSpPr>
            <a:spLocks noGrp="1"/>
          </p:cNvSpPr>
          <p:nvPr>
            <p:ph type="ftr" sz="quarter" idx="11"/>
          </p:nvPr>
        </p:nvSpPr>
        <p:spPr/>
        <p:txBody>
          <a:bodyPr/>
          <a:lstStyle/>
          <a:p>
            <a:r>
              <a:rPr lang="en-US" altLang="zh-CN"/>
              <a:t>Lecture 13</a:t>
            </a:r>
            <a:endParaRPr lang="zh-CN" altLang="en-US"/>
          </a:p>
        </p:txBody>
      </p:sp>
      <p:sp>
        <p:nvSpPr>
          <p:cNvPr id="4" name="灯片编号占位符 3"/>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783635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E62C316-55FC-4088-B0CC-FABDB989E157}" type="datetime1">
              <a:rPr lang="zh-CN" altLang="en-US" smtClean="0"/>
              <a:t>2025/9/8</a:t>
            </a:fld>
            <a:endParaRPr lang="zh-CN" altLang="en-US"/>
          </a:p>
        </p:txBody>
      </p:sp>
      <p:sp>
        <p:nvSpPr>
          <p:cNvPr id="6" name="页脚占位符 5"/>
          <p:cNvSpPr>
            <a:spLocks noGrp="1"/>
          </p:cNvSpPr>
          <p:nvPr>
            <p:ph type="ftr" sz="quarter" idx="11"/>
          </p:nvPr>
        </p:nvSpPr>
        <p:spPr/>
        <p:txBody>
          <a:bodyPr/>
          <a:lstStyle/>
          <a:p>
            <a:r>
              <a:rPr lang="en-US" altLang="zh-CN"/>
              <a:t>Lecture 13</a:t>
            </a:r>
            <a:endParaRPr lang="zh-CN" altLang="en-US"/>
          </a:p>
        </p:txBody>
      </p:sp>
      <p:sp>
        <p:nvSpPr>
          <p:cNvPr id="7" name="灯片编号占位符 6"/>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1232480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376EE58-D793-4AE8-80E6-AC00A4704FC4}" type="datetime1">
              <a:rPr lang="zh-CN" altLang="en-US" smtClean="0"/>
              <a:t>2025/9/8</a:t>
            </a:fld>
            <a:endParaRPr lang="zh-CN" altLang="en-US"/>
          </a:p>
        </p:txBody>
      </p:sp>
      <p:sp>
        <p:nvSpPr>
          <p:cNvPr id="6" name="页脚占位符 5"/>
          <p:cNvSpPr>
            <a:spLocks noGrp="1"/>
          </p:cNvSpPr>
          <p:nvPr>
            <p:ph type="ftr" sz="quarter" idx="11"/>
          </p:nvPr>
        </p:nvSpPr>
        <p:spPr/>
        <p:txBody>
          <a:bodyPr/>
          <a:lstStyle/>
          <a:p>
            <a:r>
              <a:rPr lang="en-US" altLang="zh-CN"/>
              <a:t>Lecture 13</a:t>
            </a:r>
            <a:endParaRPr lang="zh-CN" altLang="en-US"/>
          </a:p>
        </p:txBody>
      </p:sp>
      <p:sp>
        <p:nvSpPr>
          <p:cNvPr id="7" name="灯片编号占位符 6"/>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4181370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0F4A92A-E230-4543-8945-BF93DC996D15}" type="datetime1">
              <a:rPr lang="zh-CN" altLang="en-US" smtClean="0"/>
              <a:t>2025/9/8</a:t>
            </a:fld>
            <a:endParaRPr lang="zh-CN" altLang="en-US"/>
          </a:p>
        </p:txBody>
      </p:sp>
      <p:sp>
        <p:nvSpPr>
          <p:cNvPr id="5" name="页脚占位符 4"/>
          <p:cNvSpPr>
            <a:spLocks noGrp="1"/>
          </p:cNvSpPr>
          <p:nvPr>
            <p:ph type="ftr" sz="quarter" idx="11"/>
          </p:nvPr>
        </p:nvSpPr>
        <p:spPr/>
        <p:txBody>
          <a:bodyPr/>
          <a:lstStyle/>
          <a:p>
            <a:r>
              <a:rPr lang="en-US" altLang="zh-CN"/>
              <a:t>Lecture 13</a:t>
            </a:r>
            <a:endParaRPr lang="zh-CN" altLang="en-US"/>
          </a:p>
        </p:txBody>
      </p:sp>
      <p:sp>
        <p:nvSpPr>
          <p:cNvPr id="6" name="灯片编号占位符 5"/>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2772544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C4EE6F0-7055-4C0D-8BCA-9538F0E5021B}" type="datetime1">
              <a:rPr lang="zh-CN" altLang="en-US" smtClean="0"/>
              <a:t>2025/9/8</a:t>
            </a:fld>
            <a:endParaRPr lang="zh-CN" altLang="en-US"/>
          </a:p>
        </p:txBody>
      </p:sp>
      <p:sp>
        <p:nvSpPr>
          <p:cNvPr id="5" name="页脚占位符 4"/>
          <p:cNvSpPr>
            <a:spLocks noGrp="1"/>
          </p:cNvSpPr>
          <p:nvPr>
            <p:ph type="ftr" sz="quarter" idx="11"/>
          </p:nvPr>
        </p:nvSpPr>
        <p:spPr/>
        <p:txBody>
          <a:bodyPr/>
          <a:lstStyle/>
          <a:p>
            <a:r>
              <a:rPr lang="en-US" altLang="zh-CN"/>
              <a:t>Lecture 13</a:t>
            </a:r>
            <a:endParaRPr lang="zh-CN" altLang="en-US"/>
          </a:p>
        </p:txBody>
      </p:sp>
      <p:sp>
        <p:nvSpPr>
          <p:cNvPr id="6" name="灯片编号占位符 5"/>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3575651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C83BF8-85A7-44CC-8B86-6D05CB52A8A5}" type="datetime1">
              <a:rPr lang="zh-CN" altLang="en-US" smtClean="0"/>
              <a:t>2025/9/8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Lecture 13</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3617445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jpe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jpe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jpe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jpe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jpe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jpe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831282"/>
            <a:ext cx="9144000" cy="1045184"/>
          </a:xfrm>
        </p:spPr>
        <p:txBody>
          <a:bodyPr>
            <a:noAutofit/>
          </a:bodyPr>
          <a:lstStyle/>
          <a:p>
            <a:r>
              <a:rPr lang="en-US" altLang="zh-CN" sz="8000" b="1" dirty="0"/>
              <a:t>Lecture 2</a:t>
            </a:r>
            <a:endParaRPr lang="zh-CN" altLang="en-US" sz="8000" b="1" dirty="0"/>
          </a:p>
        </p:txBody>
      </p:sp>
      <p:sp>
        <p:nvSpPr>
          <p:cNvPr id="3" name="副标题 2"/>
          <p:cNvSpPr>
            <a:spLocks noGrp="1"/>
          </p:cNvSpPr>
          <p:nvPr>
            <p:ph type="subTitle" idx="1"/>
          </p:nvPr>
        </p:nvSpPr>
        <p:spPr>
          <a:xfrm>
            <a:off x="1061258" y="3128753"/>
            <a:ext cx="10069484" cy="2529878"/>
          </a:xfrm>
        </p:spPr>
        <p:txBody>
          <a:bodyPr>
            <a:normAutofit/>
          </a:bodyPr>
          <a:lstStyle/>
          <a:p>
            <a:r>
              <a:rPr lang="en-US" altLang="zh-CN" sz="4800" b="1" dirty="0">
                <a:solidFill>
                  <a:srgbClr val="FF0000"/>
                </a:solidFill>
              </a:rPr>
              <a:t>Axioms of Probability</a:t>
            </a:r>
          </a:p>
          <a:p>
            <a:r>
              <a:rPr lang="zh-CN" altLang="en-US" sz="4800" b="1">
                <a:solidFill>
                  <a:srgbClr val="FF0000"/>
                </a:solidFill>
              </a:rPr>
              <a:t>概率论公理</a:t>
            </a:r>
            <a:endParaRPr lang="zh-CN" altLang="en-US" sz="4800" b="1" dirty="0">
              <a:solidFill>
                <a:srgbClr val="FF0000"/>
              </a:solidFill>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8" name="文本框 7"/>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28651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250723" y="1490375"/>
            <a:ext cx="11614354" cy="4488583"/>
          </a:xfrm>
          <a:noFill/>
        </p:spPr>
        <p:txBody>
          <a:bodyPr>
            <a:normAutofit/>
          </a:bodyPr>
          <a:lstStyle/>
          <a:p>
            <a:r>
              <a:rPr lang="en-US" altLang="zh-CN" sz="3200" b="1" dirty="0">
                <a:solidFill>
                  <a:srgbClr val="FF0000"/>
                </a:solidFill>
              </a:rPr>
              <a:t>Outline</a:t>
            </a:r>
          </a:p>
          <a:p>
            <a:pPr marL="571500" indent="-571500" algn="l">
              <a:buFont typeface="Wingdings" panose="05000000000000000000" pitchFamily="2" charset="2"/>
              <a:buChar char="Ø"/>
            </a:pPr>
            <a:r>
              <a:rPr lang="en-US" altLang="zh-CN" sz="2800" b="1" dirty="0">
                <a:solidFill>
                  <a:srgbClr val="FF0000"/>
                </a:solidFill>
              </a:rPr>
              <a:t>Sample Space and Events  </a:t>
            </a:r>
            <a:r>
              <a:rPr lang="zh-CN" altLang="en-US" sz="2800" b="1" dirty="0"/>
              <a:t>样本空间和事件</a:t>
            </a:r>
            <a:endParaRPr lang="en-US" altLang="zh-CN" sz="2800" b="1" dirty="0"/>
          </a:p>
          <a:p>
            <a:pPr marL="571500" indent="-571500" algn="l">
              <a:buFont typeface="Wingdings" panose="05000000000000000000" pitchFamily="2" charset="2"/>
              <a:buChar char="Ø"/>
            </a:pPr>
            <a:r>
              <a:rPr lang="en-US" altLang="zh-CN" sz="2800" b="1" dirty="0">
                <a:solidFill>
                  <a:srgbClr val="FF0000"/>
                </a:solidFill>
              </a:rPr>
              <a:t>Axioms of Probability             </a:t>
            </a:r>
            <a:r>
              <a:rPr lang="zh-CN" altLang="en-US" sz="2800" b="1" dirty="0"/>
              <a:t>概率公理化</a:t>
            </a:r>
            <a:endParaRPr lang="en-US" altLang="zh-CN" sz="2800" b="1" dirty="0"/>
          </a:p>
          <a:p>
            <a:pPr marL="571500" indent="-571500" algn="l">
              <a:buFont typeface="Wingdings" panose="05000000000000000000" pitchFamily="2" charset="2"/>
              <a:buChar char="Ø"/>
            </a:pPr>
            <a:r>
              <a:rPr lang="en-US" altLang="zh-CN" sz="2800" b="1" dirty="0">
                <a:solidFill>
                  <a:srgbClr val="FF0000"/>
                </a:solidFill>
              </a:rPr>
              <a:t>Some Simple Propositions    </a:t>
            </a:r>
            <a:r>
              <a:rPr lang="zh-CN" altLang="en-US" sz="2800" b="1" dirty="0"/>
              <a:t>一些简单命题</a:t>
            </a:r>
            <a:endParaRPr lang="en-US" altLang="zh-CN" sz="2800" b="1" dirty="0"/>
          </a:p>
          <a:p>
            <a:pPr marL="571500" indent="-571500" algn="l">
              <a:buFont typeface="Wingdings" panose="05000000000000000000" pitchFamily="2" charset="2"/>
              <a:buChar char="Ø"/>
            </a:pPr>
            <a:r>
              <a:rPr lang="en-US" altLang="zh-CN" sz="2800" b="1" dirty="0">
                <a:solidFill>
                  <a:srgbClr val="FF0000"/>
                </a:solidFill>
              </a:rPr>
              <a:t>Sample Spaces Having Equally Likely Outcomes </a:t>
            </a:r>
            <a:r>
              <a:rPr lang="zh-CN" altLang="en-US" sz="2800" b="1" dirty="0"/>
              <a:t>等可能结果的样本空间</a:t>
            </a:r>
            <a:endParaRPr lang="en-US" altLang="zh-CN" sz="2800" b="1" dirty="0"/>
          </a:p>
          <a:p>
            <a:pPr marL="571500" indent="-571500" algn="l">
              <a:buFont typeface="Wingdings" panose="05000000000000000000" pitchFamily="2" charset="2"/>
              <a:buChar char="Ø"/>
            </a:pPr>
            <a:r>
              <a:rPr lang="en-US" altLang="zh-CN" sz="2800" b="1" dirty="0">
                <a:solidFill>
                  <a:srgbClr val="FF0000"/>
                </a:solidFill>
              </a:rPr>
              <a:t>Probability as a Measure of Belief </a:t>
            </a:r>
            <a:r>
              <a:rPr lang="en-US" altLang="zh-CN" sz="2800" b="1" dirty="0"/>
              <a:t>       </a:t>
            </a:r>
            <a:r>
              <a:rPr lang="zh-CN" altLang="en-US" sz="2800" b="1" dirty="0"/>
              <a:t>概率作为信任度的测量</a:t>
            </a:r>
            <a:endParaRPr lang="en-US" altLang="zh-CN" sz="2800" b="1"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150805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93040" y="1305232"/>
            <a:ext cx="11782650" cy="5346291"/>
          </a:xfrm>
        </p:spPr>
        <p:txBody>
          <a:bodyPr>
            <a:normAutofit/>
          </a:bodyPr>
          <a:lstStyle/>
          <a:p>
            <a:pPr>
              <a:lnSpc>
                <a:spcPct val="100000"/>
              </a:lnSpc>
            </a:pPr>
            <a:r>
              <a:rPr lang="en-US" altLang="zh-CN" sz="3600" b="1" dirty="0">
                <a:solidFill>
                  <a:srgbClr val="FF0000"/>
                </a:solidFill>
              </a:rPr>
              <a:t>Introduction</a:t>
            </a:r>
            <a:endParaRPr lang="en-US" altLang="zh-CN" sz="3600" b="1" dirty="0"/>
          </a:p>
          <a:p>
            <a:pPr algn="l">
              <a:lnSpc>
                <a:spcPct val="100000"/>
              </a:lnSpc>
            </a:pPr>
            <a:r>
              <a:rPr lang="en-US" altLang="zh-CN" sz="2800" dirty="0"/>
              <a:t>In this chapter, we introduce the concept of the </a:t>
            </a:r>
            <a:r>
              <a:rPr lang="en-US" altLang="zh-CN" sz="2800" dirty="0">
                <a:solidFill>
                  <a:srgbClr val="FF0000"/>
                </a:solidFill>
              </a:rPr>
              <a:t>probability</a:t>
            </a:r>
            <a:r>
              <a:rPr lang="en-US" altLang="zh-CN" sz="2800" dirty="0"/>
              <a:t> of an event and then show how probabilities can be computed in certain situations. As a preliminary, however, we need to discuss the concept of the </a:t>
            </a:r>
            <a:r>
              <a:rPr lang="en-US" altLang="zh-CN" sz="2800" dirty="0">
                <a:solidFill>
                  <a:srgbClr val="FF0000"/>
                </a:solidFill>
              </a:rPr>
              <a:t>sample space </a:t>
            </a:r>
            <a:r>
              <a:rPr lang="en-US" altLang="zh-CN" sz="2800" dirty="0"/>
              <a:t>and the </a:t>
            </a:r>
            <a:r>
              <a:rPr lang="en-US" altLang="zh-CN" sz="2800" dirty="0">
                <a:solidFill>
                  <a:srgbClr val="FF0000"/>
                </a:solidFill>
              </a:rPr>
              <a:t>events</a:t>
            </a:r>
            <a:r>
              <a:rPr lang="en-US" altLang="zh-CN" sz="2800" dirty="0"/>
              <a:t> of an experiment.</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3709367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53504" y="1198881"/>
                <a:ext cx="12138496" cy="5548506"/>
              </a:xfrm>
            </p:spPr>
            <p:txBody>
              <a:bodyPr>
                <a:normAutofit/>
              </a:bodyPr>
              <a:lstStyle/>
              <a:p>
                <a:pPr algn="l">
                  <a:lnSpc>
                    <a:spcPct val="100000"/>
                  </a:lnSpc>
                </a:pPr>
                <a:r>
                  <a:rPr lang="en-US" altLang="zh-CN" sz="2800" dirty="0">
                    <a:solidFill>
                      <a:srgbClr val="0070C0"/>
                    </a:solidFill>
                    <a:latin typeface="Arial Black" panose="020B0A04020102020204" pitchFamily="34" charset="0"/>
                  </a:rPr>
                  <a:t>Sample Spaces and Events </a:t>
                </a:r>
                <a:r>
                  <a:rPr lang="zh-CN" altLang="en-US" sz="2800" dirty="0">
                    <a:solidFill>
                      <a:srgbClr val="0070C0"/>
                    </a:solidFill>
                    <a:latin typeface="Arial Black" panose="020B0A04020102020204" pitchFamily="34" charset="0"/>
                  </a:rPr>
                  <a:t>样本空间和事件</a:t>
                </a:r>
                <a:endParaRPr lang="en-US" altLang="zh-CN" sz="2800" dirty="0">
                  <a:solidFill>
                    <a:srgbClr val="0070C0"/>
                  </a:solidFill>
                  <a:latin typeface="Arial Black" panose="020B0A04020102020204" pitchFamily="34" charset="0"/>
                </a:endParaRPr>
              </a:p>
              <a:p>
                <a:pPr algn="l">
                  <a:lnSpc>
                    <a:spcPct val="100000"/>
                  </a:lnSpc>
                </a:pPr>
                <a:r>
                  <a:rPr lang="en-US" altLang="zh-CN" sz="2800" dirty="0"/>
                  <a:t>An </a:t>
                </a:r>
                <a:r>
                  <a:rPr lang="en-US" altLang="zh-CN" sz="2800" dirty="0">
                    <a:solidFill>
                      <a:srgbClr val="FF0000"/>
                    </a:solidFill>
                  </a:rPr>
                  <a:t>experiment</a:t>
                </a:r>
                <a:r>
                  <a:rPr lang="en-US" altLang="zh-CN" sz="2800" dirty="0"/>
                  <a:t> is any action or process whose outcome is subject to uncertainty.</a:t>
                </a:r>
              </a:p>
              <a:p>
                <a:pPr algn="l">
                  <a:lnSpc>
                    <a:spcPct val="100000"/>
                  </a:lnSpc>
                </a:pPr>
                <a:r>
                  <a:rPr lang="en-US" altLang="zh-CN" sz="2800" dirty="0">
                    <a:solidFill>
                      <a:srgbClr val="0070C0"/>
                    </a:solidFill>
                    <a:latin typeface="Arial Black" panose="020B0A04020102020204" pitchFamily="34" charset="0"/>
                  </a:rPr>
                  <a:t>Definition 2.1 The Sample Space </a:t>
                </a:r>
                <a:r>
                  <a:rPr lang="zh-CN" altLang="en-US" sz="2800" dirty="0">
                    <a:solidFill>
                      <a:srgbClr val="0070C0"/>
                    </a:solidFill>
                    <a:latin typeface="Arial Black" panose="020B0A04020102020204" pitchFamily="34" charset="0"/>
                  </a:rPr>
                  <a:t>样本空间</a:t>
                </a:r>
                <a:endParaRPr lang="en-US" altLang="zh-CN" sz="2800" dirty="0">
                  <a:solidFill>
                    <a:srgbClr val="0070C0"/>
                  </a:solidFill>
                  <a:latin typeface="Arial Black" panose="020B0A04020102020204" pitchFamily="34" charset="0"/>
                </a:endParaRPr>
              </a:p>
              <a:p>
                <a:pPr algn="l">
                  <a:lnSpc>
                    <a:spcPct val="100000"/>
                  </a:lnSpc>
                </a:pPr>
                <a:r>
                  <a:rPr lang="en-US" altLang="zh-CN" sz="2800" dirty="0"/>
                  <a:t>The </a:t>
                </a:r>
                <a:r>
                  <a:rPr lang="en-US" altLang="zh-CN" sz="2800" dirty="0">
                    <a:solidFill>
                      <a:srgbClr val="FF0000"/>
                    </a:solidFill>
                  </a:rPr>
                  <a:t>sample space </a:t>
                </a:r>
                <a:r>
                  <a:rPr lang="en-US" altLang="zh-CN" sz="2800" dirty="0"/>
                  <a:t>of an experiment, denoted by </a:t>
                </a:r>
                <a14:m>
                  <m:oMath xmlns:m="http://schemas.openxmlformats.org/officeDocument/2006/math">
                    <m:r>
                      <a:rPr lang="en-US" altLang="zh-CN" sz="2800" i="1" dirty="0" smtClean="0">
                        <a:latin typeface="Cambria Math" panose="02040503050406030204" pitchFamily="18" charset="0"/>
                      </a:rPr>
                      <m:t>𝑆</m:t>
                    </m:r>
                  </m:oMath>
                </a14:m>
                <a:r>
                  <a:rPr lang="en-US" altLang="zh-CN" sz="2800" dirty="0"/>
                  <a:t>, is the set of all possible outcomes of that experiment.</a:t>
                </a:r>
              </a:p>
              <a:p>
                <a:pPr algn="l">
                  <a:lnSpc>
                    <a:spcPct val="100000"/>
                  </a:lnSpc>
                </a:pPr>
                <a:r>
                  <a:rPr lang="en-US" altLang="zh-CN" sz="2800" dirty="0">
                    <a:solidFill>
                      <a:srgbClr val="0070C0"/>
                    </a:solidFill>
                    <a:latin typeface="Arial Black" panose="020B0A04020102020204" pitchFamily="34" charset="0"/>
                  </a:rPr>
                  <a:t>Example 2.1 </a:t>
                </a:r>
              </a:p>
              <a:p>
                <a:pPr algn="l">
                  <a:lnSpc>
                    <a:spcPct val="100000"/>
                  </a:lnSpc>
                </a:pPr>
                <a:r>
                  <a:rPr lang="en-US" altLang="zh-CN" sz="2800" dirty="0"/>
                  <a:t>Roll a fair die                                     </a:t>
                </a:r>
                <a14:m>
                  <m:oMath xmlns:m="http://schemas.openxmlformats.org/officeDocument/2006/math">
                    <m:r>
                      <a:rPr lang="en-US" altLang="zh-CN" sz="2800" i="1" dirty="0">
                        <a:latin typeface="Cambria Math" panose="02040503050406030204" pitchFamily="18" charset="0"/>
                      </a:rPr>
                      <m:t>𝑆</m:t>
                    </m:r>
                    <m:r>
                      <a:rPr lang="en-US" altLang="zh-CN" sz="2800" b="0" i="1" dirty="0" smtClean="0">
                        <a:latin typeface="Cambria Math" panose="02040503050406030204" pitchFamily="18" charset="0"/>
                      </a:rPr>
                      <m:t>=</m:t>
                    </m:r>
                    <m:d>
                      <m:dPr>
                        <m:begChr m:val="{"/>
                        <m:endChr m:val="}"/>
                        <m:ctrlPr>
                          <a:rPr lang="en-US" altLang="zh-CN" sz="2800" b="0" i="1" dirty="0" smtClean="0">
                            <a:latin typeface="Cambria Math" panose="02040503050406030204" pitchFamily="18" charset="0"/>
                          </a:rPr>
                        </m:ctrlPr>
                      </m:dPr>
                      <m:e>
                        <m:r>
                          <a:rPr lang="en-US" altLang="zh-CN" sz="2800" b="0" i="1" dirty="0" smtClean="0">
                            <a:latin typeface="Cambria Math" panose="02040503050406030204" pitchFamily="18" charset="0"/>
                          </a:rPr>
                          <m:t>1,2,3,4,5,6</m:t>
                        </m:r>
                      </m:e>
                    </m:d>
                  </m:oMath>
                </a14:m>
                <a:endParaRPr lang="en-US" altLang="zh-CN" dirty="0"/>
              </a:p>
              <a:p>
                <a:pPr algn="l">
                  <a:lnSpc>
                    <a:spcPct val="100000"/>
                  </a:lnSpc>
                </a:pPr>
                <a:r>
                  <a:rPr lang="en-US" altLang="zh-CN" sz="2800" dirty="0"/>
                  <a:t>Flip a coin                                         </a:t>
                </a:r>
                <a14:m>
                  <m:oMath xmlns:m="http://schemas.openxmlformats.org/officeDocument/2006/math">
                    <m:r>
                      <a:rPr lang="en-US" altLang="zh-CN" sz="2800" b="0" i="0" dirty="0" smtClean="0">
                        <a:latin typeface="Cambria Math" panose="02040503050406030204" pitchFamily="18" charset="0"/>
                      </a:rPr>
                      <m:t> </m:t>
                    </m:r>
                    <m:r>
                      <a:rPr lang="en-US" altLang="zh-CN" sz="2800" i="1" dirty="0">
                        <a:latin typeface="Cambria Math" panose="02040503050406030204" pitchFamily="18" charset="0"/>
                      </a:rPr>
                      <m:t>𝑆</m:t>
                    </m:r>
                    <m:r>
                      <a:rPr lang="en-US" altLang="zh-CN" sz="2800" i="1" dirty="0">
                        <a:latin typeface="Cambria Math" panose="02040503050406030204" pitchFamily="18" charset="0"/>
                      </a:rPr>
                      <m:t>=</m:t>
                    </m:r>
                    <m:d>
                      <m:dPr>
                        <m:begChr m:val="{"/>
                        <m:endChr m:val="}"/>
                        <m:ctrlPr>
                          <a:rPr lang="en-US" altLang="zh-CN" sz="2800" i="1" dirty="0">
                            <a:latin typeface="Cambria Math" panose="02040503050406030204" pitchFamily="18" charset="0"/>
                          </a:rPr>
                        </m:ctrlPr>
                      </m:dPr>
                      <m:e>
                        <m:r>
                          <a:rPr lang="en-US" altLang="zh-CN" sz="2800" b="0" i="1" dirty="0" smtClean="0">
                            <a:latin typeface="Cambria Math" panose="02040503050406030204" pitchFamily="18" charset="0"/>
                          </a:rPr>
                          <m:t>𝐻</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𝑇</m:t>
                        </m:r>
                        <m:r>
                          <a:rPr lang="en-US" altLang="zh-CN" sz="2800" i="1" dirty="0" smtClean="0">
                            <a:latin typeface="Cambria Math" panose="02040503050406030204" pitchFamily="18" charset="0"/>
                          </a:rPr>
                          <m:t> </m:t>
                        </m:r>
                      </m:e>
                    </m:d>
                  </m:oMath>
                </a14:m>
                <a:endParaRPr lang="en-US" altLang="zh-CN" dirty="0"/>
              </a:p>
              <a:p>
                <a:pPr algn="l">
                  <a:lnSpc>
                    <a:spcPct val="100000"/>
                  </a:lnSpc>
                </a:pPr>
                <a:r>
                  <a:rPr lang="en-US" altLang="zh-CN" sz="2800" dirty="0"/>
                  <a:t>The sex of a newborn child            </a:t>
                </a:r>
                <a14:m>
                  <m:oMath xmlns:m="http://schemas.openxmlformats.org/officeDocument/2006/math">
                    <m:r>
                      <a:rPr lang="en-US" altLang="zh-CN" sz="2800" i="1" dirty="0">
                        <a:latin typeface="Cambria Math" panose="02040503050406030204" pitchFamily="18" charset="0"/>
                      </a:rPr>
                      <m:t>𝑆</m:t>
                    </m:r>
                    <m:r>
                      <a:rPr lang="en-US" altLang="zh-CN" sz="2800" i="1" dirty="0">
                        <a:latin typeface="Cambria Math" panose="02040503050406030204" pitchFamily="18" charset="0"/>
                      </a:rPr>
                      <m:t>=</m:t>
                    </m:r>
                    <m:d>
                      <m:dPr>
                        <m:begChr m:val="{"/>
                        <m:endChr m:val="}"/>
                        <m:ctrlPr>
                          <a:rPr lang="en-US" altLang="zh-CN" sz="2800" i="1" dirty="0">
                            <a:latin typeface="Cambria Math" panose="02040503050406030204" pitchFamily="18" charset="0"/>
                          </a:rPr>
                        </m:ctrlPr>
                      </m:dPr>
                      <m:e>
                        <m:r>
                          <a:rPr lang="en-US" altLang="zh-CN" sz="2800" b="0" i="1" dirty="0" smtClean="0">
                            <a:latin typeface="Cambria Math" panose="02040503050406030204" pitchFamily="18" charset="0"/>
                          </a:rPr>
                          <m:t>𝑔</m:t>
                        </m:r>
                        <m:r>
                          <a:rPr lang="en-US" altLang="zh-CN" sz="2800" i="1" dirty="0">
                            <a:latin typeface="Cambria Math" panose="02040503050406030204" pitchFamily="18" charset="0"/>
                          </a:rPr>
                          <m:t>,</m:t>
                        </m:r>
                        <m:r>
                          <a:rPr lang="en-US" altLang="zh-CN" sz="2800" b="0" i="1" dirty="0" smtClean="0">
                            <a:latin typeface="Cambria Math" panose="02040503050406030204" pitchFamily="18" charset="0"/>
                          </a:rPr>
                          <m:t>𝑏</m:t>
                        </m:r>
                        <m:r>
                          <a:rPr lang="en-US" altLang="zh-CN" sz="2800" i="1" dirty="0">
                            <a:latin typeface="Cambria Math" panose="02040503050406030204" pitchFamily="18" charset="0"/>
                          </a:rPr>
                          <m:t> </m:t>
                        </m:r>
                      </m:e>
                    </m:d>
                  </m:oMath>
                </a14:m>
                <a:endParaRPr lang="en-US" altLang="zh-CN" sz="2800" dirty="0"/>
              </a:p>
              <a:p>
                <a:pPr algn="l"/>
                <a:r>
                  <a:rPr lang="en-US" altLang="zh-CN" sz="2800" dirty="0"/>
                  <a:t>The lifetime of a transistor            </a:t>
                </a:r>
                <a14:m>
                  <m:oMath xmlns:m="http://schemas.openxmlformats.org/officeDocument/2006/math">
                    <m:r>
                      <a:rPr lang="en-US" altLang="zh-CN" sz="2800" i="1" dirty="0">
                        <a:latin typeface="Cambria Math" panose="02040503050406030204" pitchFamily="18" charset="0"/>
                      </a:rPr>
                      <m:t>𝑆</m:t>
                    </m:r>
                    <m:r>
                      <a:rPr lang="en-US" altLang="zh-CN" sz="2800" i="1" dirty="0">
                        <a:latin typeface="Cambria Math" panose="02040503050406030204" pitchFamily="18" charset="0"/>
                      </a:rPr>
                      <m:t>=</m:t>
                    </m:r>
                    <m:d>
                      <m:dPr>
                        <m:begChr m:val="{"/>
                        <m:endChr m:val="}"/>
                        <m:ctrlPr>
                          <a:rPr lang="en-US" altLang="zh-CN" sz="2800" i="1" dirty="0">
                            <a:latin typeface="Cambria Math" panose="02040503050406030204" pitchFamily="18" charset="0"/>
                          </a:rPr>
                        </m:ctrlPr>
                      </m:dPr>
                      <m:e>
                        <m:r>
                          <a:rPr lang="en-US" altLang="zh-CN" sz="2800" b="0" i="1" dirty="0" smtClean="0">
                            <a:latin typeface="Cambria Math" panose="02040503050406030204" pitchFamily="18" charset="0"/>
                          </a:rPr>
                          <m:t>𝑥</m:t>
                        </m:r>
                        <m:r>
                          <a:rPr lang="en-US" altLang="zh-CN" sz="2800" b="0" i="1" dirty="0" smtClean="0">
                            <a:latin typeface="Cambria Math" panose="02040503050406030204" pitchFamily="18" charset="0"/>
                          </a:rPr>
                          <m:t>:0≤</m:t>
                        </m:r>
                        <m:r>
                          <a:rPr lang="en-US" altLang="zh-CN" sz="2800" b="0" i="1" dirty="0" smtClean="0">
                            <a:latin typeface="Cambria Math" panose="02040503050406030204" pitchFamily="18" charset="0"/>
                            <a:ea typeface="Cambria Math" panose="02040503050406030204" pitchFamily="18" charset="0"/>
                          </a:rPr>
                          <m:t>𝑥</m:t>
                        </m:r>
                        <m:r>
                          <a:rPr lang="en-US" altLang="zh-CN" sz="2800" b="0" i="1" dirty="0" smtClean="0">
                            <a:latin typeface="Cambria Math" panose="02040503050406030204" pitchFamily="18" charset="0"/>
                            <a:ea typeface="Cambria Math" panose="02040503050406030204" pitchFamily="18" charset="0"/>
                          </a:rPr>
                          <m:t>&lt;+∞ </m:t>
                        </m:r>
                      </m:e>
                    </m:d>
                  </m:oMath>
                </a14:m>
                <a:endParaRPr lang="en-US" altLang="zh-CN" sz="2800"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53504" y="1198881"/>
                <a:ext cx="12138496" cy="5548506"/>
              </a:xfrm>
              <a:blipFill>
                <a:blip r:embed="rId3"/>
                <a:stretch>
                  <a:fillRect l="-1055" t="-1648"/>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453567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53504" y="1198881"/>
                <a:ext cx="12138496" cy="5548506"/>
              </a:xfrm>
            </p:spPr>
            <p:txBody>
              <a:bodyPr>
                <a:normAutofit fontScale="92500" lnSpcReduction="10000"/>
              </a:bodyPr>
              <a:lstStyle/>
              <a:p>
                <a:pPr lvl="0" algn="l">
                  <a:lnSpc>
                    <a:spcPct val="100000"/>
                  </a:lnSpc>
                </a:pPr>
                <a:r>
                  <a:rPr lang="en-US" altLang="zh-CN" sz="2800" dirty="0">
                    <a:solidFill>
                      <a:srgbClr val="0070C0"/>
                    </a:solidFill>
                    <a:latin typeface="Arial Black" panose="020B0A04020102020204" pitchFamily="34" charset="0"/>
                  </a:rPr>
                  <a:t>Definition 2.2 Events  </a:t>
                </a:r>
                <a:r>
                  <a:rPr lang="zh-CN" altLang="en-US" sz="2800" dirty="0">
                    <a:solidFill>
                      <a:srgbClr val="0070C0"/>
                    </a:solidFill>
                    <a:latin typeface="Arial Black" panose="020B0A04020102020204" pitchFamily="34" charset="0"/>
                  </a:rPr>
                  <a:t>事件</a:t>
                </a:r>
              </a:p>
              <a:p>
                <a:pPr algn="l">
                  <a:lnSpc>
                    <a:spcPct val="100000"/>
                  </a:lnSpc>
                </a:pPr>
                <a:r>
                  <a:rPr lang="en-US" altLang="zh-CN" sz="2800" dirty="0"/>
                  <a:t>An </a:t>
                </a:r>
                <a:r>
                  <a:rPr lang="en-US" altLang="zh-CN" sz="2800" dirty="0">
                    <a:solidFill>
                      <a:srgbClr val="FF0000"/>
                    </a:solidFill>
                  </a:rPr>
                  <a:t>event</a:t>
                </a:r>
                <a:r>
                  <a:rPr lang="en-US" altLang="zh-CN" sz="2800" dirty="0"/>
                  <a:t> is any collection (subset) of outcomes contained in the sample space </a:t>
                </a:r>
                <a14:m>
                  <m:oMath xmlns:m="http://schemas.openxmlformats.org/officeDocument/2006/math">
                    <m:r>
                      <a:rPr lang="en-US" altLang="zh-CN" sz="2800" i="1" dirty="0" smtClean="0">
                        <a:latin typeface="Cambria Math" panose="02040503050406030204" pitchFamily="18" charset="0"/>
                      </a:rPr>
                      <m:t>𝑆</m:t>
                    </m:r>
                  </m:oMath>
                </a14:m>
                <a:r>
                  <a:rPr lang="en-US" altLang="zh-CN" sz="2800" dirty="0"/>
                  <a:t>. In other words, an event </a:t>
                </a:r>
                <a14:m>
                  <m:oMath xmlns:m="http://schemas.openxmlformats.org/officeDocument/2006/math">
                    <m:r>
                      <a:rPr lang="en-US" altLang="zh-CN" sz="2800" b="0" i="1" smtClean="0">
                        <a:latin typeface="Cambria Math" panose="02040503050406030204" pitchFamily="18" charset="0"/>
                      </a:rPr>
                      <m:t>𝐸</m:t>
                    </m:r>
                  </m:oMath>
                </a14:m>
                <a:r>
                  <a:rPr lang="en-US" altLang="zh-CN" sz="2800" dirty="0"/>
                  <a:t> is a set consisting of possible outcomes of the experiment. An event is </a:t>
                </a:r>
                <a:r>
                  <a:rPr lang="en-US" altLang="zh-CN" sz="2800" dirty="0">
                    <a:solidFill>
                      <a:srgbClr val="FF0000"/>
                    </a:solidFill>
                  </a:rPr>
                  <a:t>simple</a:t>
                </a:r>
                <a:r>
                  <a:rPr lang="en-US" altLang="zh-CN" sz="2800" dirty="0"/>
                  <a:t> if it consists of exactly one outcome and </a:t>
                </a:r>
                <a:r>
                  <a:rPr lang="en-US" altLang="zh-CN" sz="2800" dirty="0">
                    <a:solidFill>
                      <a:srgbClr val="FF0000"/>
                    </a:solidFill>
                  </a:rPr>
                  <a:t>compound</a:t>
                </a:r>
                <a:r>
                  <a:rPr lang="en-US" altLang="zh-CN" sz="2800" dirty="0"/>
                  <a:t> if it consists of more than one outcome.</a:t>
                </a:r>
              </a:p>
              <a:p>
                <a:pPr algn="l">
                  <a:lnSpc>
                    <a:spcPct val="100000"/>
                  </a:lnSpc>
                </a:pPr>
                <a:r>
                  <a:rPr lang="en-US" altLang="zh-CN" sz="2800" dirty="0">
                    <a:solidFill>
                      <a:srgbClr val="0070C0"/>
                    </a:solidFill>
                    <a:latin typeface="Arial Black" panose="020B0A04020102020204" pitchFamily="34" charset="0"/>
                  </a:rPr>
                  <a:t>Example 2.2 </a:t>
                </a:r>
              </a:p>
              <a:p>
                <a:pPr algn="l">
                  <a:lnSpc>
                    <a:spcPct val="100000"/>
                  </a:lnSpc>
                </a:pPr>
                <a:r>
                  <a:rPr lang="en-US" altLang="zh-CN" sz="2800" dirty="0">
                    <a:solidFill>
                      <a:srgbClr val="FF0000"/>
                    </a:solidFill>
                  </a:rPr>
                  <a:t>Sample space        </a:t>
                </a:r>
                <a14:m>
                  <m:oMath xmlns:m="http://schemas.openxmlformats.org/officeDocument/2006/math">
                    <m:r>
                      <a:rPr lang="en-US" altLang="zh-CN" sz="2800" i="1" dirty="0">
                        <a:latin typeface="Cambria Math" panose="02040503050406030204" pitchFamily="18" charset="0"/>
                      </a:rPr>
                      <m:t>𝑆</m:t>
                    </m:r>
                    <m:r>
                      <a:rPr lang="en-US" altLang="zh-CN" sz="2800" i="1" dirty="0">
                        <a:latin typeface="Cambria Math" panose="02040503050406030204" pitchFamily="18" charset="0"/>
                      </a:rPr>
                      <m:t>=</m:t>
                    </m:r>
                    <m:d>
                      <m:dPr>
                        <m:begChr m:val="{"/>
                        <m:endChr m:val="}"/>
                        <m:ctrlPr>
                          <a:rPr lang="en-US" altLang="zh-CN" sz="2800" i="1" dirty="0">
                            <a:latin typeface="Cambria Math" panose="02040503050406030204" pitchFamily="18" charset="0"/>
                          </a:rPr>
                        </m:ctrlPr>
                      </m:dPr>
                      <m:e>
                        <m:r>
                          <a:rPr lang="en-US" altLang="zh-CN" sz="2800" i="1" dirty="0">
                            <a:latin typeface="Cambria Math" panose="02040503050406030204" pitchFamily="18" charset="0"/>
                          </a:rPr>
                          <m:t>1,2,3,4,5,6</m:t>
                        </m:r>
                      </m:e>
                    </m:d>
                  </m:oMath>
                </a14:m>
                <a:endParaRPr lang="en-US" altLang="zh-CN" sz="2800" dirty="0">
                  <a:solidFill>
                    <a:srgbClr val="0070C0"/>
                  </a:solidFill>
                  <a:latin typeface="Arial Black" panose="020B0A04020102020204" pitchFamily="34" charset="0"/>
                </a:endParaRPr>
              </a:p>
              <a:p>
                <a:pPr algn="l">
                  <a:lnSpc>
                    <a:spcPct val="100000"/>
                  </a:lnSpc>
                </a:pPr>
                <a:r>
                  <a:rPr lang="en-US" altLang="zh-CN" sz="2800" dirty="0">
                    <a:solidFill>
                      <a:srgbClr val="FF0000"/>
                    </a:solidFill>
                  </a:rPr>
                  <a:t>Simple event         </a:t>
                </a:r>
                <a14:m>
                  <m:oMath xmlns:m="http://schemas.openxmlformats.org/officeDocument/2006/math">
                    <m:r>
                      <a:rPr lang="en-US" altLang="zh-CN" sz="2800" b="0" i="1" dirty="0" smtClean="0">
                        <a:latin typeface="Cambria Math" panose="02040503050406030204" pitchFamily="18" charset="0"/>
                      </a:rPr>
                      <m:t>𝐴</m:t>
                    </m:r>
                    <m:r>
                      <a:rPr lang="en-US" altLang="zh-CN" sz="2800" i="1" dirty="0">
                        <a:latin typeface="Cambria Math" panose="02040503050406030204" pitchFamily="18" charset="0"/>
                      </a:rPr>
                      <m:t>=</m:t>
                    </m:r>
                    <m:d>
                      <m:dPr>
                        <m:begChr m:val="{"/>
                        <m:endChr m:val="}"/>
                        <m:ctrlPr>
                          <a:rPr lang="en-US" altLang="zh-CN" sz="2800" i="1" dirty="0">
                            <a:latin typeface="Cambria Math" panose="02040503050406030204" pitchFamily="18" charset="0"/>
                          </a:rPr>
                        </m:ctrlPr>
                      </m:dPr>
                      <m:e>
                        <m:r>
                          <a:rPr lang="en-US" altLang="zh-CN" sz="2800" b="0" i="1" dirty="0" smtClean="0">
                            <a:latin typeface="Cambria Math" panose="02040503050406030204" pitchFamily="18" charset="0"/>
                          </a:rPr>
                          <m:t>1</m:t>
                        </m:r>
                      </m:e>
                    </m:d>
                  </m:oMath>
                </a14:m>
                <a:r>
                  <a:rPr lang="en-US" altLang="zh-CN" sz="2800" dirty="0"/>
                  <a:t>, </a:t>
                </a:r>
                <a14:m>
                  <m:oMath xmlns:m="http://schemas.openxmlformats.org/officeDocument/2006/math">
                    <m:r>
                      <a:rPr lang="en-US" altLang="zh-CN" sz="2800" b="0" i="1" dirty="0" smtClean="0">
                        <a:latin typeface="Cambria Math" panose="02040503050406030204" pitchFamily="18" charset="0"/>
                      </a:rPr>
                      <m:t>𝐵</m:t>
                    </m:r>
                    <m:r>
                      <a:rPr lang="en-US" altLang="zh-CN" sz="2800" i="1" dirty="0">
                        <a:latin typeface="Cambria Math" panose="02040503050406030204" pitchFamily="18" charset="0"/>
                      </a:rPr>
                      <m:t>=</m:t>
                    </m:r>
                    <m:d>
                      <m:dPr>
                        <m:begChr m:val="{"/>
                        <m:endChr m:val="}"/>
                        <m:ctrlPr>
                          <a:rPr lang="en-US" altLang="zh-CN" sz="2800" i="1" dirty="0">
                            <a:latin typeface="Cambria Math" panose="02040503050406030204" pitchFamily="18" charset="0"/>
                          </a:rPr>
                        </m:ctrlPr>
                      </m:dPr>
                      <m:e>
                        <m:r>
                          <a:rPr lang="en-US" altLang="zh-CN" sz="2800" i="1" dirty="0">
                            <a:latin typeface="Cambria Math" panose="02040503050406030204" pitchFamily="18" charset="0"/>
                          </a:rPr>
                          <m:t>4</m:t>
                        </m:r>
                      </m:e>
                    </m:d>
                  </m:oMath>
                </a14:m>
                <a:r>
                  <a:rPr lang="en-US" altLang="zh-CN" sz="2800" dirty="0"/>
                  <a:t>, </a:t>
                </a:r>
                <a14:m>
                  <m:oMath xmlns:m="http://schemas.openxmlformats.org/officeDocument/2006/math">
                    <m:r>
                      <a:rPr lang="en-US" altLang="zh-CN" sz="2800" b="0" i="1" dirty="0" smtClean="0">
                        <a:latin typeface="Cambria Math" panose="02040503050406030204" pitchFamily="18" charset="0"/>
                      </a:rPr>
                      <m:t>𝐶</m:t>
                    </m:r>
                    <m:r>
                      <a:rPr lang="en-US" altLang="zh-CN" sz="2800" i="1" dirty="0">
                        <a:latin typeface="Cambria Math" panose="02040503050406030204" pitchFamily="18" charset="0"/>
                      </a:rPr>
                      <m:t>=</m:t>
                    </m:r>
                    <m:d>
                      <m:dPr>
                        <m:begChr m:val="{"/>
                        <m:endChr m:val="}"/>
                        <m:ctrlPr>
                          <a:rPr lang="en-US" altLang="zh-CN" sz="2800" i="1" dirty="0">
                            <a:latin typeface="Cambria Math" panose="02040503050406030204" pitchFamily="18" charset="0"/>
                          </a:rPr>
                        </m:ctrlPr>
                      </m:dPr>
                      <m:e>
                        <m:r>
                          <a:rPr lang="en-US" altLang="zh-CN" sz="2800" b="0" i="1" dirty="0" smtClean="0">
                            <a:latin typeface="Cambria Math" panose="02040503050406030204" pitchFamily="18" charset="0"/>
                          </a:rPr>
                          <m:t>6</m:t>
                        </m:r>
                      </m:e>
                    </m:d>
                  </m:oMath>
                </a14:m>
                <a:endParaRPr lang="en-US" altLang="zh-CN" sz="2800" dirty="0"/>
              </a:p>
              <a:p>
                <a:pPr algn="l">
                  <a:lnSpc>
                    <a:spcPct val="100000"/>
                  </a:lnSpc>
                </a:pPr>
                <a:r>
                  <a:rPr lang="en-US" altLang="zh-CN" sz="2800" dirty="0">
                    <a:solidFill>
                      <a:srgbClr val="FF0000"/>
                    </a:solidFill>
                  </a:rPr>
                  <a:t>Compound event </a:t>
                </a:r>
                <a14:m>
                  <m:oMath xmlns:m="http://schemas.openxmlformats.org/officeDocument/2006/math">
                    <m:r>
                      <a:rPr lang="en-US" altLang="zh-CN" sz="2800" b="0" i="0" dirty="0" smtClean="0">
                        <a:latin typeface="Cambria Math" panose="02040503050406030204" pitchFamily="18" charset="0"/>
                      </a:rPr>
                      <m:t> </m:t>
                    </m:r>
                    <m:r>
                      <a:rPr lang="en-US" altLang="zh-CN" sz="2800" b="0" i="1" dirty="0" smtClean="0">
                        <a:latin typeface="Cambria Math" panose="02040503050406030204" pitchFamily="18" charset="0"/>
                      </a:rPr>
                      <m:t>𝐷</m:t>
                    </m:r>
                    <m:r>
                      <a:rPr lang="en-US" altLang="zh-CN" sz="2800" i="1" dirty="0">
                        <a:latin typeface="Cambria Math" panose="02040503050406030204" pitchFamily="18" charset="0"/>
                      </a:rPr>
                      <m:t>=</m:t>
                    </m:r>
                    <m:d>
                      <m:dPr>
                        <m:begChr m:val="{"/>
                        <m:endChr m:val="}"/>
                        <m:ctrlPr>
                          <a:rPr lang="en-US" altLang="zh-CN" sz="2800" i="1" dirty="0">
                            <a:latin typeface="Cambria Math" panose="02040503050406030204" pitchFamily="18" charset="0"/>
                          </a:rPr>
                        </m:ctrlPr>
                      </m:dPr>
                      <m:e>
                        <m:r>
                          <a:rPr lang="en-US" altLang="zh-CN" sz="2800" i="1" dirty="0">
                            <a:latin typeface="Cambria Math" panose="02040503050406030204" pitchFamily="18" charset="0"/>
                          </a:rPr>
                          <m:t>1,</m:t>
                        </m:r>
                        <m:r>
                          <a:rPr lang="en-US" altLang="zh-CN" sz="2800" i="1" dirty="0" smtClean="0">
                            <a:latin typeface="Cambria Math" panose="02040503050406030204" pitchFamily="18" charset="0"/>
                          </a:rPr>
                          <m:t> </m:t>
                        </m:r>
                        <m:r>
                          <a:rPr lang="en-US" altLang="zh-CN" sz="2800" i="1" dirty="0">
                            <a:latin typeface="Cambria Math" panose="02040503050406030204" pitchFamily="18" charset="0"/>
                          </a:rPr>
                          <m:t>3,</m:t>
                        </m:r>
                        <m:r>
                          <a:rPr lang="en-US" altLang="zh-CN" sz="2800" i="1" dirty="0" smtClean="0">
                            <a:latin typeface="Cambria Math" panose="02040503050406030204" pitchFamily="18" charset="0"/>
                          </a:rPr>
                          <m:t> </m:t>
                        </m:r>
                        <m:r>
                          <a:rPr lang="en-US" altLang="zh-CN" sz="2800" i="1" dirty="0">
                            <a:latin typeface="Cambria Math" panose="02040503050406030204" pitchFamily="18" charset="0"/>
                          </a:rPr>
                          <m:t>5</m:t>
                        </m:r>
                      </m:e>
                    </m:d>
                  </m:oMath>
                </a14:m>
                <a:r>
                  <a:rPr lang="en-US" altLang="zh-CN" sz="2800" dirty="0"/>
                  <a:t>, </a:t>
                </a:r>
                <a14:m>
                  <m:oMath xmlns:m="http://schemas.openxmlformats.org/officeDocument/2006/math">
                    <m:r>
                      <a:rPr lang="en-US" altLang="zh-CN" sz="2800" b="0" i="1" dirty="0" smtClean="0">
                        <a:latin typeface="Cambria Math" panose="02040503050406030204" pitchFamily="18" charset="0"/>
                      </a:rPr>
                      <m:t>𝐸</m:t>
                    </m:r>
                    <m:r>
                      <a:rPr lang="en-US" altLang="zh-CN" sz="2800" i="1" dirty="0">
                        <a:latin typeface="Cambria Math" panose="02040503050406030204" pitchFamily="18" charset="0"/>
                      </a:rPr>
                      <m:t>=</m:t>
                    </m:r>
                    <m:d>
                      <m:dPr>
                        <m:begChr m:val="{"/>
                        <m:endChr m:val="}"/>
                        <m:ctrlPr>
                          <a:rPr lang="en-US" altLang="zh-CN" sz="2800" i="1" dirty="0">
                            <a:latin typeface="Cambria Math" panose="02040503050406030204" pitchFamily="18" charset="0"/>
                          </a:rPr>
                        </m:ctrlPr>
                      </m:dPr>
                      <m:e>
                        <m:r>
                          <a:rPr lang="en-US" altLang="zh-CN" sz="2800" i="1" dirty="0">
                            <a:latin typeface="Cambria Math" panose="02040503050406030204" pitchFamily="18" charset="0"/>
                          </a:rPr>
                          <m:t> </m:t>
                        </m:r>
                        <m:r>
                          <a:rPr lang="en-US" altLang="zh-CN" sz="2800" b="0" i="1" dirty="0" smtClean="0">
                            <a:latin typeface="Cambria Math" panose="02040503050406030204" pitchFamily="18" charset="0"/>
                          </a:rPr>
                          <m:t>4, </m:t>
                        </m:r>
                        <m:r>
                          <a:rPr lang="en-US" altLang="zh-CN" sz="2800" i="1" dirty="0">
                            <a:latin typeface="Cambria Math" panose="02040503050406030204" pitchFamily="18" charset="0"/>
                          </a:rPr>
                          <m:t>5</m:t>
                        </m:r>
                        <m:r>
                          <a:rPr lang="en-US" altLang="zh-CN" sz="2800" b="0" i="1" dirty="0" smtClean="0">
                            <a:latin typeface="Cambria Math" panose="02040503050406030204" pitchFamily="18" charset="0"/>
                          </a:rPr>
                          <m:t>, 6</m:t>
                        </m:r>
                      </m:e>
                    </m:d>
                  </m:oMath>
                </a14:m>
                <a:endParaRPr lang="en-US" altLang="zh-CN" sz="2800" dirty="0"/>
              </a:p>
              <a:p>
                <a:pPr algn="l">
                  <a:lnSpc>
                    <a:spcPct val="100000"/>
                  </a:lnSpc>
                </a:pPr>
                <a:r>
                  <a:rPr lang="en-US" altLang="zh-CN" sz="2800" dirty="0"/>
                  <a:t>When an experiment is performed, a particular event </a:t>
                </a:r>
                <a14:m>
                  <m:oMath xmlns:m="http://schemas.openxmlformats.org/officeDocument/2006/math">
                    <m:r>
                      <a:rPr lang="en-US" altLang="zh-CN" sz="2800" i="1">
                        <a:latin typeface="Cambria Math" panose="02040503050406030204" pitchFamily="18" charset="0"/>
                      </a:rPr>
                      <m:t>𝐸</m:t>
                    </m:r>
                  </m:oMath>
                </a14:m>
                <a:r>
                  <a:rPr lang="en-US" altLang="zh-CN" sz="2800" dirty="0"/>
                  <a:t> is said to occur if the resulting experimental outcome is contained in </a:t>
                </a:r>
                <a14:m>
                  <m:oMath xmlns:m="http://schemas.openxmlformats.org/officeDocument/2006/math">
                    <m:r>
                      <a:rPr lang="en-US" altLang="zh-CN" sz="2800" i="1">
                        <a:latin typeface="Cambria Math" panose="02040503050406030204" pitchFamily="18" charset="0"/>
                      </a:rPr>
                      <m:t>𝐸</m:t>
                    </m:r>
                  </m:oMath>
                </a14:m>
                <a:r>
                  <a:rPr lang="en-US" altLang="zh-CN" sz="2800" dirty="0"/>
                  <a:t>. In general, exactly one simple event will occur, but many compound events will occur simultaneously.</a:t>
                </a: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53504" y="1198881"/>
                <a:ext cx="12138496" cy="5548506"/>
              </a:xfrm>
              <a:blipFill>
                <a:blip r:embed="rId3"/>
                <a:stretch>
                  <a:fillRect l="-904" t="-2198" r="-1105"/>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1164168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1268" y="1195768"/>
                <a:ext cx="11849674" cy="5500000"/>
              </a:xfrm>
            </p:spPr>
            <p:txBody>
              <a:bodyPr>
                <a:noAutofit/>
              </a:bodyPr>
              <a:lstStyle/>
              <a:p>
                <a:pPr algn="l">
                  <a:lnSpc>
                    <a:spcPct val="100000"/>
                  </a:lnSpc>
                </a:pPr>
                <a:r>
                  <a:rPr lang="en-US" altLang="zh-CN" sz="2800" dirty="0">
                    <a:solidFill>
                      <a:srgbClr val="0070C0"/>
                    </a:solidFill>
                    <a:latin typeface="Arial Black" panose="020B0A04020102020204" pitchFamily="34" charset="0"/>
                  </a:rPr>
                  <a:t>Some Relations from Set Theory</a:t>
                </a:r>
              </a:p>
              <a:p>
                <a:pPr lvl="0" algn="l">
                  <a:lnSpc>
                    <a:spcPct val="100000"/>
                  </a:lnSpc>
                </a:pPr>
                <a:r>
                  <a:rPr lang="en-US" altLang="zh-CN" sz="2800" dirty="0">
                    <a:solidFill>
                      <a:srgbClr val="0070C0"/>
                    </a:solidFill>
                    <a:latin typeface="Arial Black" panose="020B0A04020102020204" pitchFamily="34" charset="0"/>
                  </a:rPr>
                  <a:t>Definition 2.3 </a:t>
                </a:r>
              </a:p>
              <a:p>
                <a:pPr lvl="0" algn="l">
                  <a:lnSpc>
                    <a:spcPct val="100000"/>
                  </a:lnSpc>
                </a:pPr>
                <a:endParaRPr lang="en-US" altLang="zh-CN" sz="2800" dirty="0">
                  <a:solidFill>
                    <a:prstClr val="black"/>
                  </a:solidFill>
                </a:endParaRPr>
              </a:p>
              <a:p>
                <a:pPr lvl="0" algn="l">
                  <a:lnSpc>
                    <a:spcPct val="100000"/>
                  </a:lnSpc>
                </a:pPr>
                <a:endParaRPr lang="en-US" altLang="zh-CN" sz="2800" dirty="0">
                  <a:solidFill>
                    <a:prstClr val="black"/>
                  </a:solidFill>
                </a:endParaRPr>
              </a:p>
              <a:p>
                <a:pPr lvl="0" algn="l">
                  <a:lnSpc>
                    <a:spcPct val="100000"/>
                  </a:lnSpc>
                </a:pPr>
                <a:r>
                  <a:rPr lang="en-US" altLang="zh-CN" sz="2800" dirty="0">
                    <a:solidFill>
                      <a:prstClr val="black"/>
                    </a:solidFill>
                  </a:rPr>
                  <a:t>1. The </a:t>
                </a:r>
                <a:r>
                  <a:rPr lang="en-US" altLang="zh-CN" sz="2800" dirty="0">
                    <a:solidFill>
                      <a:srgbClr val="FF0000"/>
                    </a:solidFill>
                  </a:rPr>
                  <a:t>complement(</a:t>
                </a:r>
                <a:r>
                  <a:rPr lang="zh-CN" altLang="en-US" sz="2800" dirty="0">
                    <a:solidFill>
                      <a:srgbClr val="FF0000"/>
                    </a:solidFill>
                  </a:rPr>
                  <a:t>补</a:t>
                </a:r>
                <a:r>
                  <a:rPr lang="en-US" altLang="zh-CN" sz="2800" dirty="0">
                    <a:solidFill>
                      <a:srgbClr val="FF0000"/>
                    </a:solidFill>
                  </a:rPr>
                  <a:t>,</a:t>
                </a:r>
                <a:r>
                  <a:rPr lang="zh-CN" altLang="en-US" sz="2800" dirty="0">
                    <a:solidFill>
                      <a:srgbClr val="FF0000"/>
                    </a:solidFill>
                  </a:rPr>
                  <a:t>对立</a:t>
                </a:r>
                <a:r>
                  <a:rPr lang="en-US" altLang="zh-CN" sz="2800" dirty="0">
                    <a:solidFill>
                      <a:srgbClr val="FF0000"/>
                    </a:solidFill>
                  </a:rPr>
                  <a:t>)</a:t>
                </a:r>
                <a:r>
                  <a:rPr lang="en-US" altLang="zh-CN" sz="2800" dirty="0">
                    <a:solidFill>
                      <a:prstClr val="black"/>
                    </a:solidFill>
                  </a:rPr>
                  <a:t> of an event </a:t>
                </a:r>
                <a14:m>
                  <m:oMath xmlns:m="http://schemas.openxmlformats.org/officeDocument/2006/math">
                    <m:r>
                      <a:rPr lang="en-US" altLang="zh-CN" sz="2800" i="1" dirty="0" smtClean="0">
                        <a:solidFill>
                          <a:prstClr val="black"/>
                        </a:solidFill>
                        <a:latin typeface="Cambria Math" panose="02040503050406030204" pitchFamily="18" charset="0"/>
                      </a:rPr>
                      <m:t>𝐴</m:t>
                    </m:r>
                  </m:oMath>
                </a14:m>
                <a:r>
                  <a:rPr lang="en-US" altLang="zh-CN" sz="2800" dirty="0">
                    <a:solidFill>
                      <a:prstClr val="black"/>
                    </a:solidFill>
                  </a:rPr>
                  <a:t>, denoted by </a:t>
                </a:r>
                <a14:m>
                  <m:oMath xmlns:m="http://schemas.openxmlformats.org/officeDocument/2006/math">
                    <m:sSup>
                      <m:sSupPr>
                        <m:ctrlPr>
                          <a:rPr lang="en-US" altLang="zh-CN" sz="2800" b="0" i="1" dirty="0" smtClean="0">
                            <a:solidFill>
                              <a:prstClr val="black"/>
                            </a:solidFill>
                            <a:latin typeface="Cambria Math" panose="02040503050406030204" pitchFamily="18" charset="0"/>
                          </a:rPr>
                        </m:ctrlPr>
                      </m:sSupPr>
                      <m:e>
                        <m:r>
                          <a:rPr lang="en-US" altLang="zh-CN" sz="2800" i="1" dirty="0" smtClean="0">
                            <a:solidFill>
                              <a:prstClr val="black"/>
                            </a:solidFill>
                            <a:latin typeface="Cambria Math" panose="02040503050406030204" pitchFamily="18" charset="0"/>
                          </a:rPr>
                          <m:t>𝐴</m:t>
                        </m:r>
                      </m:e>
                      <m:sup>
                        <m:r>
                          <a:rPr lang="en-US" altLang="zh-CN" sz="2800" b="0" i="1" dirty="0" smtClean="0">
                            <a:solidFill>
                              <a:prstClr val="black"/>
                            </a:solidFill>
                            <a:latin typeface="Cambria Math" panose="02040503050406030204" pitchFamily="18" charset="0"/>
                          </a:rPr>
                          <m:t>𝑐</m:t>
                        </m:r>
                      </m:sup>
                    </m:sSup>
                  </m:oMath>
                </a14:m>
                <a:r>
                  <a:rPr lang="en-US" altLang="zh-CN" sz="2800" dirty="0">
                    <a:solidFill>
                      <a:prstClr val="black"/>
                    </a:solidFill>
                  </a:rPr>
                  <a:t>(</a:t>
                </a:r>
                <a:r>
                  <a:rPr lang="en-US" altLang="zh-CN" sz="2800" dirty="0" err="1">
                    <a:solidFill>
                      <a:prstClr val="black"/>
                    </a:solidFill>
                  </a:rPr>
                  <a:t>or</a:t>
                </a:r>
                <a:r>
                  <a:rPr lang="en-US" altLang="zh-CN" sz="2800" dirty="0">
                    <a:solidFill>
                      <a:prstClr val="black"/>
                    </a:solidFill>
                  </a:rPr>
                  <a:t> </a:t>
                </a:r>
                <a14:m>
                  <m:oMath xmlns:m="http://schemas.openxmlformats.org/officeDocument/2006/math">
                    <m:r>
                      <a:rPr lang="en-US" altLang="zh-CN" sz="2800" i="1" dirty="0" smtClean="0">
                        <a:solidFill>
                          <a:prstClr val="black"/>
                        </a:solidFill>
                        <a:latin typeface="Cambria Math" panose="02040503050406030204" pitchFamily="18" charset="0"/>
                      </a:rPr>
                      <m:t>𝐴</m:t>
                    </m:r>
                    <m:r>
                      <a:rPr lang="en-US" altLang="zh-CN" sz="2800" b="0" i="1" dirty="0" smtClean="0">
                        <a:solidFill>
                          <a:prstClr val="black"/>
                        </a:solidFill>
                        <a:latin typeface="Cambria Math" panose="02040503050406030204" pitchFamily="18" charset="0"/>
                      </a:rPr>
                      <m:t>′</m:t>
                    </m:r>
                  </m:oMath>
                </a14:m>
                <a:r>
                  <a:rPr lang="en-US" altLang="zh-CN" sz="2800" dirty="0">
                    <a:solidFill>
                      <a:prstClr val="black"/>
                    </a:solidFill>
                  </a:rPr>
                  <a:t>), is the set of all outcomes in </a:t>
                </a:r>
                <a14:m>
                  <m:oMath xmlns:m="http://schemas.openxmlformats.org/officeDocument/2006/math">
                    <m:r>
                      <a:rPr lang="en-US" altLang="zh-CN" sz="2800" i="1" dirty="0" smtClean="0">
                        <a:solidFill>
                          <a:prstClr val="black"/>
                        </a:solidFill>
                        <a:latin typeface="Cambria Math" panose="02040503050406030204" pitchFamily="18" charset="0"/>
                      </a:rPr>
                      <m:t>𝑆</m:t>
                    </m:r>
                  </m:oMath>
                </a14:m>
                <a:r>
                  <a:rPr lang="en-US" altLang="zh-CN" sz="2800" dirty="0">
                    <a:solidFill>
                      <a:prstClr val="black"/>
                    </a:solidFill>
                  </a:rPr>
                  <a:t> that are not contained in </a:t>
                </a:r>
                <a14:m>
                  <m:oMath xmlns:m="http://schemas.openxmlformats.org/officeDocument/2006/math">
                    <m:r>
                      <a:rPr lang="en-US" altLang="zh-CN" sz="2800" i="1" dirty="0" smtClean="0">
                        <a:solidFill>
                          <a:prstClr val="black"/>
                        </a:solidFill>
                        <a:latin typeface="Cambria Math" panose="02040503050406030204" pitchFamily="18" charset="0"/>
                      </a:rPr>
                      <m:t>𝐴</m:t>
                    </m:r>
                  </m:oMath>
                </a14:m>
                <a:r>
                  <a:rPr lang="en-US" altLang="zh-CN" sz="2800" dirty="0">
                    <a:solidFill>
                      <a:prstClr val="black"/>
                    </a:solidFill>
                  </a:rPr>
                  <a:t>.</a:t>
                </a: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1268" y="1195768"/>
                <a:ext cx="11849674" cy="5500000"/>
              </a:xfrm>
              <a:blipFill>
                <a:blip r:embed="rId3"/>
                <a:stretch>
                  <a:fillRect l="-1029" t="-1109" r="-1543"/>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pic>
        <p:nvPicPr>
          <p:cNvPr id="6" name="图片 5"/>
          <p:cNvPicPr>
            <a:picLocks noChangeAspect="1"/>
          </p:cNvPicPr>
          <p:nvPr/>
        </p:nvPicPr>
        <p:blipFill>
          <a:blip r:embed="rId6"/>
          <a:stretch>
            <a:fillRect/>
          </a:stretch>
        </p:blipFill>
        <p:spPr>
          <a:xfrm>
            <a:off x="7225162" y="4147961"/>
            <a:ext cx="3739951" cy="2357302"/>
          </a:xfrm>
          <a:prstGeom prst="rect">
            <a:avLst/>
          </a:prstGeom>
        </p:spPr>
      </p:pic>
      <p:pic>
        <p:nvPicPr>
          <p:cNvPr id="7" name="图片 6"/>
          <p:cNvPicPr>
            <a:picLocks noChangeAspect="1"/>
          </p:cNvPicPr>
          <p:nvPr/>
        </p:nvPicPr>
        <p:blipFill>
          <a:blip r:embed="rId7"/>
          <a:stretch>
            <a:fillRect/>
          </a:stretch>
        </p:blipFill>
        <p:spPr>
          <a:xfrm>
            <a:off x="7225162" y="1114654"/>
            <a:ext cx="3739951" cy="2393123"/>
          </a:xfrm>
          <a:prstGeom prst="rect">
            <a:avLst/>
          </a:prstGeom>
        </p:spPr>
      </p:pic>
    </p:spTree>
    <p:extLst>
      <p:ext uri="{BB962C8B-B14F-4D97-AF65-F5344CB8AC3E}">
        <p14:creationId xmlns:p14="http://schemas.microsoft.com/office/powerpoint/2010/main" val="4089485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1268" y="1195768"/>
                <a:ext cx="11849674" cy="5500000"/>
              </a:xfrm>
            </p:spPr>
            <p:txBody>
              <a:bodyPr>
                <a:noAutofit/>
              </a:bodyPr>
              <a:lstStyle/>
              <a:p>
                <a:pPr lvl="0" algn="l">
                  <a:lnSpc>
                    <a:spcPct val="100000"/>
                  </a:lnSpc>
                </a:pPr>
                <a:r>
                  <a:rPr lang="en-US" altLang="zh-CN" sz="2800" dirty="0">
                    <a:solidFill>
                      <a:prstClr val="black"/>
                    </a:solidFill>
                  </a:rPr>
                  <a:t>2. The </a:t>
                </a:r>
                <a:r>
                  <a:rPr lang="en-US" altLang="zh-CN" sz="2800" dirty="0">
                    <a:solidFill>
                      <a:srgbClr val="FF0000"/>
                    </a:solidFill>
                  </a:rPr>
                  <a:t>union(</a:t>
                </a:r>
                <a:r>
                  <a:rPr lang="zh-CN" altLang="en-US" sz="2800" dirty="0">
                    <a:solidFill>
                      <a:srgbClr val="FF0000"/>
                    </a:solidFill>
                  </a:rPr>
                  <a:t>并</a:t>
                </a:r>
                <a:r>
                  <a:rPr lang="en-US" altLang="zh-CN" sz="2800" dirty="0">
                    <a:solidFill>
                      <a:srgbClr val="FF0000"/>
                    </a:solidFill>
                  </a:rPr>
                  <a:t>,</a:t>
                </a:r>
                <a:r>
                  <a:rPr lang="zh-CN" altLang="en-US" sz="2800" dirty="0">
                    <a:solidFill>
                      <a:srgbClr val="FF0000"/>
                    </a:solidFill>
                  </a:rPr>
                  <a:t>和</a:t>
                </a:r>
                <a:r>
                  <a:rPr lang="en-US" altLang="zh-CN" sz="2800" dirty="0">
                    <a:solidFill>
                      <a:srgbClr val="FF0000"/>
                    </a:solidFill>
                  </a:rPr>
                  <a:t>)</a:t>
                </a:r>
                <a:r>
                  <a:rPr lang="en-US" altLang="zh-CN" sz="2800" dirty="0">
                    <a:solidFill>
                      <a:prstClr val="black"/>
                    </a:solidFill>
                  </a:rPr>
                  <a:t> of two events </a:t>
                </a:r>
                <a14:m>
                  <m:oMath xmlns:m="http://schemas.openxmlformats.org/officeDocument/2006/math">
                    <m:r>
                      <a:rPr lang="en-US" altLang="zh-CN" sz="2800" i="1" dirty="0" smtClean="0">
                        <a:solidFill>
                          <a:prstClr val="black"/>
                        </a:solidFill>
                        <a:latin typeface="Cambria Math" panose="02040503050406030204" pitchFamily="18" charset="0"/>
                      </a:rPr>
                      <m:t>𝐴</m:t>
                    </m:r>
                  </m:oMath>
                </a14:m>
                <a:r>
                  <a:rPr lang="en-US" altLang="zh-CN" sz="2800" dirty="0">
                    <a:solidFill>
                      <a:prstClr val="black"/>
                    </a:solidFill>
                  </a:rPr>
                  <a:t> and </a:t>
                </a:r>
                <a14:m>
                  <m:oMath xmlns:m="http://schemas.openxmlformats.org/officeDocument/2006/math">
                    <m:r>
                      <a:rPr lang="en-US" altLang="zh-CN" sz="2800" i="1" dirty="0" smtClean="0">
                        <a:solidFill>
                          <a:prstClr val="black"/>
                        </a:solidFill>
                        <a:latin typeface="Cambria Math" panose="02040503050406030204" pitchFamily="18" charset="0"/>
                      </a:rPr>
                      <m:t>𝐵</m:t>
                    </m:r>
                  </m:oMath>
                </a14:m>
                <a:r>
                  <a:rPr lang="en-US" altLang="zh-CN" sz="2800" dirty="0">
                    <a:solidFill>
                      <a:prstClr val="black"/>
                    </a:solidFill>
                  </a:rPr>
                  <a:t>, denoted by </a:t>
                </a:r>
                <a14:m>
                  <m:oMath xmlns:m="http://schemas.openxmlformats.org/officeDocument/2006/math">
                    <m:r>
                      <a:rPr lang="en-US" altLang="zh-CN" sz="2800" i="1" dirty="0" smtClean="0">
                        <a:solidFill>
                          <a:prstClr val="black"/>
                        </a:solidFill>
                        <a:latin typeface="Cambria Math" panose="02040503050406030204" pitchFamily="18" charset="0"/>
                      </a:rPr>
                      <m:t>𝐴</m:t>
                    </m:r>
                    <m:r>
                      <a:rPr lang="en-US" altLang="zh-CN" sz="2800" i="1" dirty="0" smtClean="0">
                        <a:solidFill>
                          <a:prstClr val="black"/>
                        </a:solidFill>
                        <a:latin typeface="Cambria Math" panose="02040503050406030204" pitchFamily="18" charset="0"/>
                        <a:ea typeface="Cambria Math" panose="02040503050406030204" pitchFamily="18" charset="0"/>
                      </a:rPr>
                      <m:t>∪</m:t>
                    </m:r>
                    <m:r>
                      <a:rPr lang="en-US" altLang="zh-CN" sz="2800" i="1" dirty="0" smtClean="0">
                        <a:solidFill>
                          <a:prstClr val="black"/>
                        </a:solidFill>
                        <a:latin typeface="Cambria Math" panose="02040503050406030204" pitchFamily="18" charset="0"/>
                      </a:rPr>
                      <m:t>𝐵</m:t>
                    </m:r>
                    <m:r>
                      <a:rPr lang="en-US" altLang="zh-CN" sz="2800" i="1" dirty="0" smtClean="0">
                        <a:solidFill>
                          <a:prstClr val="black"/>
                        </a:solidFill>
                        <a:latin typeface="Cambria Math" panose="02040503050406030204" pitchFamily="18" charset="0"/>
                      </a:rPr>
                      <m:t> </m:t>
                    </m:r>
                  </m:oMath>
                </a14:m>
                <a:r>
                  <a:rPr lang="en-US" altLang="zh-CN" sz="2800" dirty="0">
                    <a:solidFill>
                      <a:prstClr val="black"/>
                    </a:solidFill>
                  </a:rPr>
                  <a:t>and read “</a:t>
                </a:r>
                <a14:m>
                  <m:oMath xmlns:m="http://schemas.openxmlformats.org/officeDocument/2006/math">
                    <m:r>
                      <a:rPr lang="en-US" altLang="zh-CN" sz="2800" i="1" dirty="0" smtClean="0">
                        <a:solidFill>
                          <a:prstClr val="black"/>
                        </a:solidFill>
                        <a:latin typeface="Cambria Math" panose="02040503050406030204" pitchFamily="18" charset="0"/>
                      </a:rPr>
                      <m:t>𝐴</m:t>
                    </m:r>
                  </m:oMath>
                </a14:m>
                <a:r>
                  <a:rPr lang="en-US" altLang="zh-CN" sz="2800" dirty="0">
                    <a:solidFill>
                      <a:prstClr val="black"/>
                    </a:solidFill>
                  </a:rPr>
                  <a:t> or </a:t>
                </a:r>
                <a14:m>
                  <m:oMath xmlns:m="http://schemas.openxmlformats.org/officeDocument/2006/math">
                    <m:r>
                      <a:rPr lang="en-US" altLang="zh-CN" sz="2800" i="1" dirty="0" smtClean="0">
                        <a:solidFill>
                          <a:prstClr val="black"/>
                        </a:solidFill>
                        <a:latin typeface="Cambria Math" panose="02040503050406030204" pitchFamily="18" charset="0"/>
                      </a:rPr>
                      <m:t>𝐵</m:t>
                    </m:r>
                  </m:oMath>
                </a14:m>
                <a:r>
                  <a:rPr lang="en-US" altLang="zh-CN" sz="2800" dirty="0">
                    <a:solidFill>
                      <a:prstClr val="black"/>
                    </a:solidFill>
                  </a:rPr>
                  <a:t>,” is the event consisting of all outcomes that are either in </a:t>
                </a:r>
                <a14:m>
                  <m:oMath xmlns:m="http://schemas.openxmlformats.org/officeDocument/2006/math">
                    <m:r>
                      <a:rPr lang="en-US" altLang="zh-CN" sz="2800" i="1" dirty="0" smtClean="0">
                        <a:solidFill>
                          <a:prstClr val="black"/>
                        </a:solidFill>
                        <a:latin typeface="Cambria Math" panose="02040503050406030204" pitchFamily="18" charset="0"/>
                      </a:rPr>
                      <m:t>𝐴</m:t>
                    </m:r>
                    <m:r>
                      <a:rPr lang="en-US" altLang="zh-CN" sz="2800" i="1" dirty="0" smtClean="0">
                        <a:solidFill>
                          <a:prstClr val="black"/>
                        </a:solidFill>
                        <a:latin typeface="Cambria Math" panose="02040503050406030204" pitchFamily="18" charset="0"/>
                      </a:rPr>
                      <m:t> </m:t>
                    </m:r>
                  </m:oMath>
                </a14:m>
                <a:r>
                  <a:rPr lang="en-US" altLang="zh-CN" sz="2800" dirty="0">
                    <a:solidFill>
                      <a:prstClr val="black"/>
                    </a:solidFill>
                  </a:rPr>
                  <a:t>or in </a:t>
                </a:r>
                <a14:m>
                  <m:oMath xmlns:m="http://schemas.openxmlformats.org/officeDocument/2006/math">
                    <m:r>
                      <a:rPr lang="en-US" altLang="zh-CN" sz="2800" i="1" dirty="0" smtClean="0">
                        <a:solidFill>
                          <a:prstClr val="black"/>
                        </a:solidFill>
                        <a:latin typeface="Cambria Math" panose="02040503050406030204" pitchFamily="18" charset="0"/>
                      </a:rPr>
                      <m:t>𝐵</m:t>
                    </m:r>
                  </m:oMath>
                </a14:m>
                <a:r>
                  <a:rPr lang="en-US" altLang="zh-CN" sz="2800" dirty="0">
                    <a:solidFill>
                      <a:prstClr val="black"/>
                    </a:solidFill>
                  </a:rPr>
                  <a:t> or in both events (so that the union includes outcomes for which both </a:t>
                </a:r>
                <a14:m>
                  <m:oMath xmlns:m="http://schemas.openxmlformats.org/officeDocument/2006/math">
                    <m:r>
                      <a:rPr lang="en-US" altLang="zh-CN" sz="2800" i="1" dirty="0" smtClean="0">
                        <a:solidFill>
                          <a:prstClr val="black"/>
                        </a:solidFill>
                        <a:latin typeface="Cambria Math" panose="02040503050406030204" pitchFamily="18" charset="0"/>
                      </a:rPr>
                      <m:t>𝐴</m:t>
                    </m:r>
                  </m:oMath>
                </a14:m>
                <a:r>
                  <a:rPr lang="en-US" altLang="zh-CN" sz="2800" dirty="0">
                    <a:solidFill>
                      <a:prstClr val="black"/>
                    </a:solidFill>
                  </a:rPr>
                  <a:t> and </a:t>
                </a:r>
                <a14:m>
                  <m:oMath xmlns:m="http://schemas.openxmlformats.org/officeDocument/2006/math">
                    <m:r>
                      <a:rPr lang="en-US" altLang="zh-CN" sz="2800" i="1" dirty="0" smtClean="0">
                        <a:solidFill>
                          <a:prstClr val="black"/>
                        </a:solidFill>
                        <a:latin typeface="Cambria Math" panose="02040503050406030204" pitchFamily="18" charset="0"/>
                      </a:rPr>
                      <m:t>𝐵</m:t>
                    </m:r>
                  </m:oMath>
                </a14:m>
                <a:r>
                  <a:rPr lang="en-US" altLang="zh-CN" sz="2800" dirty="0">
                    <a:solidFill>
                      <a:prstClr val="black"/>
                    </a:solidFill>
                  </a:rPr>
                  <a:t> occur as well as outcomes for which exactly one occurs)—that is, all outcomes in at least one of the events.</a:t>
                </a:r>
              </a:p>
              <a:p>
                <a:pPr lvl="0" algn="l">
                  <a:lnSpc>
                    <a:spcPct val="100000"/>
                  </a:lnSpc>
                </a:pPr>
                <a:endParaRPr lang="en-US" altLang="zh-CN" sz="2800" dirty="0">
                  <a:solidFill>
                    <a:prstClr val="black"/>
                  </a:solidFill>
                </a:endParaRPr>
              </a:p>
              <a:p>
                <a:pPr lvl="0" algn="l">
                  <a:lnSpc>
                    <a:spcPct val="100000"/>
                  </a:lnSpc>
                </a:pPr>
                <a:endParaRPr lang="en-US" altLang="zh-CN" sz="2800" dirty="0">
                  <a:solidFill>
                    <a:prstClr val="black"/>
                  </a:solidFill>
                </a:endParaRPr>
              </a:p>
              <a:p>
                <a:pPr lvl="0" algn="l">
                  <a:lnSpc>
                    <a:spcPct val="100000"/>
                  </a:lnSpc>
                </a:pPr>
                <a:endParaRPr lang="en-US" altLang="zh-CN" sz="2800" dirty="0">
                  <a:solidFill>
                    <a:prstClr val="black"/>
                  </a:solidFill>
                </a:endParaRPr>
              </a:p>
              <a:p>
                <a:pPr lvl="0" algn="l">
                  <a:lnSpc>
                    <a:spcPct val="100000"/>
                  </a:lnSpc>
                </a:pPr>
                <a:endParaRPr lang="en-US" altLang="zh-CN" sz="2800" dirty="0">
                  <a:solidFill>
                    <a:prstClr val="black"/>
                  </a:solidFill>
                </a:endParaRPr>
              </a:p>
              <a:p>
                <a:pPr lvl="0">
                  <a:lnSpc>
                    <a:spcPct val="100000"/>
                  </a:lnSpc>
                </a:pPr>
                <a14:m>
                  <m:oMath xmlns:m="http://schemas.openxmlformats.org/officeDocument/2006/math">
                    <m:r>
                      <a:rPr lang="en-US" altLang="zh-CN" sz="2800" i="1" dirty="0">
                        <a:solidFill>
                          <a:prstClr val="black"/>
                        </a:solidFill>
                        <a:latin typeface="Cambria Math" panose="02040503050406030204" pitchFamily="18" charset="0"/>
                      </a:rPr>
                      <m:t>𝐴</m:t>
                    </m:r>
                    <m:r>
                      <a:rPr lang="en-US" altLang="zh-CN" sz="2800" i="1" dirty="0">
                        <a:solidFill>
                          <a:prstClr val="black"/>
                        </a:solidFill>
                        <a:latin typeface="Cambria Math" panose="02040503050406030204" pitchFamily="18" charset="0"/>
                        <a:ea typeface="Cambria Math" panose="02040503050406030204" pitchFamily="18" charset="0"/>
                      </a:rPr>
                      <m:t>∪</m:t>
                    </m:r>
                    <m:r>
                      <a:rPr lang="en-US" altLang="zh-CN" sz="2800" i="1" dirty="0">
                        <a:solidFill>
                          <a:prstClr val="black"/>
                        </a:solidFill>
                        <a:latin typeface="Cambria Math" panose="02040503050406030204" pitchFamily="18" charset="0"/>
                      </a:rPr>
                      <m:t>𝐵</m:t>
                    </m:r>
                  </m:oMath>
                </a14:m>
                <a:r>
                  <a:rPr lang="en-US" altLang="zh-CN" sz="2800" dirty="0">
                    <a:solidFill>
                      <a:prstClr val="black"/>
                    </a:solidFill>
                  </a:rPr>
                  <a:t> or </a:t>
                </a:r>
                <a14:m>
                  <m:oMath xmlns:m="http://schemas.openxmlformats.org/officeDocument/2006/math">
                    <m:r>
                      <a:rPr lang="en-US" altLang="zh-CN" sz="2800" i="1" dirty="0">
                        <a:solidFill>
                          <a:prstClr val="black"/>
                        </a:solidFill>
                        <a:latin typeface="Cambria Math" panose="02040503050406030204" pitchFamily="18" charset="0"/>
                      </a:rPr>
                      <m:t>𝐴</m:t>
                    </m:r>
                    <m:r>
                      <a:rPr lang="en-US" altLang="zh-CN" sz="2800" b="0" i="1" dirty="0" smtClean="0">
                        <a:solidFill>
                          <a:prstClr val="black"/>
                        </a:solidFill>
                        <a:latin typeface="Cambria Math" panose="02040503050406030204" pitchFamily="18" charset="0"/>
                        <a:ea typeface="Cambria Math" panose="02040503050406030204" pitchFamily="18" charset="0"/>
                      </a:rPr>
                      <m:t>+</m:t>
                    </m:r>
                    <m:r>
                      <a:rPr lang="en-US" altLang="zh-CN" sz="2800" i="1" dirty="0">
                        <a:solidFill>
                          <a:prstClr val="black"/>
                        </a:solidFill>
                        <a:latin typeface="Cambria Math" panose="02040503050406030204" pitchFamily="18" charset="0"/>
                      </a:rPr>
                      <m:t>𝐵</m:t>
                    </m:r>
                    <m:r>
                      <a:rPr lang="en-US" altLang="zh-CN" sz="2800" i="1" dirty="0">
                        <a:solidFill>
                          <a:prstClr val="black"/>
                        </a:solidFill>
                        <a:latin typeface="Cambria Math" panose="02040503050406030204" pitchFamily="18" charset="0"/>
                      </a:rPr>
                      <m:t> </m:t>
                    </m:r>
                  </m:oMath>
                </a14:m>
                <a:endParaRPr lang="en-US" altLang="zh-CN" sz="2800" dirty="0">
                  <a:solidFill>
                    <a:prstClr val="black"/>
                  </a:solidFill>
                </a:endParaRP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1268" y="1195768"/>
                <a:ext cx="11849674" cy="5500000"/>
              </a:xfrm>
              <a:blipFill>
                <a:blip r:embed="rId3"/>
                <a:stretch>
                  <a:fillRect l="-1029" t="-1552" r="-1543"/>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pic>
        <p:nvPicPr>
          <p:cNvPr id="6" name="图片 5"/>
          <p:cNvPicPr>
            <a:picLocks noChangeAspect="1"/>
          </p:cNvPicPr>
          <p:nvPr/>
        </p:nvPicPr>
        <p:blipFill>
          <a:blip r:embed="rId6"/>
          <a:stretch>
            <a:fillRect/>
          </a:stretch>
        </p:blipFill>
        <p:spPr>
          <a:xfrm>
            <a:off x="4016884" y="3149316"/>
            <a:ext cx="3838192" cy="2543562"/>
          </a:xfrm>
          <a:prstGeom prst="rect">
            <a:avLst/>
          </a:prstGeom>
        </p:spPr>
      </p:pic>
    </p:spTree>
    <p:extLst>
      <p:ext uri="{BB962C8B-B14F-4D97-AF65-F5344CB8AC3E}">
        <p14:creationId xmlns:p14="http://schemas.microsoft.com/office/powerpoint/2010/main" val="1667075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1268" y="1195768"/>
                <a:ext cx="11849674" cy="5500000"/>
              </a:xfrm>
            </p:spPr>
            <p:txBody>
              <a:bodyPr>
                <a:noAutofit/>
              </a:bodyPr>
              <a:lstStyle/>
              <a:p>
                <a:pPr lvl="0" algn="l">
                  <a:lnSpc>
                    <a:spcPct val="100000"/>
                  </a:lnSpc>
                </a:pPr>
                <a:r>
                  <a:rPr lang="en-US" altLang="zh-CN" sz="2800" dirty="0">
                    <a:solidFill>
                      <a:prstClr val="black"/>
                    </a:solidFill>
                  </a:rPr>
                  <a:t>3. The </a:t>
                </a:r>
                <a:r>
                  <a:rPr lang="en-US" altLang="zh-CN" sz="2800" dirty="0">
                    <a:solidFill>
                      <a:srgbClr val="FF0000"/>
                    </a:solidFill>
                  </a:rPr>
                  <a:t>intersection(</a:t>
                </a:r>
                <a:r>
                  <a:rPr lang="zh-CN" altLang="en-US" sz="2800" dirty="0">
                    <a:solidFill>
                      <a:srgbClr val="FF0000"/>
                    </a:solidFill>
                  </a:rPr>
                  <a:t>交</a:t>
                </a:r>
                <a:r>
                  <a:rPr lang="en-US" altLang="zh-CN" sz="2800" dirty="0">
                    <a:solidFill>
                      <a:srgbClr val="FF0000"/>
                    </a:solidFill>
                  </a:rPr>
                  <a:t>,</a:t>
                </a:r>
                <a:r>
                  <a:rPr lang="zh-CN" altLang="en-US" sz="2800" dirty="0">
                    <a:solidFill>
                      <a:srgbClr val="FF0000"/>
                    </a:solidFill>
                  </a:rPr>
                  <a:t>乘积</a:t>
                </a:r>
                <a:r>
                  <a:rPr lang="en-US" altLang="zh-CN" sz="2800" dirty="0">
                    <a:solidFill>
                      <a:srgbClr val="FF0000"/>
                    </a:solidFill>
                  </a:rPr>
                  <a:t>)</a:t>
                </a:r>
                <a:r>
                  <a:rPr lang="en-US" altLang="zh-CN" sz="2800" dirty="0">
                    <a:solidFill>
                      <a:prstClr val="black"/>
                    </a:solidFill>
                  </a:rPr>
                  <a:t> of two events </a:t>
                </a:r>
                <a14:m>
                  <m:oMath xmlns:m="http://schemas.openxmlformats.org/officeDocument/2006/math">
                    <m:r>
                      <a:rPr lang="en-US" altLang="zh-CN" sz="2800" i="1" dirty="0" smtClean="0">
                        <a:solidFill>
                          <a:prstClr val="black"/>
                        </a:solidFill>
                        <a:latin typeface="Cambria Math" panose="02040503050406030204" pitchFamily="18" charset="0"/>
                      </a:rPr>
                      <m:t>𝐴</m:t>
                    </m:r>
                  </m:oMath>
                </a14:m>
                <a:r>
                  <a:rPr lang="en-US" altLang="zh-CN" sz="2800" dirty="0">
                    <a:solidFill>
                      <a:prstClr val="black"/>
                    </a:solidFill>
                  </a:rPr>
                  <a:t> and </a:t>
                </a:r>
                <a14:m>
                  <m:oMath xmlns:m="http://schemas.openxmlformats.org/officeDocument/2006/math">
                    <m:r>
                      <a:rPr lang="en-US" altLang="zh-CN" sz="2800" i="1" dirty="0" smtClean="0">
                        <a:solidFill>
                          <a:prstClr val="black"/>
                        </a:solidFill>
                        <a:latin typeface="Cambria Math" panose="02040503050406030204" pitchFamily="18" charset="0"/>
                      </a:rPr>
                      <m:t>𝐵</m:t>
                    </m:r>
                  </m:oMath>
                </a14:m>
                <a:r>
                  <a:rPr lang="en-US" altLang="zh-CN" sz="2800" dirty="0">
                    <a:solidFill>
                      <a:prstClr val="black"/>
                    </a:solidFill>
                  </a:rPr>
                  <a:t>, denoted by </a:t>
                </a:r>
                <a14:m>
                  <m:oMath xmlns:m="http://schemas.openxmlformats.org/officeDocument/2006/math">
                    <m:r>
                      <a:rPr lang="en-US" altLang="zh-CN" sz="2800" i="1" dirty="0">
                        <a:solidFill>
                          <a:prstClr val="black"/>
                        </a:solidFill>
                        <a:latin typeface="Cambria Math" panose="02040503050406030204" pitchFamily="18" charset="0"/>
                      </a:rPr>
                      <m:t>𝐴𝐵</m:t>
                    </m:r>
                  </m:oMath>
                </a14:m>
                <a:r>
                  <a:rPr lang="en-US" altLang="zh-CN" sz="2800" dirty="0">
                    <a:solidFill>
                      <a:prstClr val="black"/>
                    </a:solidFill>
                  </a:rPr>
                  <a:t> (sometimes written </a:t>
                </a:r>
                <a14:m>
                  <m:oMath xmlns:m="http://schemas.openxmlformats.org/officeDocument/2006/math">
                    <m:r>
                      <a:rPr lang="en-US" altLang="zh-CN" sz="2800" i="1" dirty="0">
                        <a:solidFill>
                          <a:prstClr val="black"/>
                        </a:solidFill>
                        <a:latin typeface="Cambria Math" panose="02040503050406030204" pitchFamily="18" charset="0"/>
                      </a:rPr>
                      <m:t>𝐴</m:t>
                    </m:r>
                    <m:r>
                      <a:rPr lang="en-US" altLang="zh-CN" sz="2800" i="1" dirty="0">
                        <a:solidFill>
                          <a:prstClr val="black"/>
                        </a:solidFill>
                        <a:latin typeface="Cambria Math" panose="02040503050406030204" pitchFamily="18" charset="0"/>
                        <a:ea typeface="Cambria Math" panose="02040503050406030204" pitchFamily="18" charset="0"/>
                      </a:rPr>
                      <m:t>∩</m:t>
                    </m:r>
                    <m:r>
                      <a:rPr lang="en-US" altLang="zh-CN" sz="2800" i="1" dirty="0">
                        <a:solidFill>
                          <a:prstClr val="black"/>
                        </a:solidFill>
                        <a:latin typeface="Cambria Math" panose="02040503050406030204" pitchFamily="18" charset="0"/>
                      </a:rPr>
                      <m:t>𝐵</m:t>
                    </m:r>
                    <m:r>
                      <a:rPr lang="en-US" altLang="zh-CN" sz="2800" i="1" dirty="0">
                        <a:solidFill>
                          <a:prstClr val="black"/>
                        </a:solidFill>
                        <a:latin typeface="Cambria Math" panose="02040503050406030204" pitchFamily="18" charset="0"/>
                      </a:rPr>
                      <m:t> </m:t>
                    </m:r>
                  </m:oMath>
                </a14:m>
                <a:r>
                  <a:rPr lang="en-US" altLang="zh-CN" sz="2800" dirty="0">
                    <a:solidFill>
                      <a:prstClr val="black"/>
                    </a:solidFill>
                  </a:rPr>
                  <a:t>)</a:t>
                </a:r>
                <a14:m>
                  <m:oMath xmlns:m="http://schemas.openxmlformats.org/officeDocument/2006/math">
                    <m:r>
                      <a:rPr lang="en-US" altLang="zh-CN" sz="2800" i="1" dirty="0" smtClean="0">
                        <a:solidFill>
                          <a:prstClr val="black"/>
                        </a:solidFill>
                        <a:latin typeface="Cambria Math" panose="02040503050406030204" pitchFamily="18" charset="0"/>
                      </a:rPr>
                      <m:t> </m:t>
                    </m:r>
                  </m:oMath>
                </a14:m>
                <a:r>
                  <a:rPr lang="en-US" altLang="zh-CN" sz="2800" dirty="0">
                    <a:solidFill>
                      <a:prstClr val="black"/>
                    </a:solidFill>
                  </a:rPr>
                  <a:t>and read “</a:t>
                </a:r>
                <a14:m>
                  <m:oMath xmlns:m="http://schemas.openxmlformats.org/officeDocument/2006/math">
                    <m:r>
                      <a:rPr lang="en-US" altLang="zh-CN" sz="2800" i="1" dirty="0" smtClean="0">
                        <a:solidFill>
                          <a:prstClr val="black"/>
                        </a:solidFill>
                        <a:latin typeface="Cambria Math" panose="02040503050406030204" pitchFamily="18" charset="0"/>
                      </a:rPr>
                      <m:t>𝐴</m:t>
                    </m:r>
                  </m:oMath>
                </a14:m>
                <a:r>
                  <a:rPr lang="en-US" altLang="zh-CN" sz="2800" dirty="0">
                    <a:solidFill>
                      <a:prstClr val="black"/>
                    </a:solidFill>
                  </a:rPr>
                  <a:t> and </a:t>
                </a:r>
                <a14:m>
                  <m:oMath xmlns:m="http://schemas.openxmlformats.org/officeDocument/2006/math">
                    <m:r>
                      <a:rPr lang="en-US" altLang="zh-CN" sz="2800" i="1" dirty="0" smtClean="0">
                        <a:solidFill>
                          <a:prstClr val="black"/>
                        </a:solidFill>
                        <a:latin typeface="Cambria Math" panose="02040503050406030204" pitchFamily="18" charset="0"/>
                      </a:rPr>
                      <m:t>𝐵</m:t>
                    </m:r>
                  </m:oMath>
                </a14:m>
                <a:r>
                  <a:rPr lang="en-US" altLang="zh-CN" sz="2800" dirty="0">
                    <a:solidFill>
                      <a:prstClr val="black"/>
                    </a:solidFill>
                  </a:rPr>
                  <a:t>,” is the event consisting of all outcomes that are in both </a:t>
                </a:r>
                <a14:m>
                  <m:oMath xmlns:m="http://schemas.openxmlformats.org/officeDocument/2006/math">
                    <m:r>
                      <a:rPr lang="en-US" altLang="zh-CN" sz="2800" i="1" dirty="0" smtClean="0">
                        <a:solidFill>
                          <a:prstClr val="black"/>
                        </a:solidFill>
                        <a:latin typeface="Cambria Math" panose="02040503050406030204" pitchFamily="18" charset="0"/>
                      </a:rPr>
                      <m:t>𝐴</m:t>
                    </m:r>
                  </m:oMath>
                </a14:m>
                <a:r>
                  <a:rPr lang="en-US" altLang="zh-CN" sz="2800" dirty="0">
                    <a:solidFill>
                      <a:prstClr val="black"/>
                    </a:solidFill>
                  </a:rPr>
                  <a:t> and </a:t>
                </a:r>
                <a14:m>
                  <m:oMath xmlns:m="http://schemas.openxmlformats.org/officeDocument/2006/math">
                    <m:r>
                      <a:rPr lang="en-US" altLang="zh-CN" sz="2800" i="1" dirty="0" smtClean="0">
                        <a:solidFill>
                          <a:prstClr val="black"/>
                        </a:solidFill>
                        <a:latin typeface="Cambria Math" panose="02040503050406030204" pitchFamily="18" charset="0"/>
                      </a:rPr>
                      <m:t>𝐵</m:t>
                    </m:r>
                  </m:oMath>
                </a14:m>
                <a:r>
                  <a:rPr lang="en-US" altLang="zh-CN" sz="2800" dirty="0">
                    <a:solidFill>
                      <a:prstClr val="black"/>
                    </a:solidFill>
                  </a:rPr>
                  <a:t>.</a:t>
                </a:r>
              </a:p>
              <a:p>
                <a:pPr lvl="0" algn="l">
                  <a:lnSpc>
                    <a:spcPct val="100000"/>
                  </a:lnSpc>
                </a:pPr>
                <a:endParaRPr lang="en-US" altLang="zh-CN" sz="2800" dirty="0">
                  <a:solidFill>
                    <a:prstClr val="black"/>
                  </a:solidFill>
                </a:endParaRPr>
              </a:p>
              <a:p>
                <a:pPr lvl="0" algn="l">
                  <a:lnSpc>
                    <a:spcPct val="100000"/>
                  </a:lnSpc>
                </a:pPr>
                <a:endParaRPr lang="en-US" altLang="zh-CN" sz="2800" dirty="0">
                  <a:solidFill>
                    <a:prstClr val="black"/>
                  </a:solidFill>
                </a:endParaRPr>
              </a:p>
              <a:p>
                <a:pPr lvl="0" algn="l">
                  <a:lnSpc>
                    <a:spcPct val="100000"/>
                  </a:lnSpc>
                </a:pPr>
                <a:endParaRPr lang="en-US" altLang="zh-CN" sz="2800" dirty="0">
                  <a:solidFill>
                    <a:prstClr val="black"/>
                  </a:solidFill>
                </a:endParaRPr>
              </a:p>
              <a:p>
                <a:pPr lvl="0" algn="l">
                  <a:lnSpc>
                    <a:spcPct val="100000"/>
                  </a:lnSpc>
                </a:pPr>
                <a:endParaRPr lang="en-US" altLang="zh-CN" sz="2800" dirty="0">
                  <a:solidFill>
                    <a:prstClr val="black"/>
                  </a:solidFill>
                </a:endParaRPr>
              </a:p>
              <a:p>
                <a:pPr lvl="0" algn="l">
                  <a:lnSpc>
                    <a:spcPct val="100000"/>
                  </a:lnSpc>
                </a:pPr>
                <a:endParaRPr lang="en-US" altLang="zh-CN" sz="2800" dirty="0">
                  <a:solidFill>
                    <a:prstClr val="black"/>
                  </a:solidFill>
                </a:endParaRPr>
              </a:p>
              <a:p>
                <a:pPr>
                  <a:lnSpc>
                    <a:spcPct val="100000"/>
                  </a:lnSpc>
                </a:pPr>
                <a14:m>
                  <m:oMath xmlns:m="http://schemas.openxmlformats.org/officeDocument/2006/math">
                    <m:r>
                      <a:rPr lang="en-US" altLang="zh-CN" sz="2800" i="1" dirty="0">
                        <a:solidFill>
                          <a:prstClr val="black"/>
                        </a:solidFill>
                        <a:latin typeface="Cambria Math" panose="02040503050406030204" pitchFamily="18" charset="0"/>
                      </a:rPr>
                      <m:t>𝐴</m:t>
                    </m:r>
                    <m:r>
                      <a:rPr lang="en-US" altLang="zh-CN" sz="2800" i="1" dirty="0" smtClean="0">
                        <a:solidFill>
                          <a:prstClr val="black"/>
                        </a:solidFill>
                        <a:latin typeface="Cambria Math" panose="02040503050406030204" pitchFamily="18" charset="0"/>
                        <a:ea typeface="Cambria Math" panose="02040503050406030204" pitchFamily="18" charset="0"/>
                      </a:rPr>
                      <m:t>∩</m:t>
                    </m:r>
                    <m:r>
                      <a:rPr lang="en-US" altLang="zh-CN" sz="2800" i="1" dirty="0">
                        <a:solidFill>
                          <a:prstClr val="black"/>
                        </a:solidFill>
                        <a:latin typeface="Cambria Math" panose="02040503050406030204" pitchFamily="18" charset="0"/>
                      </a:rPr>
                      <m:t>𝐵</m:t>
                    </m:r>
                  </m:oMath>
                </a14:m>
                <a:r>
                  <a:rPr lang="en-US" altLang="zh-CN" sz="2800" dirty="0">
                    <a:solidFill>
                      <a:prstClr val="black"/>
                    </a:solidFill>
                  </a:rPr>
                  <a:t> or </a:t>
                </a:r>
                <a14:m>
                  <m:oMath xmlns:m="http://schemas.openxmlformats.org/officeDocument/2006/math">
                    <m:r>
                      <a:rPr lang="en-US" altLang="zh-CN" sz="2800" i="1" dirty="0">
                        <a:solidFill>
                          <a:prstClr val="black"/>
                        </a:solidFill>
                        <a:latin typeface="Cambria Math" panose="02040503050406030204" pitchFamily="18" charset="0"/>
                      </a:rPr>
                      <m:t>𝐴𝐵</m:t>
                    </m:r>
                    <m:r>
                      <a:rPr lang="en-US" altLang="zh-CN" sz="2800" i="1" dirty="0">
                        <a:solidFill>
                          <a:prstClr val="black"/>
                        </a:solidFill>
                        <a:latin typeface="Cambria Math" panose="02040503050406030204" pitchFamily="18" charset="0"/>
                      </a:rPr>
                      <m:t> </m:t>
                    </m:r>
                  </m:oMath>
                </a14:m>
                <a:endParaRPr lang="en-US" altLang="zh-CN" sz="2800" dirty="0">
                  <a:solidFill>
                    <a:prstClr val="black"/>
                  </a:solidFill>
                </a:endParaRP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1268" y="1195768"/>
                <a:ext cx="11849674" cy="5500000"/>
              </a:xfrm>
              <a:blipFill>
                <a:blip r:embed="rId3"/>
                <a:stretch>
                  <a:fillRect l="-1029" t="-1552" r="-36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pic>
        <p:nvPicPr>
          <p:cNvPr id="2" name="图片 1"/>
          <p:cNvPicPr>
            <a:picLocks noChangeAspect="1"/>
          </p:cNvPicPr>
          <p:nvPr/>
        </p:nvPicPr>
        <p:blipFill>
          <a:blip r:embed="rId6"/>
          <a:stretch>
            <a:fillRect/>
          </a:stretch>
        </p:blipFill>
        <p:spPr>
          <a:xfrm>
            <a:off x="4054229" y="2584727"/>
            <a:ext cx="3785540" cy="2333859"/>
          </a:xfrm>
          <a:prstGeom prst="rect">
            <a:avLst/>
          </a:prstGeom>
        </p:spPr>
      </p:pic>
    </p:spTree>
    <p:extLst>
      <p:ext uri="{BB962C8B-B14F-4D97-AF65-F5344CB8AC3E}">
        <p14:creationId xmlns:p14="http://schemas.microsoft.com/office/powerpoint/2010/main" val="530471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53504" y="1110393"/>
                <a:ext cx="12008625" cy="5697660"/>
              </a:xfrm>
            </p:spPr>
            <p:txBody>
              <a:bodyPr>
                <a:normAutofit/>
              </a:bodyPr>
              <a:lstStyle/>
              <a:p>
                <a:pPr algn="l"/>
                <a:r>
                  <a:rPr lang="en-US" altLang="zh-CN" sz="2800" dirty="0"/>
                  <a:t>Sometimes </a:t>
                </a:r>
                <a14:m>
                  <m:oMath xmlns:m="http://schemas.openxmlformats.org/officeDocument/2006/math">
                    <m:r>
                      <a:rPr lang="en-US" altLang="zh-CN" sz="2800" i="1" dirty="0" smtClean="0">
                        <a:latin typeface="Cambria Math" panose="02040503050406030204" pitchFamily="18" charset="0"/>
                      </a:rPr>
                      <m:t>𝐴</m:t>
                    </m:r>
                  </m:oMath>
                </a14:m>
                <a:r>
                  <a:rPr lang="en-US" altLang="zh-CN" sz="2800" dirty="0"/>
                  <a:t> and </a:t>
                </a:r>
                <a14:m>
                  <m:oMath xmlns:m="http://schemas.openxmlformats.org/officeDocument/2006/math">
                    <m:r>
                      <a:rPr lang="en-US" altLang="zh-CN" sz="2800" i="1" dirty="0" smtClean="0">
                        <a:latin typeface="Cambria Math" panose="02040503050406030204" pitchFamily="18" charset="0"/>
                      </a:rPr>
                      <m:t>𝐵</m:t>
                    </m:r>
                  </m:oMath>
                </a14:m>
                <a:r>
                  <a:rPr lang="en-US" altLang="zh-CN" sz="2800" dirty="0"/>
                  <a:t> have no outcomes in common, so that the intersection of </a:t>
                </a:r>
                <a14:m>
                  <m:oMath xmlns:m="http://schemas.openxmlformats.org/officeDocument/2006/math">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rPr>
                      <m:t> </m:t>
                    </m:r>
                  </m:oMath>
                </a14:m>
                <a:r>
                  <a:rPr lang="en-US" altLang="zh-CN" sz="2800" dirty="0"/>
                  <a:t>and </a:t>
                </a:r>
                <a14:m>
                  <m:oMath xmlns:m="http://schemas.openxmlformats.org/officeDocument/2006/math">
                    <m:r>
                      <a:rPr lang="en-US" altLang="zh-CN" sz="2800" i="1" dirty="0" smtClean="0">
                        <a:latin typeface="Cambria Math" panose="02040503050406030204" pitchFamily="18" charset="0"/>
                      </a:rPr>
                      <m:t>𝐵</m:t>
                    </m:r>
                  </m:oMath>
                </a14:m>
                <a:r>
                  <a:rPr lang="en-US" altLang="zh-CN" sz="2800" dirty="0"/>
                  <a:t> contains no outcomes.</a:t>
                </a:r>
              </a:p>
              <a:p>
                <a:pPr algn="l"/>
                <a:r>
                  <a:rPr lang="en-US" altLang="zh-CN" sz="2800" dirty="0">
                    <a:solidFill>
                      <a:srgbClr val="0070C0"/>
                    </a:solidFill>
                    <a:latin typeface="Arial Black" panose="020B0A04020102020204" pitchFamily="34" charset="0"/>
                  </a:rPr>
                  <a:t>Definition 2.4</a:t>
                </a:r>
              </a:p>
              <a:p>
                <a:pPr algn="l"/>
                <a:r>
                  <a:rPr lang="en-US" altLang="zh-CN" sz="2800" dirty="0"/>
                  <a:t>Let </a:t>
                </a:r>
                <a14:m>
                  <m:oMath xmlns:m="http://schemas.openxmlformats.org/officeDocument/2006/math">
                    <m:r>
                      <a:rPr lang="en-US" altLang="zh-CN" sz="2800" i="1" smtClean="0">
                        <a:latin typeface="Cambria Math" panose="02040503050406030204" pitchFamily="18" charset="0"/>
                        <a:ea typeface="Cambria Math" panose="02040503050406030204" pitchFamily="18" charset="0"/>
                      </a:rPr>
                      <m:t>∅</m:t>
                    </m:r>
                  </m:oMath>
                </a14:m>
                <a:r>
                  <a:rPr lang="en-US" altLang="zh-CN" sz="2800" dirty="0"/>
                  <a:t> denote the </a:t>
                </a:r>
                <a:r>
                  <a:rPr lang="en-US" altLang="zh-CN" sz="2800" dirty="0">
                    <a:solidFill>
                      <a:srgbClr val="FF0000"/>
                    </a:solidFill>
                  </a:rPr>
                  <a:t>null event(</a:t>
                </a:r>
                <a:r>
                  <a:rPr lang="zh-CN" altLang="en-US" sz="2800" dirty="0">
                    <a:solidFill>
                      <a:srgbClr val="FF0000"/>
                    </a:solidFill>
                  </a:rPr>
                  <a:t>空事件</a:t>
                </a:r>
                <a:r>
                  <a:rPr lang="en-US" altLang="zh-CN" sz="2800" dirty="0">
                    <a:solidFill>
                      <a:srgbClr val="FF0000"/>
                    </a:solidFill>
                  </a:rPr>
                  <a:t>)</a:t>
                </a:r>
                <a:r>
                  <a:rPr lang="en-US" altLang="zh-CN" sz="2800" dirty="0"/>
                  <a:t> (the event consisting of no outcomes whatsoever).</a:t>
                </a:r>
              </a:p>
              <a:p>
                <a:pPr algn="l"/>
                <a:r>
                  <a:rPr lang="en-US" altLang="zh-CN" sz="2800" dirty="0"/>
                  <a:t>When </a:t>
                </a:r>
                <a14:m>
                  <m:oMath xmlns:m="http://schemas.openxmlformats.org/officeDocument/2006/math">
                    <m:r>
                      <a:rPr lang="en-US" altLang="zh-CN" sz="2800" i="1" dirty="0">
                        <a:solidFill>
                          <a:prstClr val="black"/>
                        </a:solidFill>
                        <a:latin typeface="Cambria Math" panose="02040503050406030204" pitchFamily="18" charset="0"/>
                      </a:rPr>
                      <m:t>𝐴</m:t>
                    </m:r>
                    <m:r>
                      <a:rPr lang="en-US" altLang="zh-CN" sz="2800" i="1" dirty="0">
                        <a:solidFill>
                          <a:prstClr val="black"/>
                        </a:solidFill>
                        <a:latin typeface="Cambria Math" panose="02040503050406030204" pitchFamily="18" charset="0"/>
                        <a:ea typeface="Cambria Math" panose="02040503050406030204" pitchFamily="18" charset="0"/>
                      </a:rPr>
                      <m:t>∩</m:t>
                    </m:r>
                    <m:r>
                      <a:rPr lang="en-US" altLang="zh-CN" sz="2800" i="1" dirty="0">
                        <a:solidFill>
                          <a:prstClr val="black"/>
                        </a:solidFill>
                        <a:latin typeface="Cambria Math" panose="02040503050406030204" pitchFamily="18" charset="0"/>
                      </a:rPr>
                      <m:t>𝐵</m:t>
                    </m:r>
                    <m:r>
                      <a:rPr lang="en-US" altLang="zh-CN" sz="2800" b="0" i="1" dirty="0" smtClean="0">
                        <a:solidFill>
                          <a:prstClr val="black"/>
                        </a:solidFill>
                        <a:latin typeface="Cambria Math" panose="02040503050406030204" pitchFamily="18" charset="0"/>
                      </a:rPr>
                      <m:t>=</m:t>
                    </m:r>
                    <m:r>
                      <a:rPr lang="en-US" altLang="zh-CN" sz="2800" b="0" i="1" dirty="0" smtClean="0">
                        <a:solidFill>
                          <a:prstClr val="black"/>
                        </a:solidFill>
                        <a:latin typeface="Cambria Math" panose="02040503050406030204" pitchFamily="18" charset="0"/>
                        <a:ea typeface="Cambria Math" panose="02040503050406030204" pitchFamily="18" charset="0"/>
                      </a:rPr>
                      <m:t>∅</m:t>
                    </m:r>
                    <m:r>
                      <a:rPr lang="en-US" altLang="zh-CN" sz="2800" i="1" dirty="0">
                        <a:solidFill>
                          <a:prstClr val="black"/>
                        </a:solidFill>
                        <a:latin typeface="Cambria Math" panose="02040503050406030204" pitchFamily="18" charset="0"/>
                      </a:rPr>
                      <m:t> </m:t>
                    </m:r>
                  </m:oMath>
                </a14:m>
                <a:r>
                  <a:rPr lang="en-US" altLang="zh-CN" sz="2800" dirty="0"/>
                  <a:t>, </a:t>
                </a:r>
                <a14:m>
                  <m:oMath xmlns:m="http://schemas.openxmlformats.org/officeDocument/2006/math">
                    <m:r>
                      <a:rPr lang="en-US" altLang="zh-CN" sz="2800" i="1" dirty="0" smtClean="0">
                        <a:latin typeface="Cambria Math" panose="02040503050406030204" pitchFamily="18" charset="0"/>
                      </a:rPr>
                      <m:t>𝐴</m:t>
                    </m:r>
                  </m:oMath>
                </a14:m>
                <a:r>
                  <a:rPr lang="en-US" altLang="zh-CN" sz="2800" dirty="0"/>
                  <a:t> and </a:t>
                </a:r>
                <a14:m>
                  <m:oMath xmlns:m="http://schemas.openxmlformats.org/officeDocument/2006/math">
                    <m:r>
                      <a:rPr lang="en-US" altLang="zh-CN" sz="2800" i="1" dirty="0" smtClean="0">
                        <a:latin typeface="Cambria Math" panose="02040503050406030204" pitchFamily="18" charset="0"/>
                      </a:rPr>
                      <m:t>𝐵</m:t>
                    </m:r>
                  </m:oMath>
                </a14:m>
                <a:r>
                  <a:rPr lang="en-US" altLang="zh-CN" sz="2800" dirty="0"/>
                  <a:t> are said to be </a:t>
                </a:r>
                <a:r>
                  <a:rPr lang="en-US" altLang="zh-CN" sz="2800" dirty="0">
                    <a:solidFill>
                      <a:srgbClr val="FF0000"/>
                    </a:solidFill>
                  </a:rPr>
                  <a:t>mutually exclusive(</a:t>
                </a:r>
                <a:r>
                  <a:rPr lang="zh-CN" altLang="en-US" sz="2800" dirty="0">
                    <a:solidFill>
                      <a:srgbClr val="FF0000"/>
                    </a:solidFill>
                  </a:rPr>
                  <a:t>互斥</a:t>
                </a:r>
                <a:r>
                  <a:rPr lang="en-US" altLang="zh-CN" sz="2800" dirty="0">
                    <a:solidFill>
                      <a:srgbClr val="FF0000"/>
                    </a:solidFill>
                  </a:rPr>
                  <a:t>) </a:t>
                </a:r>
                <a:r>
                  <a:rPr lang="en-US" altLang="zh-CN" sz="2800" dirty="0"/>
                  <a:t>or </a:t>
                </a:r>
                <a:r>
                  <a:rPr lang="en-US" altLang="zh-CN" sz="2800" dirty="0">
                    <a:solidFill>
                      <a:srgbClr val="FF0000"/>
                    </a:solidFill>
                  </a:rPr>
                  <a:t>disjoint(</a:t>
                </a:r>
                <a:r>
                  <a:rPr lang="zh-CN" altLang="en-US" sz="2800" dirty="0">
                    <a:solidFill>
                      <a:srgbClr val="FF0000"/>
                    </a:solidFill>
                  </a:rPr>
                  <a:t>不相交</a:t>
                </a:r>
                <a:r>
                  <a:rPr lang="en-US" altLang="zh-CN" sz="2800" dirty="0">
                    <a:solidFill>
                      <a:srgbClr val="FF0000"/>
                    </a:solidFill>
                  </a:rPr>
                  <a:t>)</a:t>
                </a:r>
                <a:r>
                  <a:rPr lang="en-US" altLang="zh-CN" sz="2800" dirty="0"/>
                  <a:t> events.</a:t>
                </a:r>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53504" y="1110393"/>
                <a:ext cx="12008625" cy="5697660"/>
              </a:xfrm>
              <a:blipFill>
                <a:blip r:embed="rId3"/>
                <a:stretch>
                  <a:fillRect l="-1066" t="-1711"/>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pic>
        <p:nvPicPr>
          <p:cNvPr id="2" name="图片 1"/>
          <p:cNvPicPr>
            <a:picLocks noChangeAspect="1"/>
          </p:cNvPicPr>
          <p:nvPr/>
        </p:nvPicPr>
        <p:blipFill>
          <a:blip r:embed="rId6"/>
          <a:stretch>
            <a:fillRect/>
          </a:stretch>
        </p:blipFill>
        <p:spPr>
          <a:xfrm>
            <a:off x="53504" y="4189131"/>
            <a:ext cx="11391818" cy="2075254"/>
          </a:xfrm>
          <a:prstGeom prst="rect">
            <a:avLst/>
          </a:prstGeom>
        </p:spPr>
      </p:pic>
      <p:sp>
        <p:nvSpPr>
          <p:cNvPr id="6" name="矩形 5"/>
          <p:cNvSpPr/>
          <p:nvPr/>
        </p:nvSpPr>
        <p:spPr>
          <a:xfrm>
            <a:off x="4449674" y="6284833"/>
            <a:ext cx="4480474" cy="523220"/>
          </a:xfrm>
          <a:prstGeom prst="rect">
            <a:avLst/>
          </a:prstGeom>
        </p:spPr>
        <p:txBody>
          <a:bodyPr wrap="square">
            <a:spAutoFit/>
          </a:bodyPr>
          <a:lstStyle/>
          <a:p>
            <a:r>
              <a:rPr lang="en-US" altLang="zh-CN" sz="2800" dirty="0">
                <a:solidFill>
                  <a:srgbClr val="FF0000"/>
                </a:solidFill>
                <a:latin typeface="Calibri" panose="020F0502020204030204" pitchFamily="34" charset="0"/>
                <a:cs typeface="Calibri" panose="020F0502020204030204" pitchFamily="34" charset="0"/>
              </a:rPr>
              <a:t>Venn diagrams</a:t>
            </a:r>
            <a:r>
              <a:rPr lang="zh-CN" altLang="en-US" sz="2800" dirty="0">
                <a:solidFill>
                  <a:srgbClr val="FF0000"/>
                </a:solidFill>
                <a:latin typeface="Calibri" panose="020F0502020204030204" pitchFamily="34" charset="0"/>
                <a:cs typeface="Calibri" panose="020F0502020204030204" pitchFamily="34" charset="0"/>
              </a:rPr>
              <a:t>（维恩图）</a:t>
            </a:r>
          </a:p>
        </p:txBody>
      </p:sp>
    </p:spTree>
    <p:extLst>
      <p:ext uri="{BB962C8B-B14F-4D97-AF65-F5344CB8AC3E}">
        <p14:creationId xmlns:p14="http://schemas.microsoft.com/office/powerpoint/2010/main" val="577889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93040" y="1198882"/>
                <a:ext cx="11775276" cy="3712332"/>
              </a:xfrm>
            </p:spPr>
            <p:txBody>
              <a:bodyPr>
                <a:normAutofit/>
              </a:bodyPr>
              <a:lstStyle/>
              <a:p>
                <a:pPr algn="l">
                  <a:lnSpc>
                    <a:spcPct val="100000"/>
                  </a:lnSpc>
                </a:pPr>
                <a:r>
                  <a:rPr lang="en-US" altLang="zh-CN" sz="2800" dirty="0">
                    <a:solidFill>
                      <a:srgbClr val="0070C0"/>
                    </a:solidFill>
                    <a:latin typeface="Arial Black" panose="020B0A04020102020204" pitchFamily="34" charset="0"/>
                  </a:rPr>
                  <a:t>Commutative laws</a:t>
                </a:r>
              </a:p>
              <a:p>
                <a:pPr algn="l">
                  <a:lnSpc>
                    <a:spcPct val="100000"/>
                  </a:lnSpc>
                </a:pPr>
                <a14:m>
                  <m:oMathPara xmlns:m="http://schemas.openxmlformats.org/officeDocument/2006/math">
                    <m:oMathParaPr>
                      <m:jc m:val="left"/>
                    </m:oMathParaPr>
                    <m:oMath xmlns:m="http://schemas.openxmlformats.org/officeDocument/2006/math">
                      <m:r>
                        <a:rPr lang="en-US" altLang="zh-CN" sz="2800" b="0" i="1" smtClean="0">
                          <a:latin typeface="Cambria Math" panose="02040503050406030204" pitchFamily="18" charset="0"/>
                        </a:rPr>
                        <m:t>𝐸</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𝐹</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𝐹</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𝐸</m:t>
                      </m:r>
                      <m:r>
                        <a:rPr lang="en-US" altLang="zh-CN" sz="2800" b="0" i="1" smtClean="0">
                          <a:latin typeface="Cambria Math" panose="02040503050406030204" pitchFamily="18" charset="0"/>
                          <a:ea typeface="Cambria Math" panose="02040503050406030204" pitchFamily="18" charset="0"/>
                        </a:rPr>
                        <m:t>               </m:t>
                      </m:r>
                      <m:r>
                        <a:rPr lang="en-US" altLang="zh-CN" sz="2800" b="0" i="1" smtClean="0">
                          <a:latin typeface="Cambria Math" panose="02040503050406030204" pitchFamily="18" charset="0"/>
                          <a:ea typeface="Cambria Math" panose="02040503050406030204" pitchFamily="18" charset="0"/>
                        </a:rPr>
                        <m:t>𝐸𝐹</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𝐹𝐸</m:t>
                      </m:r>
                    </m:oMath>
                  </m:oMathPara>
                </a14:m>
                <a:endParaRPr lang="en-US" altLang="zh-CN" sz="2800" dirty="0"/>
              </a:p>
              <a:p>
                <a:pPr algn="l">
                  <a:lnSpc>
                    <a:spcPct val="100000"/>
                  </a:lnSpc>
                </a:pPr>
                <a:r>
                  <a:rPr lang="en-US" altLang="zh-CN" sz="2800" dirty="0">
                    <a:solidFill>
                      <a:srgbClr val="0070C0"/>
                    </a:solidFill>
                    <a:latin typeface="Arial Black" panose="020B0A04020102020204" pitchFamily="34" charset="0"/>
                  </a:rPr>
                  <a:t>Associative laws</a:t>
                </a:r>
              </a:p>
              <a:p>
                <a:pPr algn="l"/>
                <a14:m>
                  <m:oMathPara xmlns:m="http://schemas.openxmlformats.org/officeDocument/2006/math">
                    <m:oMathParaPr>
                      <m:jc m:val="left"/>
                    </m:oMathParaPr>
                    <m:oMath xmlns:m="http://schemas.openxmlformats.org/officeDocument/2006/math">
                      <m:d>
                        <m:dPr>
                          <m:ctrlPr>
                            <a:rPr lang="en-US" altLang="zh-CN" sz="2800" i="1" smtClean="0">
                              <a:latin typeface="Cambria Math" panose="02040503050406030204" pitchFamily="18" charset="0"/>
                            </a:rPr>
                          </m:ctrlPr>
                        </m:dPr>
                        <m:e>
                          <m:r>
                            <a:rPr lang="en-US" altLang="zh-CN" sz="2800" i="1">
                              <a:latin typeface="Cambria Math" panose="02040503050406030204" pitchFamily="18" charset="0"/>
                            </a:rPr>
                            <m:t>𝐸</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𝐹</m:t>
                          </m:r>
                        </m:e>
                      </m:d>
                      <m:r>
                        <a:rPr lang="en-US" altLang="zh-CN" sz="280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𝐺</m:t>
                      </m:r>
                      <m:r>
                        <a:rPr lang="en-US" altLang="zh-CN" sz="2800" i="1">
                          <a:latin typeface="Cambria Math" panose="02040503050406030204" pitchFamily="18" charset="0"/>
                        </a:rPr>
                        <m:t>=</m:t>
                      </m:r>
                      <m:r>
                        <a:rPr lang="en-US" altLang="zh-CN" sz="2800" b="0" i="1" smtClean="0">
                          <a:latin typeface="Cambria Math" panose="02040503050406030204" pitchFamily="18" charset="0"/>
                        </a:rPr>
                        <m:t>𝐸</m:t>
                      </m:r>
                      <m:r>
                        <a:rPr lang="en-US" altLang="zh-CN" sz="2800" b="0" i="1" smtClean="0">
                          <a:latin typeface="Cambria Math" panose="02040503050406030204" pitchFamily="18" charset="0"/>
                          <a:ea typeface="Cambria Math" panose="02040503050406030204" pitchFamily="18" charset="0"/>
                        </a:rPr>
                        <m:t>∪</m:t>
                      </m:r>
                      <m:d>
                        <m:dPr>
                          <m:ctrlPr>
                            <a:rPr lang="en-US" altLang="zh-CN" sz="2800" b="0" i="1" smtClean="0">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rPr>
                            <m:t>𝐹</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𝐺</m:t>
                          </m:r>
                        </m:e>
                      </m:d>
                      <m:r>
                        <a:rPr lang="en-US" altLang="zh-CN" sz="2800" b="0" i="1" smtClean="0">
                          <a:latin typeface="Cambria Math" panose="02040503050406030204" pitchFamily="18" charset="0"/>
                          <a:ea typeface="Cambria Math" panose="02040503050406030204" pitchFamily="18" charset="0"/>
                        </a:rPr>
                        <m:t>          </m:t>
                      </m:r>
                      <m:d>
                        <m:dPr>
                          <m:ctrlPr>
                            <a:rPr lang="en-US" altLang="zh-CN" sz="2800" b="0" i="1" smtClean="0">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𝐸𝐹</m:t>
                          </m:r>
                        </m:e>
                      </m:d>
                      <m:r>
                        <a:rPr lang="en-US" altLang="zh-CN" sz="2800" b="0" i="1" smtClean="0">
                          <a:latin typeface="Cambria Math" panose="02040503050406030204" pitchFamily="18" charset="0"/>
                          <a:ea typeface="Cambria Math" panose="02040503050406030204" pitchFamily="18" charset="0"/>
                        </a:rPr>
                        <m:t>𝐺</m:t>
                      </m:r>
                      <m:r>
                        <a:rPr lang="en-US" altLang="zh-CN" sz="2800" i="1">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𝐸</m:t>
                      </m:r>
                      <m:d>
                        <m:dPr>
                          <m:ctrlPr>
                            <a:rPr lang="en-US" altLang="zh-CN" sz="2800" b="0" i="1" smtClean="0">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𝐹</m:t>
                          </m:r>
                          <m:r>
                            <a:rPr lang="en-US" altLang="zh-CN" sz="2800" b="0" i="1" smtClean="0">
                              <a:latin typeface="Cambria Math" panose="02040503050406030204" pitchFamily="18" charset="0"/>
                              <a:ea typeface="Cambria Math" panose="02040503050406030204" pitchFamily="18" charset="0"/>
                            </a:rPr>
                            <m:t>𝐺</m:t>
                          </m:r>
                          <m:r>
                            <m:rPr>
                              <m:nor/>
                            </m:rPr>
                            <a:rPr lang="en-US" altLang="zh-CN" sz="2800" dirty="0"/>
                            <m:t> </m:t>
                          </m:r>
                        </m:e>
                      </m:d>
                    </m:oMath>
                  </m:oMathPara>
                </a14:m>
                <a:endParaRPr lang="en-US" altLang="zh-CN" sz="2800" dirty="0"/>
              </a:p>
              <a:p>
                <a:pPr algn="l">
                  <a:lnSpc>
                    <a:spcPct val="100000"/>
                  </a:lnSpc>
                </a:pPr>
                <a:r>
                  <a:rPr lang="en-US" altLang="zh-CN" sz="2800" dirty="0">
                    <a:solidFill>
                      <a:srgbClr val="0070C0"/>
                    </a:solidFill>
                    <a:latin typeface="Arial Black" panose="020B0A04020102020204" pitchFamily="34" charset="0"/>
                  </a:rPr>
                  <a:t>Distributive laws</a:t>
                </a:r>
              </a:p>
              <a:p>
                <a:pPr algn="l">
                  <a:lnSpc>
                    <a:spcPct val="100000"/>
                  </a:lnSpc>
                </a:pPr>
                <a14:m>
                  <m:oMathPara xmlns:m="http://schemas.openxmlformats.org/officeDocument/2006/math">
                    <m:oMathParaPr>
                      <m:jc m:val="left"/>
                    </m:oMathParaPr>
                    <m:oMath xmlns:m="http://schemas.openxmlformats.org/officeDocument/2006/math">
                      <m:d>
                        <m:dPr>
                          <m:ctrlPr>
                            <a:rPr lang="en-US" altLang="zh-CN" sz="2800" i="1">
                              <a:latin typeface="Cambria Math" panose="02040503050406030204" pitchFamily="18" charset="0"/>
                            </a:rPr>
                          </m:ctrlPr>
                        </m:dPr>
                        <m:e>
                          <m:r>
                            <a:rPr lang="en-US" altLang="zh-CN" sz="2800" i="1">
                              <a:latin typeface="Cambria Math" panose="02040503050406030204" pitchFamily="18" charset="0"/>
                            </a:rPr>
                            <m:t>𝐸</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𝐹</m:t>
                          </m:r>
                        </m:e>
                      </m:d>
                      <m:r>
                        <a:rPr lang="en-US" altLang="zh-CN" sz="2800" i="1">
                          <a:latin typeface="Cambria Math" panose="02040503050406030204" pitchFamily="18" charset="0"/>
                          <a:ea typeface="Cambria Math" panose="02040503050406030204" pitchFamily="18" charset="0"/>
                        </a:rPr>
                        <m:t>𝐺</m:t>
                      </m:r>
                      <m:r>
                        <a:rPr lang="en-US" altLang="zh-CN" sz="2800" i="1">
                          <a:latin typeface="Cambria Math" panose="02040503050406030204" pitchFamily="18" charset="0"/>
                        </a:rPr>
                        <m:t>=</m:t>
                      </m:r>
                      <m:r>
                        <a:rPr lang="en-US" altLang="zh-CN" sz="2800" i="1">
                          <a:latin typeface="Cambria Math" panose="02040503050406030204" pitchFamily="18" charset="0"/>
                        </a:rPr>
                        <m:t>𝐸𝐺</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rPr>
                        <m:t>𝐹</m:t>
                      </m:r>
                      <m:r>
                        <a:rPr lang="en-US" altLang="zh-CN" sz="2800" i="1">
                          <a:latin typeface="Cambria Math" panose="02040503050406030204" pitchFamily="18" charset="0"/>
                          <a:ea typeface="Cambria Math" panose="02040503050406030204" pitchFamily="18" charset="0"/>
                        </a:rPr>
                        <m:t>𝐺</m:t>
                      </m:r>
                      <m:r>
                        <a:rPr lang="en-US" altLang="zh-CN" sz="2800" b="0" i="1" smtClean="0">
                          <a:latin typeface="Cambria Math" panose="02040503050406030204" pitchFamily="18" charset="0"/>
                          <a:ea typeface="Cambria Math" panose="02040503050406030204" pitchFamily="18" charset="0"/>
                        </a:rPr>
                        <m:t>      </m:t>
                      </m:r>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𝐸𝐹</m:t>
                          </m:r>
                        </m:e>
                      </m:d>
                      <m:r>
                        <a:rPr lang="en-US" altLang="zh-CN" sz="2800" i="1" smtClean="0">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𝐺</m:t>
                      </m:r>
                      <m:r>
                        <a:rPr lang="en-US" altLang="zh-CN" sz="2800" i="1">
                          <a:latin typeface="Cambria Math" panose="02040503050406030204" pitchFamily="18" charset="0"/>
                          <a:ea typeface="Cambria Math" panose="02040503050406030204" pitchFamily="18" charset="0"/>
                        </a:rPr>
                        <m:t>=</m:t>
                      </m:r>
                      <m:d>
                        <m:dPr>
                          <m:ctrlPr>
                            <a:rPr lang="en-US" altLang="zh-CN" sz="2800" i="1" smtClean="0">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𝐸</m:t>
                          </m:r>
                          <m:r>
                            <a:rPr lang="en-US" altLang="zh-CN" sz="280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𝐺</m:t>
                          </m:r>
                        </m:e>
                      </m:d>
                      <m:d>
                        <m:dPr>
                          <m:ctrlPr>
                            <a:rPr lang="en-US" altLang="zh-CN" sz="2800" i="1">
                              <a:latin typeface="Cambria Math" panose="02040503050406030204" pitchFamily="18" charset="0"/>
                              <a:ea typeface="Cambria Math" panose="02040503050406030204" pitchFamily="18" charset="0"/>
                            </a:rPr>
                          </m:ctrlPr>
                        </m:dPr>
                        <m:e>
                          <m:r>
                            <a:rPr lang="en-US" altLang="zh-CN" sz="2800" i="1">
                              <a:latin typeface="Cambria Math" panose="02040503050406030204" pitchFamily="18" charset="0"/>
                              <a:ea typeface="Cambria Math" panose="02040503050406030204" pitchFamily="18" charset="0"/>
                            </a:rPr>
                            <m:t>𝐹</m:t>
                          </m:r>
                          <m:r>
                            <a:rPr lang="en-US" altLang="zh-CN" sz="2800" i="1" smtClean="0">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𝐺</m:t>
                          </m:r>
                          <m:r>
                            <m:rPr>
                              <m:nor/>
                            </m:rPr>
                            <a:rPr lang="en-US" altLang="zh-CN" sz="2800" dirty="0"/>
                            <m:t> </m:t>
                          </m:r>
                        </m:e>
                      </m:d>
                    </m:oMath>
                  </m:oMathPara>
                </a14:m>
                <a:endParaRPr lang="en-US" altLang="zh-CN" sz="2800" dirty="0">
                  <a:solidFill>
                    <a:srgbClr val="0070C0"/>
                  </a:solidFill>
                  <a:latin typeface="Arial Black" panose="020B0A04020102020204" pitchFamily="34" charset="0"/>
                </a:endParaRPr>
              </a:p>
              <a:p>
                <a:pPr algn="l">
                  <a:lnSpc>
                    <a:spcPct val="100000"/>
                  </a:lnSpc>
                </a:pPr>
                <a:endParaRPr lang="en-US" altLang="zh-CN" sz="2800" dirty="0">
                  <a:solidFill>
                    <a:srgbClr val="0070C0"/>
                  </a:solidFill>
                  <a:latin typeface="Arial Black" panose="020B0A04020102020204" pitchFamily="34" charset="0"/>
                </a:endParaRPr>
              </a:p>
              <a:p>
                <a:pPr algn="l"/>
                <a:endParaRPr lang="en-US" altLang="zh-CN" sz="2800"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93040" y="1198882"/>
                <a:ext cx="11775276" cy="3712332"/>
              </a:xfrm>
              <a:blipFill>
                <a:blip r:embed="rId3"/>
                <a:stretch>
                  <a:fillRect l="-1088" t="-1806"/>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pic>
        <p:nvPicPr>
          <p:cNvPr id="2" name="图片 1"/>
          <p:cNvPicPr>
            <a:picLocks noChangeAspect="1"/>
          </p:cNvPicPr>
          <p:nvPr/>
        </p:nvPicPr>
        <p:blipFill>
          <a:blip r:embed="rId6"/>
          <a:stretch>
            <a:fillRect/>
          </a:stretch>
        </p:blipFill>
        <p:spPr>
          <a:xfrm>
            <a:off x="8156384" y="1247759"/>
            <a:ext cx="3907796" cy="3532901"/>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8931305" y="5041099"/>
                <a:ext cx="235795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altLang="zh-CN" i="1">
                              <a:latin typeface="Cambria Math" panose="02040503050406030204" pitchFamily="18" charset="0"/>
                            </a:rPr>
                          </m:ctrlPr>
                        </m:dPr>
                        <m:e>
                          <m:r>
                            <a:rPr lang="en-US" altLang="zh-CN" i="1">
                              <a:latin typeface="Cambria Math" panose="02040503050406030204" pitchFamily="18" charset="0"/>
                            </a:rPr>
                            <m:t>𝐸</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𝐹</m:t>
                          </m:r>
                        </m:e>
                      </m:d>
                      <m:r>
                        <a:rPr lang="en-US" altLang="zh-CN" i="1">
                          <a:latin typeface="Cambria Math" panose="02040503050406030204" pitchFamily="18" charset="0"/>
                          <a:ea typeface="Cambria Math" panose="02040503050406030204" pitchFamily="18" charset="0"/>
                        </a:rPr>
                        <m:t>𝐺</m:t>
                      </m:r>
                      <m:r>
                        <a:rPr lang="en-US" altLang="zh-CN" i="1">
                          <a:latin typeface="Cambria Math" panose="02040503050406030204" pitchFamily="18" charset="0"/>
                        </a:rPr>
                        <m:t>=</m:t>
                      </m:r>
                      <m:r>
                        <a:rPr lang="en-US" altLang="zh-CN" i="1">
                          <a:latin typeface="Cambria Math" panose="02040503050406030204" pitchFamily="18" charset="0"/>
                        </a:rPr>
                        <m:t>𝐸𝐺</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𝐹</m:t>
                      </m:r>
                      <m:r>
                        <a:rPr lang="en-US" altLang="zh-CN" i="1">
                          <a:latin typeface="Cambria Math" panose="02040503050406030204" pitchFamily="18" charset="0"/>
                          <a:ea typeface="Cambria Math" panose="02040503050406030204" pitchFamily="18" charset="0"/>
                        </a:rPr>
                        <m:t>𝐺</m:t>
                      </m:r>
                      <m:r>
                        <a:rPr lang="en-US" altLang="zh-CN" i="1">
                          <a:latin typeface="Cambria Math" panose="02040503050406030204" pitchFamily="18" charset="0"/>
                          <a:ea typeface="Cambria Math" panose="02040503050406030204" pitchFamily="18" charset="0"/>
                        </a:rPr>
                        <m:t> </m:t>
                      </m:r>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8931305" y="5041099"/>
                <a:ext cx="2357953" cy="369332"/>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56251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93040" y="1198881"/>
                <a:ext cx="11775276" cy="5659119"/>
              </a:xfrm>
            </p:spPr>
            <p:txBody>
              <a:bodyPr>
                <a:normAutofit/>
              </a:bodyPr>
              <a:lstStyle/>
              <a:p>
                <a:pPr algn="l">
                  <a:lnSpc>
                    <a:spcPct val="100000"/>
                  </a:lnSpc>
                </a:pPr>
                <a:r>
                  <a:rPr lang="en-US" altLang="zh-CN" sz="2800" dirty="0">
                    <a:solidFill>
                      <a:srgbClr val="0070C0"/>
                    </a:solidFill>
                    <a:latin typeface="Arial Black" panose="020B0A04020102020204" pitchFamily="34" charset="0"/>
                  </a:rPr>
                  <a:t>De Morgan's laws</a:t>
                </a:r>
              </a:p>
              <a:p>
                <a:pPr algn="l">
                  <a:lnSpc>
                    <a:spcPct val="100000"/>
                  </a:lnSpc>
                </a:pPr>
                <a14:m>
                  <m:oMathPara xmlns:m="http://schemas.openxmlformats.org/officeDocument/2006/math">
                    <m:oMathParaPr>
                      <m:jc m:val="centerGroup"/>
                    </m:oMathParaPr>
                    <m:oMath xmlns:m="http://schemas.openxmlformats.org/officeDocument/2006/math">
                      <m:sSup>
                        <m:sSupPr>
                          <m:ctrlPr>
                            <a:rPr lang="en-US" altLang="zh-CN" sz="2800" b="0" i="1" smtClean="0">
                              <a:latin typeface="Cambria Math" panose="02040503050406030204" pitchFamily="18" charset="0"/>
                            </a:rPr>
                          </m:ctrlPr>
                        </m:sSupPr>
                        <m:e>
                          <m:d>
                            <m:dPr>
                              <m:ctrlPr>
                                <a:rPr lang="en-US" altLang="zh-CN" sz="2800" i="1" smtClean="0">
                                  <a:latin typeface="Cambria Math" panose="02040503050406030204" pitchFamily="18" charset="0"/>
                                </a:rPr>
                              </m:ctrlPr>
                            </m:dPr>
                            <m:e>
                              <m:nary>
                                <m:naryPr>
                                  <m:chr m:val="⋃"/>
                                  <m:ctrlPr>
                                    <a:rPr lang="en-US" altLang="zh-CN" sz="2800" i="1" smtClean="0">
                                      <a:latin typeface="Cambria Math" panose="02040503050406030204" pitchFamily="18" charset="0"/>
                                    </a:rPr>
                                  </m:ctrlPr>
                                </m:naryPr>
                                <m:sub>
                                  <m:r>
                                    <m:rPr>
                                      <m:brk m:alnAt="23"/>
                                    </m:rP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=1</m:t>
                                  </m:r>
                                </m:sub>
                                <m:sup>
                                  <m:r>
                                    <a:rPr lang="en-US" altLang="zh-CN" sz="2800" b="0" i="1" smtClean="0">
                                      <a:latin typeface="Cambria Math" panose="02040503050406030204" pitchFamily="18" charset="0"/>
                                    </a:rPr>
                                    <m:t>𝑛</m:t>
                                  </m:r>
                                </m:sup>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𝐴</m:t>
                                      </m:r>
                                    </m:e>
                                    <m:sub>
                                      <m:r>
                                        <a:rPr lang="en-US" altLang="zh-CN" sz="2800" b="0" i="1" smtClean="0">
                                          <a:latin typeface="Cambria Math" panose="02040503050406030204" pitchFamily="18" charset="0"/>
                                        </a:rPr>
                                        <m:t>𝑖</m:t>
                                      </m:r>
                                    </m:sub>
                                  </m:sSub>
                                </m:e>
                              </m:nary>
                            </m:e>
                          </m:d>
                        </m:e>
                        <m:sup>
                          <m:r>
                            <a:rPr lang="en-US" altLang="zh-CN" sz="2800" b="0" i="1" smtClean="0">
                              <a:latin typeface="Cambria Math" panose="02040503050406030204" pitchFamily="18" charset="0"/>
                            </a:rPr>
                            <m:t>′</m:t>
                          </m:r>
                        </m:sup>
                      </m:sSup>
                      <m:r>
                        <a:rPr lang="en-US" altLang="zh-CN" sz="2800" b="0" i="1" smtClean="0">
                          <a:latin typeface="Cambria Math" panose="02040503050406030204" pitchFamily="18" charset="0"/>
                        </a:rPr>
                        <m:t>=</m:t>
                      </m:r>
                      <m:nary>
                        <m:naryPr>
                          <m:chr m:val="⋂"/>
                          <m:ctrlPr>
                            <a:rPr lang="en-US" altLang="zh-CN" sz="2800" b="0" i="1" smtClean="0">
                              <a:latin typeface="Cambria Math" panose="02040503050406030204" pitchFamily="18" charset="0"/>
                            </a:rPr>
                          </m:ctrlPr>
                        </m:naryPr>
                        <m:sub>
                          <m:r>
                            <m:rPr>
                              <m:brk m:alnAt="23"/>
                            </m:rP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=1</m:t>
                          </m:r>
                        </m:sub>
                        <m:sup>
                          <m:r>
                            <a:rPr lang="en-US" altLang="zh-CN" sz="2800" b="0" i="1" smtClean="0">
                              <a:latin typeface="Cambria Math" panose="02040503050406030204" pitchFamily="18" charset="0"/>
                            </a:rPr>
                            <m:t>𝑛</m:t>
                          </m:r>
                        </m:sup>
                        <m:e>
                          <m:sSubSup>
                            <m:sSubSupPr>
                              <m:ctrlPr>
                                <a:rPr lang="en-US" altLang="zh-CN" sz="2800" b="0" i="1" smtClean="0">
                                  <a:latin typeface="Cambria Math" panose="02040503050406030204" pitchFamily="18" charset="0"/>
                                </a:rPr>
                              </m:ctrlPr>
                            </m:sSubSupPr>
                            <m:e>
                              <m:r>
                                <a:rPr lang="en-US" altLang="zh-CN" sz="2800" b="0" i="1" smtClean="0">
                                  <a:latin typeface="Cambria Math" panose="02040503050406030204" pitchFamily="18" charset="0"/>
                                </a:rPr>
                                <m:t>𝐴</m:t>
                              </m:r>
                            </m:e>
                            <m:sub>
                              <m:r>
                                <a:rPr lang="en-US" altLang="zh-CN" sz="2800" b="0" i="1" smtClean="0">
                                  <a:latin typeface="Cambria Math" panose="02040503050406030204" pitchFamily="18" charset="0"/>
                                </a:rPr>
                                <m:t>𝑖</m:t>
                              </m:r>
                            </m:sub>
                            <m:sup>
                              <m:r>
                                <a:rPr lang="en-US" altLang="zh-CN" sz="2800" b="0" i="1" smtClean="0">
                                  <a:latin typeface="Cambria Math" panose="02040503050406030204" pitchFamily="18" charset="0"/>
                                </a:rPr>
                                <m:t>′</m:t>
                              </m:r>
                            </m:sup>
                          </m:sSubSup>
                        </m:e>
                      </m:nary>
                    </m:oMath>
                  </m:oMathPara>
                </a14:m>
                <a:endParaRPr lang="en-US" altLang="zh-CN" sz="2800" dirty="0"/>
              </a:p>
              <a:p>
                <a:pPr algn="l"/>
                <a:endParaRPr lang="en-US" altLang="zh-CN" sz="2800" dirty="0"/>
              </a:p>
              <a:p>
                <a:pPr algn="l"/>
                <a14:m>
                  <m:oMathPara xmlns:m="http://schemas.openxmlformats.org/officeDocument/2006/math">
                    <m:oMathParaPr>
                      <m:jc m:val="centerGroup"/>
                    </m:oMathParaPr>
                    <m:oMath xmlns:m="http://schemas.openxmlformats.org/officeDocument/2006/math">
                      <m:sSup>
                        <m:sSupPr>
                          <m:ctrlPr>
                            <a:rPr lang="en-US" altLang="zh-CN" sz="2800" i="1">
                              <a:latin typeface="Cambria Math" panose="02040503050406030204" pitchFamily="18" charset="0"/>
                            </a:rPr>
                          </m:ctrlPr>
                        </m:sSupPr>
                        <m:e>
                          <m:d>
                            <m:dPr>
                              <m:ctrlPr>
                                <a:rPr lang="en-US" altLang="zh-CN" sz="2800" i="1">
                                  <a:latin typeface="Cambria Math" panose="02040503050406030204" pitchFamily="18" charset="0"/>
                                </a:rPr>
                              </m:ctrlPr>
                            </m:dPr>
                            <m:e>
                              <m:nary>
                                <m:naryPr>
                                  <m:chr m:val="⋂"/>
                                  <m:ctrlPr>
                                    <a:rPr lang="en-US" altLang="zh-CN" sz="2800" i="1" smtClean="0">
                                      <a:latin typeface="Cambria Math" panose="02040503050406030204" pitchFamily="18" charset="0"/>
                                    </a:rPr>
                                  </m:ctrlPr>
                                </m:naryPr>
                                <m:sub>
                                  <m:r>
                                    <m:rPr>
                                      <m:brk m:alnAt="23"/>
                                    </m:rPr>
                                    <a:rPr lang="en-US" altLang="zh-CN" sz="2800" i="1">
                                      <a:latin typeface="Cambria Math" panose="02040503050406030204" pitchFamily="18" charset="0"/>
                                    </a:rPr>
                                    <m:t>𝑖</m:t>
                                  </m:r>
                                  <m:r>
                                    <a:rPr lang="en-US" altLang="zh-CN" sz="2800" i="1">
                                      <a:latin typeface="Cambria Math" panose="02040503050406030204" pitchFamily="18" charset="0"/>
                                    </a:rPr>
                                    <m:t>=1</m:t>
                                  </m:r>
                                </m:sub>
                                <m:sup>
                                  <m:r>
                                    <a:rPr lang="en-US" altLang="zh-CN" sz="2800" i="1">
                                      <a:latin typeface="Cambria Math" panose="02040503050406030204" pitchFamily="18" charset="0"/>
                                    </a:rPr>
                                    <m:t>𝑛</m:t>
                                  </m:r>
                                </m:sup>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𝐴</m:t>
                                      </m:r>
                                    </m:e>
                                    <m:sub>
                                      <m:r>
                                        <a:rPr lang="en-US" altLang="zh-CN" sz="2800" i="1">
                                          <a:latin typeface="Cambria Math" panose="02040503050406030204" pitchFamily="18" charset="0"/>
                                        </a:rPr>
                                        <m:t>𝑖</m:t>
                                      </m:r>
                                    </m:sub>
                                  </m:sSub>
                                </m:e>
                              </m:nary>
                            </m:e>
                          </m:d>
                        </m:e>
                        <m:sup>
                          <m:r>
                            <a:rPr lang="en-US" altLang="zh-CN" sz="2800" b="0" i="1" smtClean="0">
                              <a:latin typeface="Cambria Math" panose="02040503050406030204" pitchFamily="18" charset="0"/>
                            </a:rPr>
                            <m:t>′</m:t>
                          </m:r>
                        </m:sup>
                      </m:sSup>
                      <m:r>
                        <a:rPr lang="en-US" altLang="zh-CN" sz="2800" i="1">
                          <a:latin typeface="Cambria Math" panose="02040503050406030204" pitchFamily="18" charset="0"/>
                        </a:rPr>
                        <m:t>=</m:t>
                      </m:r>
                      <m:nary>
                        <m:naryPr>
                          <m:chr m:val="⋃"/>
                          <m:ctrlPr>
                            <a:rPr lang="en-US" altLang="zh-CN" sz="2800" i="1" smtClean="0">
                              <a:latin typeface="Cambria Math" panose="02040503050406030204" pitchFamily="18" charset="0"/>
                            </a:rPr>
                          </m:ctrlPr>
                        </m:naryPr>
                        <m:sub>
                          <m:r>
                            <m:rPr>
                              <m:brk m:alnAt="23"/>
                            </m:rPr>
                            <a:rPr lang="en-US" altLang="zh-CN" sz="2800" i="1">
                              <a:latin typeface="Cambria Math" panose="02040503050406030204" pitchFamily="18" charset="0"/>
                            </a:rPr>
                            <m:t>𝑖</m:t>
                          </m:r>
                          <m:r>
                            <a:rPr lang="en-US" altLang="zh-CN" sz="2800" i="1">
                              <a:latin typeface="Cambria Math" panose="02040503050406030204" pitchFamily="18" charset="0"/>
                            </a:rPr>
                            <m:t>=1</m:t>
                          </m:r>
                        </m:sub>
                        <m:sup>
                          <m:r>
                            <a:rPr lang="en-US" altLang="zh-CN" sz="2800" i="1">
                              <a:latin typeface="Cambria Math" panose="02040503050406030204" pitchFamily="18" charset="0"/>
                            </a:rPr>
                            <m:t>𝑛</m:t>
                          </m:r>
                        </m:sup>
                        <m:e>
                          <m:sSubSup>
                            <m:sSubSupPr>
                              <m:ctrlPr>
                                <a:rPr lang="en-US" altLang="zh-CN" sz="2800" i="1">
                                  <a:latin typeface="Cambria Math" panose="02040503050406030204" pitchFamily="18" charset="0"/>
                                </a:rPr>
                              </m:ctrlPr>
                            </m:sSubSupPr>
                            <m:e>
                              <m:r>
                                <a:rPr lang="en-US" altLang="zh-CN" sz="2800" i="1">
                                  <a:latin typeface="Cambria Math" panose="02040503050406030204" pitchFamily="18" charset="0"/>
                                </a:rPr>
                                <m:t>𝐴</m:t>
                              </m:r>
                            </m:e>
                            <m:sub>
                              <m:r>
                                <a:rPr lang="en-US" altLang="zh-CN" sz="2800" i="1">
                                  <a:latin typeface="Cambria Math" panose="02040503050406030204" pitchFamily="18" charset="0"/>
                                </a:rPr>
                                <m:t>𝑖</m:t>
                              </m:r>
                            </m:sub>
                            <m:sup>
                              <m:r>
                                <a:rPr lang="en-US" altLang="zh-CN" sz="2800" b="0" i="1" smtClean="0">
                                  <a:latin typeface="Cambria Math" panose="02040503050406030204" pitchFamily="18" charset="0"/>
                                </a:rPr>
                                <m:t>′</m:t>
                              </m:r>
                            </m:sup>
                          </m:sSubSup>
                        </m:e>
                      </m:nary>
                    </m:oMath>
                  </m:oMathPara>
                </a14:m>
                <a:endParaRPr lang="en-US" altLang="zh-CN" sz="2800" dirty="0"/>
              </a:p>
              <a:p>
                <a:pPr algn="l"/>
                <a:endParaRPr lang="en-US" altLang="zh-CN" sz="2800" dirty="0"/>
              </a:p>
              <a:p>
                <a:pPr algn="l"/>
                <a:endParaRPr lang="en-US" altLang="zh-CN" sz="2800"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93040" y="1198881"/>
                <a:ext cx="11775276" cy="5659119"/>
              </a:xfrm>
              <a:blipFill>
                <a:blip r:embed="rId3"/>
                <a:stretch>
                  <a:fillRect l="-1088" t="-1185"/>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317707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93040" y="1122398"/>
                <a:ext cx="11649915" cy="5610240"/>
              </a:xfrm>
            </p:spPr>
            <p:txBody>
              <a:bodyPr>
                <a:normAutofit/>
              </a:bodyPr>
              <a:lstStyle/>
              <a:p>
                <a:pPr algn="l">
                  <a:lnSpc>
                    <a:spcPct val="100000"/>
                  </a:lnSpc>
                </a:pPr>
                <a:r>
                  <a:rPr lang="en-US" altLang="zh-CN" sz="2800" dirty="0">
                    <a:solidFill>
                      <a:srgbClr val="0070C0"/>
                    </a:solidFill>
                    <a:latin typeface="Arial Black" panose="020B0A04020102020204" pitchFamily="34" charset="0"/>
                  </a:rPr>
                  <a:t>Example 2.3 </a:t>
                </a:r>
              </a:p>
              <a:p>
                <a:pPr algn="l">
                  <a:lnSpc>
                    <a:spcPct val="100000"/>
                  </a:lnSpc>
                </a:pPr>
                <a:r>
                  <a:rPr lang="en-US" altLang="zh-CN" sz="2800" dirty="0"/>
                  <a:t>Let </a:t>
                </a:r>
                <a14:m>
                  <m:oMath xmlns:m="http://schemas.openxmlformats.org/officeDocument/2006/math">
                    <m:r>
                      <a:rPr lang="en-US" altLang="zh-CN" sz="2800" i="1" dirty="0">
                        <a:solidFill>
                          <a:prstClr val="black"/>
                        </a:solidFill>
                        <a:latin typeface="Cambria Math" panose="02040503050406030204" pitchFamily="18" charset="0"/>
                      </a:rPr>
                      <m:t>𝑆</m:t>
                    </m:r>
                    <m:r>
                      <a:rPr lang="en-US" altLang="zh-CN" sz="2800" i="1" dirty="0">
                        <a:solidFill>
                          <a:prstClr val="black"/>
                        </a:solidFill>
                        <a:latin typeface="Cambria Math" panose="02040503050406030204" pitchFamily="18" charset="0"/>
                      </a:rPr>
                      <m:t>=</m:t>
                    </m:r>
                    <m:d>
                      <m:dPr>
                        <m:begChr m:val="{"/>
                        <m:endChr m:val="}"/>
                        <m:ctrlPr>
                          <a:rPr lang="en-US" altLang="zh-CN" sz="2800" i="1" dirty="0">
                            <a:solidFill>
                              <a:prstClr val="black"/>
                            </a:solidFill>
                            <a:latin typeface="Cambria Math" panose="02040503050406030204" pitchFamily="18" charset="0"/>
                          </a:rPr>
                        </m:ctrlPr>
                      </m:dPr>
                      <m:e>
                        <m:r>
                          <a:rPr lang="en-US" altLang="zh-CN" sz="2800" i="1" dirty="0">
                            <a:solidFill>
                              <a:prstClr val="black"/>
                            </a:solidFill>
                            <a:latin typeface="Cambria Math" panose="02040503050406030204" pitchFamily="18" charset="0"/>
                          </a:rPr>
                          <m:t>0, 1, 2, 3, 4, 5, 6</m:t>
                        </m:r>
                      </m:e>
                    </m:d>
                    <m:r>
                      <a:rPr lang="en-US" altLang="zh-CN" sz="2800" b="0" i="1" dirty="0" smtClean="0">
                        <a:solidFill>
                          <a:prstClr val="black"/>
                        </a:solidFill>
                        <a:latin typeface="Cambria Math" panose="02040503050406030204" pitchFamily="18" charset="0"/>
                      </a:rPr>
                      <m:t>,</m:t>
                    </m:r>
                  </m:oMath>
                </a14:m>
                <a:r>
                  <a:rPr lang="en-US" altLang="zh-CN" sz="2800" dirty="0"/>
                  <a:t> </a:t>
                </a:r>
                <a14:m>
                  <m:oMath xmlns:m="http://schemas.openxmlformats.org/officeDocument/2006/math">
                    <m:r>
                      <a:rPr lang="en-US" altLang="zh-CN" sz="2800" i="1" dirty="0" smtClean="0">
                        <a:latin typeface="Cambria Math" panose="02040503050406030204" pitchFamily="18" charset="0"/>
                      </a:rPr>
                      <m:t>𝐴</m:t>
                    </m:r>
                    <m:r>
                      <a:rPr lang="en-US" altLang="zh-CN" sz="2800" b="0" i="1" dirty="0" smtClean="0">
                        <a:latin typeface="Cambria Math" panose="02040503050406030204" pitchFamily="18" charset="0"/>
                      </a:rPr>
                      <m:t>=</m:t>
                    </m:r>
                    <m:d>
                      <m:dPr>
                        <m:begChr m:val="{"/>
                        <m:endChr m:val="}"/>
                        <m:ctrlPr>
                          <a:rPr lang="en-US" altLang="zh-CN" sz="2800" i="1" dirty="0">
                            <a:latin typeface="Cambria Math" panose="02040503050406030204" pitchFamily="18" charset="0"/>
                          </a:rPr>
                        </m:ctrlPr>
                      </m:dPr>
                      <m:e>
                        <m:r>
                          <a:rPr lang="en-US" altLang="zh-CN" sz="2800" i="1" dirty="0">
                            <a:latin typeface="Cambria Math" panose="02040503050406030204" pitchFamily="18" charset="0"/>
                          </a:rPr>
                          <m:t>0, 1, 2, 3, 4</m:t>
                        </m:r>
                      </m:e>
                    </m:d>
                    <m:r>
                      <a:rPr lang="en-US" altLang="zh-CN" sz="2800" i="1" dirty="0">
                        <a:latin typeface="Cambria Math" panose="02040503050406030204" pitchFamily="18" charset="0"/>
                      </a:rPr>
                      <m:t>, </m:t>
                    </m:r>
                    <m:r>
                      <a:rPr lang="en-US" altLang="zh-CN" sz="2800" i="1" dirty="0" smtClean="0">
                        <a:latin typeface="Cambria Math" panose="02040503050406030204" pitchFamily="18" charset="0"/>
                      </a:rPr>
                      <m:t>𝐵</m:t>
                    </m:r>
                    <m:r>
                      <a:rPr lang="en-US" altLang="zh-CN" sz="2800" b="0" i="1" dirty="0" smtClean="0">
                        <a:latin typeface="Cambria Math" panose="02040503050406030204" pitchFamily="18" charset="0"/>
                      </a:rPr>
                      <m:t>=</m:t>
                    </m:r>
                    <m:r>
                      <a:rPr lang="en-US" altLang="zh-CN" sz="2800" i="1" dirty="0" smtClean="0">
                        <a:latin typeface="Cambria Math" panose="02040503050406030204" pitchFamily="18" charset="0"/>
                      </a:rPr>
                      <m:t>{3, 4, 5, 6}</m:t>
                    </m:r>
                  </m:oMath>
                </a14:m>
                <a:r>
                  <a:rPr lang="en-US" altLang="zh-CN" sz="2800" dirty="0"/>
                  <a:t>, and </a:t>
                </a:r>
                <a14:m>
                  <m:oMath xmlns:m="http://schemas.openxmlformats.org/officeDocument/2006/math">
                    <m:r>
                      <a:rPr lang="en-US" altLang="zh-CN" sz="2800" i="1" dirty="0" smtClean="0">
                        <a:latin typeface="Cambria Math" panose="02040503050406030204" pitchFamily="18" charset="0"/>
                      </a:rPr>
                      <m:t>𝐶</m:t>
                    </m:r>
                    <m:r>
                      <a:rPr lang="en-US" altLang="zh-CN" sz="2800" b="0" i="1" dirty="0" smtClean="0">
                        <a:latin typeface="Cambria Math" panose="02040503050406030204" pitchFamily="18" charset="0"/>
                      </a:rPr>
                      <m:t>=</m:t>
                    </m:r>
                    <m:r>
                      <a:rPr lang="en-US" altLang="zh-CN" sz="2800" i="1" dirty="0" smtClean="0">
                        <a:latin typeface="Cambria Math" panose="02040503050406030204" pitchFamily="18" charset="0"/>
                      </a:rPr>
                      <m:t>{1, 3, 5}. </m:t>
                    </m:r>
                  </m:oMath>
                </a14:m>
                <a:endParaRPr lang="en-US" altLang="zh-CN" sz="2800" dirty="0"/>
              </a:p>
              <a:p>
                <a:pPr algn="l">
                  <a:lnSpc>
                    <a:spcPct val="100000"/>
                  </a:lnSpc>
                </a:pPr>
                <a:r>
                  <a:rPr lang="en-US" altLang="zh-CN" sz="2800" dirty="0"/>
                  <a:t>Then</a:t>
                </a:r>
              </a:p>
              <a:p>
                <a:pPr>
                  <a:lnSpc>
                    <a:spcPct val="100000"/>
                  </a:lnSpc>
                </a:pPr>
                <a14:m>
                  <m:oMathPara xmlns:m="http://schemas.openxmlformats.org/officeDocument/2006/math">
                    <m:oMathParaPr>
                      <m:jc m:val="centerGroup"/>
                    </m:oMathParaPr>
                    <m:oMath xmlns:m="http://schemas.openxmlformats.org/officeDocument/2006/math">
                      <m:sSup>
                        <m:sSupPr>
                          <m:ctrlPr>
                            <a:rPr lang="en-US" altLang="zh-CN" sz="2800" b="0" i="1" dirty="0" smtClean="0">
                              <a:latin typeface="Cambria Math" panose="02040503050406030204" pitchFamily="18" charset="0"/>
                            </a:rPr>
                          </m:ctrlPr>
                        </m:sSupPr>
                        <m:e>
                          <m:r>
                            <a:rPr lang="en-US" altLang="zh-CN" sz="2800" i="1" dirty="0" smtClean="0">
                              <a:latin typeface="Cambria Math" panose="02040503050406030204" pitchFamily="18" charset="0"/>
                            </a:rPr>
                            <m:t>𝐴</m:t>
                          </m:r>
                        </m:e>
                        <m:sup>
                          <m:r>
                            <a:rPr lang="en-US" altLang="zh-CN" sz="2800" b="0" i="1" dirty="0" smtClean="0">
                              <a:latin typeface="Cambria Math" panose="02040503050406030204" pitchFamily="18" charset="0"/>
                            </a:rPr>
                            <m:t>′</m:t>
                          </m:r>
                        </m:sup>
                      </m:sSup>
                      <m:r>
                        <a:rPr lang="en-US" altLang="zh-CN" sz="2800" b="0" i="1" dirty="0" smtClean="0">
                          <a:latin typeface="Cambria Math" panose="02040503050406030204" pitchFamily="18" charset="0"/>
                        </a:rPr>
                        <m:t>=</m:t>
                      </m:r>
                      <m:r>
                        <a:rPr lang="en-US" altLang="zh-CN" sz="2800" i="1" dirty="0">
                          <a:latin typeface="Cambria Math" panose="02040503050406030204" pitchFamily="18" charset="0"/>
                        </a:rPr>
                        <m:t>{5, 6},</m:t>
                      </m:r>
                    </m:oMath>
                  </m:oMathPara>
                </a14:m>
                <a:endParaRPr lang="en-US" altLang="zh-CN" sz="2800" i="1" dirty="0">
                  <a:latin typeface="Cambria Math" panose="02040503050406030204" pitchFamily="18" charset="0"/>
                </a:endParaRPr>
              </a:p>
              <a:p>
                <a:pPr>
                  <a:lnSpc>
                    <a:spcPct val="100000"/>
                  </a:lnSpc>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ea typeface="Cambria Math" panose="02040503050406030204" pitchFamily="18" charset="0"/>
                        </a:rPr>
                        <m:t>∪</m:t>
                      </m:r>
                      <m:r>
                        <a:rPr lang="en-US" altLang="zh-CN" sz="2800" i="1" dirty="0" smtClean="0">
                          <a:latin typeface="Cambria Math" panose="02040503050406030204" pitchFamily="18" charset="0"/>
                        </a:rPr>
                        <m:t>𝐵</m:t>
                      </m:r>
                      <m:r>
                        <a:rPr lang="en-US" altLang="zh-CN" sz="2800" b="0" i="1" dirty="0" smtClean="0">
                          <a:latin typeface="Cambria Math" panose="02040503050406030204" pitchFamily="18" charset="0"/>
                        </a:rPr>
                        <m:t>=</m:t>
                      </m:r>
                      <m:r>
                        <a:rPr lang="en-US" altLang="zh-CN" sz="2800" i="1" dirty="0" smtClean="0">
                          <a:latin typeface="Cambria Math" panose="02040503050406030204" pitchFamily="18" charset="0"/>
                        </a:rPr>
                        <m:t>{0, 1, 2, 3, 4, 5, 6}=</m:t>
                      </m:r>
                      <m:r>
                        <a:rPr lang="en-US" altLang="zh-CN" sz="2800" i="1" dirty="0">
                          <a:latin typeface="Cambria Math" panose="02040503050406030204" pitchFamily="18" charset="0"/>
                        </a:rPr>
                        <m:t>𝑆</m:t>
                      </m:r>
                    </m:oMath>
                  </m:oMathPara>
                </a14:m>
                <a:endParaRPr lang="en-US" altLang="zh-CN" sz="2800" i="1" dirty="0">
                  <a:latin typeface="Cambria Math" panose="02040503050406030204" pitchFamily="18" charset="0"/>
                </a:endParaRPr>
              </a:p>
              <a:p>
                <a:pPr>
                  <a:lnSpc>
                    <a:spcPct val="100000"/>
                  </a:lnSpc>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ea typeface="Cambria Math" panose="02040503050406030204" pitchFamily="18" charset="0"/>
                        </a:rPr>
                        <m:t>∪</m:t>
                      </m:r>
                      <m:r>
                        <a:rPr lang="en-US" altLang="zh-CN" sz="2800" i="1" dirty="0" smtClean="0">
                          <a:latin typeface="Cambria Math" panose="02040503050406030204" pitchFamily="18" charset="0"/>
                        </a:rPr>
                        <m:t>𝐶</m:t>
                      </m:r>
                      <m:r>
                        <a:rPr lang="en-US" altLang="zh-CN" sz="2800" b="0" i="1" dirty="0" smtClean="0">
                          <a:latin typeface="Cambria Math" panose="02040503050406030204" pitchFamily="18" charset="0"/>
                        </a:rPr>
                        <m:t>=</m:t>
                      </m:r>
                      <m:r>
                        <a:rPr lang="en-US" altLang="zh-CN" sz="2800" i="1" dirty="0" smtClean="0">
                          <a:latin typeface="Cambria Math" panose="02040503050406030204" pitchFamily="18" charset="0"/>
                        </a:rPr>
                        <m:t>{0, 1, 2, 3, 4, 5}</m:t>
                      </m:r>
                    </m:oMath>
                  </m:oMathPara>
                </a14:m>
                <a:endParaRPr lang="en-US" altLang="zh-CN" sz="2800" dirty="0"/>
              </a:p>
              <a:p>
                <a:pPr>
                  <a:lnSpc>
                    <a:spcPct val="100000"/>
                  </a:lnSpc>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ea typeface="Cambria Math" panose="02040503050406030204" pitchFamily="18" charset="0"/>
                        </a:rPr>
                        <m:t>∩</m:t>
                      </m:r>
                      <m:r>
                        <a:rPr lang="en-US" altLang="zh-CN" sz="2800" i="1" dirty="0" smtClean="0">
                          <a:latin typeface="Cambria Math" panose="02040503050406030204" pitchFamily="18" charset="0"/>
                        </a:rPr>
                        <m:t>𝐵</m:t>
                      </m:r>
                      <m:r>
                        <a:rPr lang="en-US" altLang="zh-CN" sz="2800" b="0" i="1" dirty="0" smtClean="0">
                          <a:latin typeface="Cambria Math" panose="02040503050406030204" pitchFamily="18" charset="0"/>
                        </a:rPr>
                        <m:t>=</m:t>
                      </m:r>
                      <m:d>
                        <m:dPr>
                          <m:begChr m:val="{"/>
                          <m:endChr m:val="}"/>
                          <m:ctrlPr>
                            <a:rPr lang="en-US" altLang="zh-CN" sz="2800" i="1" dirty="0" smtClean="0">
                              <a:latin typeface="Cambria Math" panose="02040503050406030204" pitchFamily="18" charset="0"/>
                            </a:rPr>
                          </m:ctrlPr>
                        </m:dPr>
                        <m:e>
                          <m:r>
                            <a:rPr lang="en-US" altLang="zh-CN" sz="2800" i="1" dirty="0" smtClean="0">
                              <a:latin typeface="Cambria Math" panose="02040503050406030204" pitchFamily="18" charset="0"/>
                            </a:rPr>
                            <m:t>3, 4</m:t>
                          </m:r>
                        </m:e>
                      </m:d>
                    </m:oMath>
                  </m:oMathPara>
                </a14:m>
                <a:endParaRPr lang="en-US" altLang="zh-CN" sz="2800" i="1" dirty="0">
                  <a:latin typeface="Cambria Math" panose="02040503050406030204" pitchFamily="18" charset="0"/>
                </a:endParaRPr>
              </a:p>
              <a:p>
                <a:pPr>
                  <a:lnSpc>
                    <a:spcPct val="100000"/>
                  </a:lnSpc>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rPr>
                        <m:t> </m:t>
                      </m:r>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rPr>
                        <m:t> ∩</m:t>
                      </m:r>
                      <m:r>
                        <a:rPr lang="en-US" altLang="zh-CN" sz="2800" i="1" dirty="0" smtClean="0">
                          <a:latin typeface="Cambria Math" panose="02040503050406030204" pitchFamily="18" charset="0"/>
                        </a:rPr>
                        <m:t>𝐶</m:t>
                      </m:r>
                      <m:r>
                        <a:rPr lang="en-US" altLang="zh-CN" sz="2800" b="0" i="1" dirty="0" smtClean="0">
                          <a:latin typeface="Cambria Math" panose="02040503050406030204" pitchFamily="18" charset="0"/>
                        </a:rPr>
                        <m:t>=</m:t>
                      </m:r>
                      <m:d>
                        <m:dPr>
                          <m:begChr m:val="{"/>
                          <m:endChr m:val="}"/>
                          <m:ctrlPr>
                            <a:rPr lang="en-US" altLang="zh-CN" sz="2800" i="1" dirty="0" smtClean="0">
                              <a:latin typeface="Cambria Math" panose="02040503050406030204" pitchFamily="18" charset="0"/>
                            </a:rPr>
                          </m:ctrlPr>
                        </m:dPr>
                        <m:e>
                          <m:r>
                            <a:rPr lang="en-US" altLang="zh-CN" sz="2800" i="1" dirty="0" smtClean="0">
                              <a:latin typeface="Cambria Math" panose="02040503050406030204" pitchFamily="18" charset="0"/>
                            </a:rPr>
                            <m:t>1, 3</m:t>
                          </m:r>
                        </m:e>
                      </m:d>
                    </m:oMath>
                  </m:oMathPara>
                </a14:m>
                <a:endParaRPr lang="en-US" altLang="zh-CN" sz="2800" i="1" dirty="0">
                  <a:latin typeface="Cambria Math" panose="02040503050406030204" pitchFamily="18" charset="0"/>
                </a:endParaRPr>
              </a:p>
              <a:p>
                <a:pPr>
                  <a:lnSpc>
                    <a:spcPct val="100000"/>
                  </a:lnSpc>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rPr>
                        <m:t> </m:t>
                      </m:r>
                      <m:sSup>
                        <m:sSupPr>
                          <m:ctrlPr>
                            <a:rPr lang="en-US" altLang="zh-CN" sz="2800" b="0" i="1" dirty="0" smtClean="0">
                              <a:latin typeface="Cambria Math" panose="02040503050406030204" pitchFamily="18" charset="0"/>
                            </a:rPr>
                          </m:ctrlPr>
                        </m:sSupPr>
                        <m:e>
                          <m:d>
                            <m:dPr>
                              <m:ctrlPr>
                                <a:rPr lang="en-US" altLang="zh-CN" sz="2800" i="1" dirty="0" smtClean="0">
                                  <a:latin typeface="Cambria Math" panose="02040503050406030204" pitchFamily="18" charset="0"/>
                                </a:rPr>
                              </m:ctrlPr>
                            </m:dPr>
                            <m:e>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ea typeface="Cambria Math" panose="02040503050406030204" pitchFamily="18" charset="0"/>
                                </a:rPr>
                                <m:t>∩</m:t>
                              </m:r>
                              <m:r>
                                <a:rPr lang="en-US" altLang="zh-CN" sz="2800" i="1" dirty="0" smtClean="0">
                                  <a:latin typeface="Cambria Math" panose="02040503050406030204" pitchFamily="18" charset="0"/>
                                </a:rPr>
                                <m:t>𝐶</m:t>
                              </m:r>
                            </m:e>
                          </m:d>
                        </m:e>
                        <m:sup>
                          <m:r>
                            <a:rPr lang="en-US" altLang="zh-CN" sz="2800" b="0" i="1" dirty="0" smtClean="0">
                              <a:latin typeface="Cambria Math" panose="02040503050406030204" pitchFamily="18" charset="0"/>
                            </a:rPr>
                            <m:t>′</m:t>
                          </m:r>
                        </m:sup>
                      </m:sSup>
                      <m:r>
                        <a:rPr lang="en-US" altLang="zh-CN" sz="2800" b="0" i="1" dirty="0" smtClean="0">
                          <a:latin typeface="Cambria Math" panose="02040503050406030204" pitchFamily="18" charset="0"/>
                        </a:rPr>
                        <m:t>=</m:t>
                      </m:r>
                      <m:r>
                        <a:rPr lang="en-US" altLang="zh-CN" sz="2800" i="1" dirty="0">
                          <a:latin typeface="Cambria Math" panose="02040503050406030204" pitchFamily="18" charset="0"/>
                        </a:rPr>
                        <m:t> {0, 2, 4, 5, 6</m:t>
                      </m:r>
                      <m:r>
                        <a:rPr lang="en-US" altLang="zh-CN" sz="2800" i="1" dirty="0" smtClean="0">
                          <a:latin typeface="Cambria Math" panose="02040503050406030204" pitchFamily="18" charset="0"/>
                        </a:rPr>
                        <m:t>}</m:t>
                      </m:r>
                    </m:oMath>
                  </m:oMathPara>
                </a14:m>
                <a:endParaRPr lang="en-US" altLang="zh-CN" sz="2800" i="1" dirty="0">
                  <a:latin typeface="Cambria Math" panose="02040503050406030204" pitchFamily="18" charset="0"/>
                </a:endParaRPr>
              </a:p>
              <a:p>
                <a:pPr algn="l">
                  <a:lnSpc>
                    <a:spcPct val="100000"/>
                  </a:lnSpc>
                </a:pPr>
                <a:endParaRPr lang="en-US" altLang="zh-CN" sz="3200" dirty="0"/>
              </a:p>
              <a:p>
                <a:pPr algn="l"/>
                <a:endParaRPr lang="en-US" altLang="zh-CN" sz="3200" dirty="0"/>
              </a:p>
              <a:p>
                <a:pPr algn="l"/>
                <a:endParaRPr lang="en-US" altLang="zh-CN" sz="3200" dirty="0"/>
              </a:p>
              <a:p>
                <a:pPr algn="l"/>
                <a:endParaRPr lang="en-US" altLang="zh-CN" dirty="0"/>
              </a:p>
              <a:p>
                <a:pPr algn="l"/>
                <a:endParaRPr lang="en-US" altLang="zh-CN" dirty="0"/>
              </a:p>
              <a:p>
                <a:pPr algn="l"/>
                <a:endParaRPr lang="en-US" altLang="zh-CN" dirty="0"/>
              </a:p>
              <a:p>
                <a:pPr algn="l"/>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93040" y="1122398"/>
                <a:ext cx="11649915" cy="5610240"/>
              </a:xfrm>
              <a:blipFill>
                <a:blip r:embed="rId3"/>
                <a:stretch>
                  <a:fillRect l="-1099" t="-1087"/>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a:noFill/>
                </a:ln>
                <a:solidFill>
                  <a:srgbClr val="FF0000"/>
                </a:solidFill>
                <a:effectLst/>
                <a:uLnTx/>
                <a:uFillTx/>
                <a:latin typeface="Arial Black" panose="020B0A04020102020204" pitchFamily="34" charset="0"/>
                <a:ea typeface="宋体" panose="02010600030101010101" pitchFamily="2" charset="-122"/>
                <a:cs typeface="+mn-cs"/>
              </a:rPr>
              <a:t>DLI</a:t>
            </a:r>
          </a:p>
        </p:txBody>
      </p:sp>
    </p:spTree>
    <p:extLst>
      <p:ext uri="{BB962C8B-B14F-4D97-AF65-F5344CB8AC3E}">
        <p14:creationId xmlns:p14="http://schemas.microsoft.com/office/powerpoint/2010/main" val="3388922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76201" y="1068997"/>
                <a:ext cx="12115799" cy="5789003"/>
              </a:xfrm>
            </p:spPr>
            <p:txBody>
              <a:bodyPr>
                <a:normAutofit fontScale="92500" lnSpcReduction="20000"/>
              </a:bodyPr>
              <a:lstStyle/>
              <a:p>
                <a:pPr algn="l">
                  <a:lnSpc>
                    <a:spcPct val="100000"/>
                  </a:lnSpc>
                </a:pPr>
                <a:r>
                  <a:rPr lang="en-US" altLang="zh-CN" sz="2800" dirty="0">
                    <a:solidFill>
                      <a:srgbClr val="0070C0"/>
                    </a:solidFill>
                    <a:latin typeface="Arial Black" panose="020B0A04020102020204" pitchFamily="34" charset="0"/>
                  </a:rPr>
                  <a:t>Axioms of Probability</a:t>
                </a:r>
                <a:r>
                  <a:rPr lang="en-US" altLang="zh-CN" sz="2800" dirty="0"/>
                  <a:t> </a:t>
                </a:r>
              </a:p>
              <a:p>
                <a:pPr algn="l">
                  <a:lnSpc>
                    <a:spcPct val="100000"/>
                  </a:lnSpc>
                </a:pPr>
                <a:r>
                  <a:rPr lang="en-US" altLang="zh-CN" sz="2800" dirty="0"/>
                  <a:t>Given an experiment and a sample space </a:t>
                </a:r>
                <a14:m>
                  <m:oMath xmlns:m="http://schemas.openxmlformats.org/officeDocument/2006/math">
                    <m:r>
                      <a:rPr lang="en-US" altLang="zh-CN" sz="2800" i="1" dirty="0" smtClean="0">
                        <a:latin typeface="Cambria Math" panose="02040503050406030204" pitchFamily="18" charset="0"/>
                      </a:rPr>
                      <m:t>𝑆</m:t>
                    </m:r>
                  </m:oMath>
                </a14:m>
                <a:r>
                  <a:rPr lang="en-US" altLang="zh-CN" sz="2800" dirty="0"/>
                  <a:t>, the objective of probability is to assign to each event </a:t>
                </a:r>
                <a14:m>
                  <m:oMath xmlns:m="http://schemas.openxmlformats.org/officeDocument/2006/math">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rPr>
                      <m:t> </m:t>
                    </m:r>
                  </m:oMath>
                </a14:m>
                <a:r>
                  <a:rPr lang="en-US" altLang="zh-CN" sz="2800" dirty="0" err="1"/>
                  <a:t>a</a:t>
                </a:r>
                <a:r>
                  <a:rPr lang="en-US" altLang="zh-CN" sz="2800" dirty="0"/>
                  <a:t> number </a:t>
                </a:r>
                <a14:m>
                  <m:oMath xmlns:m="http://schemas.openxmlformats.org/officeDocument/2006/math">
                    <m:r>
                      <a:rPr lang="en-US" altLang="zh-CN" sz="2800" i="1" dirty="0" smtClean="0">
                        <a:latin typeface="Cambria Math" panose="02040503050406030204" pitchFamily="18" charset="0"/>
                      </a:rPr>
                      <m:t>𝑃</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rPr>
                      <m:t>)</m:t>
                    </m:r>
                  </m:oMath>
                </a14:m>
                <a:r>
                  <a:rPr lang="en-US" altLang="zh-CN" sz="2800" dirty="0"/>
                  <a:t>, called the </a:t>
                </a:r>
                <a:r>
                  <a:rPr lang="en-US" altLang="zh-CN" sz="2800" dirty="0">
                    <a:solidFill>
                      <a:srgbClr val="FF0000"/>
                    </a:solidFill>
                  </a:rPr>
                  <a:t>probability</a:t>
                </a:r>
                <a:r>
                  <a:rPr lang="en-US" altLang="zh-CN" sz="2800" dirty="0"/>
                  <a:t> of the event </a:t>
                </a:r>
                <a14:m>
                  <m:oMath xmlns:m="http://schemas.openxmlformats.org/officeDocument/2006/math">
                    <m:r>
                      <a:rPr lang="en-US" altLang="zh-CN" sz="2800" i="1" dirty="0" smtClean="0">
                        <a:latin typeface="Cambria Math" panose="02040503050406030204" pitchFamily="18" charset="0"/>
                      </a:rPr>
                      <m:t>𝐴</m:t>
                    </m:r>
                  </m:oMath>
                </a14:m>
                <a:r>
                  <a:rPr lang="en-US" altLang="zh-CN" sz="2800" dirty="0"/>
                  <a:t>, which will give a precise measure of the chance that </a:t>
                </a:r>
                <a14:m>
                  <m:oMath xmlns:m="http://schemas.openxmlformats.org/officeDocument/2006/math">
                    <m:r>
                      <a:rPr lang="en-US" altLang="zh-CN" sz="2800" i="1" dirty="0" smtClean="0">
                        <a:latin typeface="Cambria Math" panose="02040503050406030204" pitchFamily="18" charset="0"/>
                      </a:rPr>
                      <m:t>𝐴</m:t>
                    </m:r>
                  </m:oMath>
                </a14:m>
                <a:r>
                  <a:rPr lang="en-US" altLang="zh-CN" sz="2800" dirty="0"/>
                  <a:t> will occur. To ensure that the probability assignments will be consistent with our intuitive notions of probability, all assignments should satisfy the following axioms (basic properties) of probability.</a:t>
                </a:r>
              </a:p>
              <a:p>
                <a:pPr marL="457200" indent="-457200" algn="l">
                  <a:lnSpc>
                    <a:spcPct val="100000"/>
                  </a:lnSpc>
                  <a:buFont typeface="Wingdings" panose="05000000000000000000" pitchFamily="2" charset="2"/>
                  <a:buChar char="Ø"/>
                </a:pPr>
                <a:r>
                  <a:rPr lang="en-US" altLang="zh-CN" sz="2800" dirty="0">
                    <a:solidFill>
                      <a:srgbClr val="FF0000"/>
                    </a:solidFill>
                  </a:rPr>
                  <a:t>Axiom</a:t>
                </a:r>
                <a:r>
                  <a:rPr lang="en-US" altLang="zh-CN" sz="2800" dirty="0"/>
                  <a:t> 1 For any event </a:t>
                </a:r>
                <a14:m>
                  <m:oMath xmlns:m="http://schemas.openxmlformats.org/officeDocument/2006/math">
                    <m:r>
                      <a:rPr lang="en-US" altLang="zh-CN" sz="2800" i="1" dirty="0" smtClean="0">
                        <a:latin typeface="Cambria Math" panose="02040503050406030204" pitchFamily="18" charset="0"/>
                      </a:rPr>
                      <m:t>𝐴</m:t>
                    </m:r>
                  </m:oMath>
                </a14:m>
                <a:r>
                  <a:rPr lang="en-US" altLang="zh-CN" sz="2800" dirty="0"/>
                  <a:t>, </a:t>
                </a:r>
                <a14:m>
                  <m:oMath xmlns:m="http://schemas.openxmlformats.org/officeDocument/2006/math">
                    <m:r>
                      <a:rPr lang="en-US" altLang="zh-CN" sz="2800" b="0" i="0" dirty="0" smtClean="0">
                        <a:latin typeface="Cambria Math" panose="02040503050406030204" pitchFamily="18" charset="0"/>
                      </a:rPr>
                      <m:t>0</m:t>
                    </m:r>
                    <m:r>
                      <a:rPr lang="en-US" altLang="zh-CN" sz="2800" b="0" i="1" dirty="0" smtClean="0">
                        <a:latin typeface="Cambria Math" panose="02040503050406030204" pitchFamily="18" charset="0"/>
                        <a:ea typeface="Cambria Math" panose="02040503050406030204" pitchFamily="18" charset="0"/>
                      </a:rPr>
                      <m:t>≤</m:t>
                    </m:r>
                    <m:r>
                      <a:rPr lang="en-US" altLang="zh-CN" sz="2800" i="1" dirty="0" smtClean="0">
                        <a:latin typeface="Cambria Math" panose="02040503050406030204" pitchFamily="18" charset="0"/>
                      </a:rPr>
                      <m:t>𝑃</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rPr>
                      <m:t>)≤1</m:t>
                    </m:r>
                  </m:oMath>
                </a14:m>
                <a:r>
                  <a:rPr lang="en-US" altLang="zh-CN" sz="2800" dirty="0"/>
                  <a:t>.</a:t>
                </a:r>
                <a:r>
                  <a:rPr lang="en-US" altLang="zh-CN" sz="2800" dirty="0">
                    <a:solidFill>
                      <a:srgbClr val="FF0000"/>
                    </a:solidFill>
                  </a:rPr>
                  <a:t>(</a:t>
                </a:r>
                <a:r>
                  <a:rPr lang="zh-CN" altLang="en-US" sz="2800" dirty="0">
                    <a:solidFill>
                      <a:srgbClr val="FF0000"/>
                    </a:solidFill>
                  </a:rPr>
                  <a:t>非负性</a:t>
                </a:r>
                <a:r>
                  <a:rPr lang="en-US" altLang="zh-CN" sz="2800" dirty="0">
                    <a:solidFill>
                      <a:srgbClr val="FF0000"/>
                    </a:solidFill>
                  </a:rPr>
                  <a:t>)</a:t>
                </a:r>
              </a:p>
              <a:p>
                <a:pPr marL="457200" indent="-457200" algn="l">
                  <a:lnSpc>
                    <a:spcPct val="100000"/>
                  </a:lnSpc>
                  <a:buFont typeface="Wingdings" panose="05000000000000000000" pitchFamily="2" charset="2"/>
                  <a:buChar char="Ø"/>
                </a:pPr>
                <a:r>
                  <a:rPr lang="en-US" altLang="zh-CN" sz="2800" dirty="0">
                    <a:solidFill>
                      <a:srgbClr val="FF0000"/>
                    </a:solidFill>
                  </a:rPr>
                  <a:t>Axiom</a:t>
                </a:r>
                <a:r>
                  <a:rPr lang="en-US" altLang="zh-CN" sz="2800" dirty="0"/>
                  <a:t> 2 </a:t>
                </a:r>
                <a14:m>
                  <m:oMath xmlns:m="http://schemas.openxmlformats.org/officeDocument/2006/math">
                    <m:r>
                      <a:rPr lang="en-US" altLang="zh-CN" sz="2800" i="1" dirty="0" smtClean="0">
                        <a:latin typeface="Cambria Math" panose="02040503050406030204" pitchFamily="18" charset="0"/>
                      </a:rPr>
                      <m:t>𝑃</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𝑆</m:t>
                    </m:r>
                    <m:r>
                      <a:rPr lang="en-US" altLang="zh-CN" sz="2800" i="1" dirty="0">
                        <a:latin typeface="Cambria Math" panose="02040503050406030204" pitchFamily="18" charset="0"/>
                      </a:rPr>
                      <m:t>)=1</m:t>
                    </m:r>
                  </m:oMath>
                </a14:m>
                <a:r>
                  <a:rPr lang="en-US" altLang="zh-CN" sz="2800" dirty="0"/>
                  <a:t>.</a:t>
                </a:r>
                <a:r>
                  <a:rPr lang="en-US" altLang="zh-CN" sz="2800" dirty="0">
                    <a:solidFill>
                      <a:srgbClr val="FF0000"/>
                    </a:solidFill>
                  </a:rPr>
                  <a:t>(</a:t>
                </a:r>
                <a:r>
                  <a:rPr lang="zh-CN" altLang="en-US" sz="2800" dirty="0">
                    <a:solidFill>
                      <a:srgbClr val="FF0000"/>
                    </a:solidFill>
                  </a:rPr>
                  <a:t>归一性</a:t>
                </a:r>
                <a:r>
                  <a:rPr lang="en-US" altLang="zh-CN" sz="2800" dirty="0">
                    <a:solidFill>
                      <a:srgbClr val="FF0000"/>
                    </a:solidFill>
                  </a:rPr>
                  <a:t>)</a:t>
                </a:r>
              </a:p>
              <a:p>
                <a:pPr marL="457200" indent="-457200" algn="l">
                  <a:lnSpc>
                    <a:spcPct val="100000"/>
                  </a:lnSpc>
                  <a:buFont typeface="Wingdings" panose="05000000000000000000" pitchFamily="2" charset="2"/>
                  <a:buChar char="Ø"/>
                </a:pPr>
                <a:r>
                  <a:rPr lang="en-US" altLang="zh-CN" sz="2800" dirty="0">
                    <a:solidFill>
                      <a:srgbClr val="FF0000"/>
                    </a:solidFill>
                  </a:rPr>
                  <a:t>Axiom</a:t>
                </a:r>
                <a:r>
                  <a:rPr lang="en-US" altLang="zh-CN" sz="2800" dirty="0"/>
                  <a:t> 3 For any sequence of mutually exclusive events </a:t>
                </a:r>
                <a14:m>
                  <m:oMath xmlns:m="http://schemas.openxmlformats.org/officeDocument/2006/math">
                    <m:sSub>
                      <m:sSubPr>
                        <m:ctrlPr>
                          <a:rPr lang="en-US" altLang="zh-CN" sz="2800" b="0" i="1" dirty="0" smtClean="0">
                            <a:latin typeface="Cambria Math" panose="02040503050406030204" pitchFamily="18" charset="0"/>
                          </a:rPr>
                        </m:ctrlPr>
                      </m:sSubPr>
                      <m:e>
                        <m:r>
                          <a:rPr lang="en-US" altLang="zh-CN" sz="2800" i="1" dirty="0" smtClean="0">
                            <a:latin typeface="Cambria Math" panose="02040503050406030204" pitchFamily="18" charset="0"/>
                          </a:rPr>
                          <m:t>𝐴</m:t>
                        </m:r>
                      </m:e>
                      <m:sub>
                        <m:r>
                          <a:rPr lang="en-US" altLang="zh-CN" sz="2800" i="1" dirty="0" smtClean="0">
                            <a:latin typeface="Cambria Math" panose="02040503050406030204" pitchFamily="18" charset="0"/>
                          </a:rPr>
                          <m:t>1</m:t>
                        </m:r>
                      </m:sub>
                    </m:sSub>
                    <m:r>
                      <a:rPr lang="en-US" altLang="zh-CN" sz="2800" i="1" dirty="0" smtClean="0">
                        <a:latin typeface="Cambria Math" panose="02040503050406030204" pitchFamily="18" charset="0"/>
                      </a:rPr>
                      <m:t>, </m:t>
                    </m:r>
                    <m:sSub>
                      <m:sSubPr>
                        <m:ctrlPr>
                          <a:rPr lang="en-US" altLang="zh-CN" sz="2800" b="0" i="1" dirty="0" smtClean="0">
                            <a:latin typeface="Cambria Math" panose="02040503050406030204" pitchFamily="18" charset="0"/>
                          </a:rPr>
                        </m:ctrlPr>
                      </m:sSubPr>
                      <m:e>
                        <m:r>
                          <a:rPr lang="en-US" altLang="zh-CN" sz="2800" i="1" dirty="0" smtClean="0">
                            <a:latin typeface="Cambria Math" panose="02040503050406030204" pitchFamily="18" charset="0"/>
                          </a:rPr>
                          <m:t>𝐴</m:t>
                        </m:r>
                      </m:e>
                      <m:sub>
                        <m:r>
                          <a:rPr lang="en-US" altLang="zh-CN" sz="2800" i="1" dirty="0" smtClean="0">
                            <a:latin typeface="Cambria Math" panose="02040503050406030204" pitchFamily="18" charset="0"/>
                          </a:rPr>
                          <m:t>2</m:t>
                        </m:r>
                      </m:sub>
                    </m:sSub>
                    <m:r>
                      <a:rPr lang="en-US" altLang="zh-CN" sz="2800" i="1" dirty="0" smtClean="0">
                        <a:latin typeface="Cambria Math" panose="02040503050406030204" pitchFamily="18" charset="0"/>
                      </a:rPr>
                      <m:t>, </m:t>
                    </m:r>
                    <m:sSub>
                      <m:sSubPr>
                        <m:ctrlPr>
                          <a:rPr lang="en-US" altLang="zh-CN" sz="2800" b="0" i="1" dirty="0" smtClean="0">
                            <a:latin typeface="Cambria Math" panose="02040503050406030204" pitchFamily="18" charset="0"/>
                          </a:rPr>
                        </m:ctrlPr>
                      </m:sSubPr>
                      <m:e>
                        <m:r>
                          <a:rPr lang="en-US" altLang="zh-CN" sz="2800" i="1" dirty="0" smtClean="0">
                            <a:latin typeface="Cambria Math" panose="02040503050406030204" pitchFamily="18" charset="0"/>
                          </a:rPr>
                          <m:t>𝐴</m:t>
                        </m:r>
                      </m:e>
                      <m:sub>
                        <m:r>
                          <a:rPr lang="en-US" altLang="zh-CN" sz="2800" i="1" dirty="0" smtClean="0">
                            <a:latin typeface="Cambria Math" panose="02040503050406030204" pitchFamily="18" charset="0"/>
                          </a:rPr>
                          <m:t>3</m:t>
                        </m:r>
                      </m:sub>
                    </m:sSub>
                  </m:oMath>
                </a14:m>
                <a:r>
                  <a:rPr lang="en-US" altLang="zh-CN" sz="2800" dirty="0"/>
                  <a:t>, . . . (that is, events for which </a:t>
                </a:r>
                <a14:m>
                  <m:oMath xmlns:m="http://schemas.openxmlformats.org/officeDocument/2006/math">
                    <m:sSub>
                      <m:sSubPr>
                        <m:ctrlPr>
                          <a:rPr lang="en-US" altLang="zh-CN" sz="2800" b="0" i="1" dirty="0" smtClean="0">
                            <a:latin typeface="Cambria Math" panose="02040503050406030204" pitchFamily="18" charset="0"/>
                          </a:rPr>
                        </m:ctrlPr>
                      </m:sSubPr>
                      <m:e>
                        <m:r>
                          <a:rPr lang="en-US" altLang="zh-CN" sz="2800" i="1" dirty="0" smtClean="0">
                            <a:latin typeface="Cambria Math" panose="02040503050406030204" pitchFamily="18" charset="0"/>
                          </a:rPr>
                          <m:t>𝐴</m:t>
                        </m:r>
                      </m:e>
                      <m:sub>
                        <m:r>
                          <a:rPr lang="en-US" altLang="zh-CN" sz="2800" i="1" dirty="0" smtClean="0">
                            <a:latin typeface="Cambria Math" panose="02040503050406030204" pitchFamily="18" charset="0"/>
                          </a:rPr>
                          <m:t>𝑖</m:t>
                        </m:r>
                      </m:sub>
                    </m:sSub>
                    <m:sSub>
                      <m:sSubPr>
                        <m:ctrlPr>
                          <a:rPr lang="en-US" altLang="zh-CN" sz="2800" b="0" i="1" dirty="0" smtClean="0">
                            <a:latin typeface="Cambria Math" panose="02040503050406030204" pitchFamily="18" charset="0"/>
                          </a:rPr>
                        </m:ctrlPr>
                      </m:sSubPr>
                      <m:e>
                        <m:r>
                          <a:rPr lang="en-US" altLang="zh-CN" sz="2800" b="0" i="1" dirty="0" smtClean="0">
                            <a:latin typeface="Cambria Math" panose="02040503050406030204" pitchFamily="18" charset="0"/>
                          </a:rPr>
                          <m:t>𝐴</m:t>
                        </m:r>
                      </m:e>
                      <m:sub>
                        <m:r>
                          <a:rPr lang="en-US" altLang="zh-CN" sz="2800" i="1" dirty="0" smtClean="0">
                            <a:latin typeface="Cambria Math" panose="02040503050406030204" pitchFamily="18" charset="0"/>
                          </a:rPr>
                          <m:t>𝑗</m:t>
                        </m:r>
                      </m:sub>
                    </m:sSub>
                    <m:r>
                      <a:rPr lang="en-US" altLang="zh-CN" sz="2800" i="1" dirty="0">
                        <a:latin typeface="Cambria Math" panose="02040503050406030204" pitchFamily="18" charset="0"/>
                      </a:rPr>
                      <m:t>=</m:t>
                    </m:r>
                    <m:r>
                      <a:rPr lang="en-US" altLang="zh-CN" sz="2800" i="1" dirty="0" smtClean="0">
                        <a:latin typeface="Cambria Math" panose="02040503050406030204" pitchFamily="18" charset="0"/>
                        <a:ea typeface="Cambria Math" panose="02040503050406030204" pitchFamily="18" charset="0"/>
                      </a:rPr>
                      <m:t>∅</m:t>
                    </m:r>
                    <m:r>
                      <a:rPr lang="en-US" altLang="zh-CN" sz="2800" i="1" dirty="0">
                        <a:latin typeface="Cambria Math" panose="02040503050406030204" pitchFamily="18" charset="0"/>
                      </a:rPr>
                      <m:t> </m:t>
                    </m:r>
                  </m:oMath>
                </a14:m>
                <a:r>
                  <a:rPr lang="en-US" altLang="zh-CN" sz="2800" dirty="0"/>
                  <a:t>when </a:t>
                </a:r>
                <a14:m>
                  <m:oMath xmlns:m="http://schemas.openxmlformats.org/officeDocument/2006/math">
                    <m:r>
                      <a:rPr lang="en-US" altLang="zh-CN" sz="2800" i="1" dirty="0" smtClean="0">
                        <a:latin typeface="Cambria Math" panose="02040503050406030204" pitchFamily="18" charset="0"/>
                      </a:rPr>
                      <m:t>𝑖</m:t>
                    </m:r>
                    <m:r>
                      <a:rPr lang="en-US" altLang="zh-CN" sz="2800" i="1" dirty="0" smtClean="0">
                        <a:latin typeface="Cambria Math" panose="02040503050406030204" pitchFamily="18" charset="0"/>
                        <a:ea typeface="Cambria Math" panose="02040503050406030204" pitchFamily="18" charset="0"/>
                      </a:rPr>
                      <m:t>≠</m:t>
                    </m:r>
                    <m:r>
                      <a:rPr lang="en-US" altLang="zh-CN" sz="2800" i="1" dirty="0">
                        <a:latin typeface="Cambria Math" panose="02040503050406030204" pitchFamily="18" charset="0"/>
                      </a:rPr>
                      <m:t>𝑗</m:t>
                    </m:r>
                  </m:oMath>
                </a14:m>
                <a:r>
                  <a:rPr lang="en-US" altLang="zh-CN" sz="2800" dirty="0"/>
                  <a:t>), </a:t>
                </a:r>
                <a:r>
                  <a:rPr lang="en-US" altLang="zh-CN" sz="2800" dirty="0">
                    <a:solidFill>
                      <a:srgbClr val="FF0000"/>
                    </a:solidFill>
                  </a:rPr>
                  <a:t>(</a:t>
                </a:r>
                <a:r>
                  <a:rPr lang="zh-CN" altLang="en-US" sz="2800" dirty="0">
                    <a:solidFill>
                      <a:srgbClr val="FF0000"/>
                    </a:solidFill>
                  </a:rPr>
                  <a:t>可列可加性</a:t>
                </a:r>
                <a:r>
                  <a:rPr lang="en-US" altLang="zh-CN" sz="2800" dirty="0">
                    <a:solidFill>
                      <a:srgbClr val="FF0000"/>
                    </a:solidFill>
                  </a:rPr>
                  <a:t>)</a:t>
                </a:r>
              </a:p>
              <a:p>
                <a:pPr algn="l">
                  <a:lnSpc>
                    <a:spcPct val="100000"/>
                  </a:lnSpc>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𝑃</m:t>
                      </m:r>
                      <m:d>
                        <m:dPr>
                          <m:ctrlPr>
                            <a:rPr lang="en-US" altLang="zh-CN" sz="2800" b="0" i="1" smtClean="0">
                              <a:latin typeface="Cambria Math" panose="02040503050406030204" pitchFamily="18" charset="0"/>
                            </a:rPr>
                          </m:ctrlPr>
                        </m:dPr>
                        <m:e>
                          <m:nary>
                            <m:naryPr>
                              <m:chr m:val="⋃"/>
                              <m:ctrlPr>
                                <a:rPr lang="en-US" altLang="zh-CN" sz="2800" i="1">
                                  <a:latin typeface="Cambria Math" panose="02040503050406030204" pitchFamily="18" charset="0"/>
                                </a:rPr>
                              </m:ctrlPr>
                            </m:naryPr>
                            <m:sub>
                              <m:r>
                                <m:rPr>
                                  <m:brk m:alnAt="23"/>
                                </m:rPr>
                                <a:rPr lang="en-US" altLang="zh-CN" sz="2800" i="1">
                                  <a:latin typeface="Cambria Math" panose="02040503050406030204" pitchFamily="18" charset="0"/>
                                </a:rPr>
                                <m:t>𝑖</m:t>
                              </m:r>
                              <m:r>
                                <a:rPr lang="en-US" altLang="zh-CN" sz="2800" i="1">
                                  <a:latin typeface="Cambria Math" panose="02040503050406030204" pitchFamily="18" charset="0"/>
                                </a:rPr>
                                <m:t>=1</m:t>
                              </m:r>
                            </m:sub>
                            <m:sup>
                              <m:r>
                                <a:rPr lang="en-US" altLang="zh-CN" sz="2800" i="1" smtClean="0">
                                  <a:latin typeface="Cambria Math" panose="02040503050406030204" pitchFamily="18" charset="0"/>
                                  <a:ea typeface="Cambria Math" panose="02040503050406030204" pitchFamily="18" charset="0"/>
                                </a:rPr>
                                <m:t>∞</m:t>
                              </m:r>
                            </m:sup>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𝐴</m:t>
                                  </m:r>
                                </m:e>
                                <m:sub>
                                  <m:r>
                                    <a:rPr lang="en-US" altLang="zh-CN" sz="2800" i="1">
                                      <a:latin typeface="Cambria Math" panose="02040503050406030204" pitchFamily="18" charset="0"/>
                                    </a:rPr>
                                    <m:t>𝑖</m:t>
                                  </m:r>
                                </m:sub>
                              </m:sSub>
                            </m:e>
                          </m:nary>
                        </m:e>
                      </m:d>
                      <m:r>
                        <a:rPr lang="en-US" altLang="zh-CN" sz="2800" b="0" i="1" smtClean="0">
                          <a:latin typeface="Cambria Math" panose="02040503050406030204" pitchFamily="18" charset="0"/>
                        </a:rPr>
                        <m:t>=</m:t>
                      </m:r>
                      <m:nary>
                        <m:naryPr>
                          <m:chr m:val="∑"/>
                          <m:ctrlPr>
                            <a:rPr lang="en-US" altLang="zh-CN" sz="2800" b="0" i="1" smtClean="0">
                              <a:latin typeface="Cambria Math" panose="02040503050406030204" pitchFamily="18" charset="0"/>
                            </a:rPr>
                          </m:ctrlPr>
                        </m:naryPr>
                        <m:sub>
                          <m:r>
                            <m:rPr>
                              <m:brk m:alnAt="23"/>
                            </m:rP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=1</m:t>
                          </m:r>
                        </m:sub>
                        <m:sup>
                          <m:r>
                            <a:rPr lang="en-US" altLang="zh-CN" sz="2800" b="0" i="1" smtClean="0">
                              <a:latin typeface="Cambria Math" panose="02040503050406030204" pitchFamily="18" charset="0"/>
                              <a:ea typeface="Cambria Math" panose="02040503050406030204" pitchFamily="18" charset="0"/>
                            </a:rPr>
                            <m:t>∞</m:t>
                          </m:r>
                        </m:sup>
                        <m:e>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𝐴</m:t>
                              </m:r>
                            </m:e>
                            <m:sub>
                              <m:r>
                                <a:rPr lang="en-US" altLang="zh-CN" sz="2800" b="0" i="1" smtClean="0">
                                  <a:latin typeface="Cambria Math" panose="02040503050406030204" pitchFamily="18" charset="0"/>
                                </a:rPr>
                                <m:t>𝑖</m:t>
                              </m:r>
                            </m:sub>
                          </m:sSub>
                          <m:r>
                            <a:rPr lang="en-US" altLang="zh-CN" sz="2800" b="0" i="1" smtClean="0">
                              <a:latin typeface="Cambria Math" panose="02040503050406030204" pitchFamily="18" charset="0"/>
                            </a:rPr>
                            <m:t>)</m:t>
                          </m:r>
                        </m:e>
                      </m:nary>
                    </m:oMath>
                  </m:oMathPara>
                </a14:m>
                <a:endParaRPr lang="en-US" altLang="zh-CN" dirty="0"/>
              </a:p>
              <a:p>
                <a:pPr algn="l">
                  <a:lnSpc>
                    <a:spcPct val="100000"/>
                  </a:lnSpc>
                </a:pPr>
                <a:r>
                  <a:rPr lang="en-US" altLang="zh-CN" sz="2800" dirty="0"/>
                  <a:t>We refer to </a:t>
                </a:r>
                <a14:m>
                  <m:oMath xmlns:m="http://schemas.openxmlformats.org/officeDocument/2006/math">
                    <m:r>
                      <a:rPr lang="en-US" altLang="zh-CN" sz="2800" i="1" dirty="0">
                        <a:latin typeface="Cambria Math" panose="02040503050406030204" pitchFamily="18" charset="0"/>
                      </a:rPr>
                      <m:t>𝑃</m:t>
                    </m:r>
                    <m:r>
                      <a:rPr lang="en-US" altLang="zh-CN" sz="2800" i="1" dirty="0">
                        <a:latin typeface="Cambria Math" panose="02040503050406030204" pitchFamily="18" charset="0"/>
                      </a:rPr>
                      <m:t>(</m:t>
                    </m:r>
                    <m:r>
                      <a:rPr lang="en-US" altLang="zh-CN" sz="2800" i="1" dirty="0">
                        <a:latin typeface="Cambria Math" panose="02040503050406030204" pitchFamily="18" charset="0"/>
                      </a:rPr>
                      <m:t>𝐴</m:t>
                    </m:r>
                    <m:r>
                      <a:rPr lang="en-US" altLang="zh-CN" sz="2800" i="1" dirty="0">
                        <a:latin typeface="Cambria Math" panose="02040503050406030204" pitchFamily="18" charset="0"/>
                      </a:rPr>
                      <m:t>)</m:t>
                    </m:r>
                  </m:oMath>
                </a14:m>
                <a:r>
                  <a:rPr lang="en-US" altLang="zh-CN" sz="2800" dirty="0"/>
                  <a:t> as the </a:t>
                </a:r>
                <a:r>
                  <a:rPr lang="en-US" altLang="zh-CN" sz="2800" dirty="0">
                    <a:solidFill>
                      <a:srgbClr val="FF0000"/>
                    </a:solidFill>
                  </a:rPr>
                  <a:t>probability</a:t>
                </a:r>
                <a:r>
                  <a:rPr lang="en-US" altLang="zh-CN" sz="2800" dirty="0"/>
                  <a:t> of the event </a:t>
                </a:r>
                <a14:m>
                  <m:oMath xmlns:m="http://schemas.openxmlformats.org/officeDocument/2006/math">
                    <m:r>
                      <a:rPr lang="en-US" altLang="zh-CN" sz="2800" i="1" dirty="0">
                        <a:latin typeface="Cambria Math" panose="02040503050406030204" pitchFamily="18" charset="0"/>
                      </a:rPr>
                      <m:t>𝐴</m:t>
                    </m:r>
                  </m:oMath>
                </a14:m>
                <a:r>
                  <a:rPr lang="en-US" altLang="zh-CN" sz="2800" dirty="0"/>
                  <a:t>.</a:t>
                </a:r>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76201" y="1068997"/>
                <a:ext cx="12115799" cy="5789003"/>
              </a:xfrm>
              <a:blipFill>
                <a:blip r:embed="rId3"/>
                <a:stretch>
                  <a:fillRect l="-906" t="-2105" r="-403"/>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39307" y="0"/>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2898799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317089" y="1144505"/>
                <a:ext cx="11606982" cy="5536513"/>
              </a:xfrm>
            </p:spPr>
            <p:txBody>
              <a:bodyPr>
                <a:normAutofit/>
              </a:bodyPr>
              <a:lstStyle/>
              <a:p>
                <a:pPr algn="l">
                  <a:lnSpc>
                    <a:spcPct val="100000"/>
                  </a:lnSpc>
                </a:pPr>
                <a:r>
                  <a:rPr lang="en-US" altLang="zh-CN" sz="2800" dirty="0">
                    <a:solidFill>
                      <a:srgbClr val="0070C0"/>
                    </a:solidFill>
                    <a:latin typeface="Arial Black" panose="020B0A04020102020204" pitchFamily="34" charset="0"/>
                  </a:rPr>
                  <a:t>Proposition 2.1 </a:t>
                </a:r>
                <a:endParaRPr lang="en-US" altLang="zh-CN" sz="2800" b="0" i="1" dirty="0">
                  <a:latin typeface="Cambria Math" panose="02040503050406030204" pitchFamily="18" charset="0"/>
                </a:endParaRPr>
              </a:p>
              <a:p>
                <a:pPr algn="l">
                  <a:lnSpc>
                    <a:spcPct val="100000"/>
                  </a:lnSpc>
                </a:pPr>
                <a14:m>
                  <m:oMath xmlns:m="http://schemas.openxmlformats.org/officeDocument/2006/math">
                    <m:r>
                      <a:rPr lang="en-US" altLang="zh-CN" sz="2800" b="0" i="1" smtClean="0">
                        <a:latin typeface="Cambria Math" panose="02040503050406030204" pitchFamily="18" charset="0"/>
                      </a:rPr>
                      <m:t>𝑃</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m:t>
                        </m:r>
                      </m:e>
                    </m:d>
                    <m:r>
                      <a:rPr lang="en-US" altLang="zh-CN" sz="2800" b="0" i="1" smtClean="0">
                        <a:latin typeface="Cambria Math" panose="02040503050406030204" pitchFamily="18" charset="0"/>
                      </a:rPr>
                      <m:t>=0</m:t>
                    </m:r>
                  </m:oMath>
                </a14:m>
                <a:r>
                  <a:rPr lang="en-US" altLang="zh-CN" sz="2800" dirty="0"/>
                  <a:t> where </a:t>
                </a:r>
                <a14:m>
                  <m:oMath xmlns:m="http://schemas.openxmlformats.org/officeDocument/2006/math">
                    <m:r>
                      <a:rPr lang="en-US" altLang="zh-CN" sz="2800" i="1">
                        <a:latin typeface="Cambria Math" panose="02040503050406030204" pitchFamily="18" charset="0"/>
                        <a:ea typeface="Cambria Math" panose="02040503050406030204" pitchFamily="18" charset="0"/>
                      </a:rPr>
                      <m:t>∅ </m:t>
                    </m:r>
                  </m:oMath>
                </a14:m>
                <a:r>
                  <a:rPr lang="en-US" altLang="zh-CN" sz="2800" dirty="0"/>
                  <a:t>is the null event (the event containing no outcomes whatsoever). </a:t>
                </a:r>
              </a:p>
              <a:p>
                <a:pPr algn="l">
                  <a:lnSpc>
                    <a:spcPct val="100000"/>
                  </a:lnSpc>
                </a:pPr>
                <a:r>
                  <a:rPr lang="en-US" altLang="zh-CN" sz="2800" dirty="0"/>
                  <a:t>This in turn implies that the property contained in Axiom </a:t>
                </a:r>
                <a14:m>
                  <m:oMath xmlns:m="http://schemas.openxmlformats.org/officeDocument/2006/math">
                    <m:r>
                      <a:rPr lang="en-US" altLang="zh-CN" sz="2800" i="1" dirty="0" smtClean="0">
                        <a:latin typeface="Cambria Math" panose="02040503050406030204" pitchFamily="18" charset="0"/>
                      </a:rPr>
                      <m:t>3</m:t>
                    </m:r>
                  </m:oMath>
                </a14:m>
                <a:r>
                  <a:rPr lang="en-US" altLang="zh-CN" sz="2800" dirty="0"/>
                  <a:t> is valid for a finite collection of events. </a:t>
                </a:r>
                <a:r>
                  <a:rPr lang="en-US" altLang="zh-CN" sz="2800" dirty="0">
                    <a:solidFill>
                      <a:srgbClr val="FF0000"/>
                    </a:solidFill>
                  </a:rPr>
                  <a:t>(</a:t>
                </a:r>
                <a:r>
                  <a:rPr lang="zh-CN" altLang="en-US" sz="2800" dirty="0">
                    <a:solidFill>
                      <a:srgbClr val="FF0000"/>
                    </a:solidFill>
                  </a:rPr>
                  <a:t>有限可加性</a:t>
                </a:r>
                <a:r>
                  <a:rPr lang="en-US" altLang="zh-CN" sz="2800" dirty="0">
                    <a:solidFill>
                      <a:srgbClr val="FF0000"/>
                    </a:solidFill>
                  </a:rPr>
                  <a:t>)</a:t>
                </a:r>
              </a:p>
              <a:p>
                <a:pPr>
                  <a:lnSpc>
                    <a:spcPct val="100000"/>
                  </a:lnSpc>
                </a:pPr>
                <a14:m>
                  <m:oMathPara xmlns:m="http://schemas.openxmlformats.org/officeDocument/2006/math">
                    <m:oMathParaPr>
                      <m:jc m:val="centerGroup"/>
                    </m:oMathParaPr>
                    <m:oMath xmlns:m="http://schemas.openxmlformats.org/officeDocument/2006/math">
                      <m:r>
                        <a:rPr lang="en-US" altLang="zh-CN" sz="2800" i="1">
                          <a:solidFill>
                            <a:prstClr val="black"/>
                          </a:solidFill>
                          <a:latin typeface="Cambria Math" panose="02040503050406030204" pitchFamily="18" charset="0"/>
                        </a:rPr>
                        <m:t>𝑃</m:t>
                      </m:r>
                      <m:d>
                        <m:dPr>
                          <m:ctrlPr>
                            <a:rPr lang="en-US" altLang="zh-CN" sz="2800" i="1">
                              <a:solidFill>
                                <a:prstClr val="black"/>
                              </a:solidFill>
                              <a:latin typeface="Cambria Math" panose="02040503050406030204" pitchFamily="18" charset="0"/>
                            </a:rPr>
                          </m:ctrlPr>
                        </m:dPr>
                        <m:e>
                          <m:sSub>
                            <m:sSubPr>
                              <m:ctrlPr>
                                <a:rPr lang="en-US"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𝐴</m:t>
                              </m:r>
                            </m:e>
                            <m:sub>
                              <m:r>
                                <a:rPr lang="en-US" altLang="zh-CN" sz="2800" i="1">
                                  <a:solidFill>
                                    <a:prstClr val="black"/>
                                  </a:solidFill>
                                  <a:latin typeface="Cambria Math" panose="02040503050406030204" pitchFamily="18" charset="0"/>
                                </a:rPr>
                                <m:t>1</m:t>
                              </m:r>
                            </m:sub>
                          </m:sSub>
                          <m:r>
                            <a:rPr lang="en-US" altLang="zh-CN" sz="2800" i="1">
                              <a:solidFill>
                                <a:prstClr val="black"/>
                              </a:solidFill>
                              <a:latin typeface="Cambria Math" panose="02040503050406030204" pitchFamily="18" charset="0"/>
                              <a:ea typeface="Cambria Math" panose="02040503050406030204" pitchFamily="18" charset="0"/>
                            </a:rPr>
                            <m:t>∪</m:t>
                          </m:r>
                          <m:sSub>
                            <m:sSubPr>
                              <m:ctrlPr>
                                <a:rPr lang="en-US" altLang="zh-CN" sz="2800" i="1">
                                  <a:solidFill>
                                    <a:prstClr val="black"/>
                                  </a:solidFill>
                                  <a:latin typeface="Cambria Math" panose="02040503050406030204" pitchFamily="18" charset="0"/>
                                  <a:ea typeface="Cambria Math" panose="02040503050406030204" pitchFamily="18" charset="0"/>
                                </a:rPr>
                              </m:ctrlPr>
                            </m:sSubPr>
                            <m:e>
                              <m:r>
                                <a:rPr lang="en-US" altLang="zh-CN" sz="2800" i="1">
                                  <a:solidFill>
                                    <a:prstClr val="black"/>
                                  </a:solidFill>
                                  <a:latin typeface="Cambria Math" panose="02040503050406030204" pitchFamily="18" charset="0"/>
                                  <a:ea typeface="Cambria Math" panose="02040503050406030204" pitchFamily="18" charset="0"/>
                                </a:rPr>
                                <m:t>𝐴</m:t>
                              </m:r>
                            </m:e>
                            <m:sub>
                              <m:r>
                                <a:rPr lang="en-US" altLang="zh-CN" sz="2800" i="1">
                                  <a:solidFill>
                                    <a:prstClr val="black"/>
                                  </a:solidFill>
                                  <a:latin typeface="Cambria Math" panose="02040503050406030204" pitchFamily="18" charset="0"/>
                                  <a:ea typeface="Cambria Math" panose="02040503050406030204" pitchFamily="18" charset="0"/>
                                </a:rPr>
                                <m:t>2</m:t>
                              </m:r>
                            </m:sub>
                          </m:sSub>
                          <m:r>
                            <a:rPr lang="en-US" altLang="zh-CN" sz="2800" i="1">
                              <a:solidFill>
                                <a:prstClr val="black"/>
                              </a:solidFill>
                              <a:latin typeface="Cambria Math" panose="02040503050406030204" pitchFamily="18" charset="0"/>
                              <a:ea typeface="Cambria Math" panose="02040503050406030204" pitchFamily="18" charset="0"/>
                            </a:rPr>
                            <m:t>∪⋯∪</m:t>
                          </m:r>
                          <m:sSub>
                            <m:sSubPr>
                              <m:ctrlPr>
                                <a:rPr lang="en-US" altLang="zh-CN" sz="2800" i="1">
                                  <a:solidFill>
                                    <a:prstClr val="black"/>
                                  </a:solidFill>
                                  <a:latin typeface="Cambria Math" panose="02040503050406030204" pitchFamily="18" charset="0"/>
                                  <a:ea typeface="Cambria Math" panose="02040503050406030204" pitchFamily="18" charset="0"/>
                                </a:rPr>
                              </m:ctrlPr>
                            </m:sSubPr>
                            <m:e>
                              <m:r>
                                <a:rPr lang="en-US" altLang="zh-CN" sz="2800" i="1">
                                  <a:solidFill>
                                    <a:prstClr val="black"/>
                                  </a:solidFill>
                                  <a:latin typeface="Cambria Math" panose="02040503050406030204" pitchFamily="18" charset="0"/>
                                  <a:ea typeface="Cambria Math" panose="02040503050406030204" pitchFamily="18" charset="0"/>
                                </a:rPr>
                                <m:t>𝐴</m:t>
                              </m:r>
                            </m:e>
                            <m:sub>
                              <m:r>
                                <a:rPr lang="en-US" altLang="zh-CN" sz="2800" b="0" i="1" smtClean="0">
                                  <a:solidFill>
                                    <a:prstClr val="black"/>
                                  </a:solidFill>
                                  <a:latin typeface="Cambria Math" panose="02040503050406030204" pitchFamily="18" charset="0"/>
                                  <a:ea typeface="Cambria Math" panose="02040503050406030204" pitchFamily="18" charset="0"/>
                                </a:rPr>
                                <m:t>𝑘</m:t>
                              </m:r>
                            </m:sub>
                          </m:sSub>
                        </m:e>
                      </m:d>
                      <m:r>
                        <a:rPr lang="en-US" altLang="zh-CN" sz="2800" i="1">
                          <a:solidFill>
                            <a:prstClr val="black"/>
                          </a:solidFill>
                          <a:latin typeface="Cambria Math" panose="02040503050406030204" pitchFamily="18" charset="0"/>
                        </a:rPr>
                        <m:t>=</m:t>
                      </m:r>
                      <m:nary>
                        <m:naryPr>
                          <m:chr m:val="∑"/>
                          <m:ctrlPr>
                            <a:rPr lang="en-US" altLang="zh-CN" sz="2800" i="1">
                              <a:solidFill>
                                <a:prstClr val="black"/>
                              </a:solidFill>
                              <a:latin typeface="Cambria Math" panose="02040503050406030204" pitchFamily="18" charset="0"/>
                            </a:rPr>
                          </m:ctrlPr>
                        </m:naryPr>
                        <m:sub>
                          <m:r>
                            <m:rPr>
                              <m:brk m:alnAt="23"/>
                            </m:rPr>
                            <a:rPr lang="en-US" altLang="zh-CN" sz="2800" i="1">
                              <a:solidFill>
                                <a:prstClr val="black"/>
                              </a:solidFill>
                              <a:latin typeface="Cambria Math" panose="02040503050406030204" pitchFamily="18" charset="0"/>
                            </a:rPr>
                            <m:t>𝑖</m:t>
                          </m:r>
                          <m:r>
                            <a:rPr lang="en-US" altLang="zh-CN" sz="2800" i="1">
                              <a:solidFill>
                                <a:prstClr val="black"/>
                              </a:solidFill>
                              <a:latin typeface="Cambria Math" panose="02040503050406030204" pitchFamily="18" charset="0"/>
                            </a:rPr>
                            <m:t>=1</m:t>
                          </m:r>
                        </m:sub>
                        <m:sup>
                          <m:r>
                            <a:rPr lang="en-US" altLang="zh-CN" sz="2800" b="0" i="1" smtClean="0">
                              <a:solidFill>
                                <a:prstClr val="black"/>
                              </a:solidFill>
                              <a:latin typeface="Cambria Math" panose="02040503050406030204" pitchFamily="18" charset="0"/>
                              <a:ea typeface="Cambria Math" panose="02040503050406030204" pitchFamily="18" charset="0"/>
                            </a:rPr>
                            <m:t>𝑘</m:t>
                          </m:r>
                        </m:sup>
                        <m:e>
                          <m:r>
                            <a:rPr lang="en-US" altLang="zh-CN" sz="2800" i="1">
                              <a:solidFill>
                                <a:prstClr val="black"/>
                              </a:solidFill>
                              <a:latin typeface="Cambria Math" panose="02040503050406030204" pitchFamily="18" charset="0"/>
                            </a:rPr>
                            <m:t>𝑃</m:t>
                          </m:r>
                          <m:r>
                            <a:rPr lang="en-US" altLang="zh-CN" sz="2800" i="1">
                              <a:solidFill>
                                <a:prstClr val="black"/>
                              </a:solidFill>
                              <a:latin typeface="Cambria Math" panose="02040503050406030204" pitchFamily="18" charset="0"/>
                            </a:rPr>
                            <m:t>(</m:t>
                          </m:r>
                          <m:sSub>
                            <m:sSubPr>
                              <m:ctrlPr>
                                <a:rPr lang="en-US"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𝐴</m:t>
                              </m:r>
                            </m:e>
                            <m:sub>
                              <m:r>
                                <a:rPr lang="en-US" altLang="zh-CN" sz="2800" i="1">
                                  <a:solidFill>
                                    <a:prstClr val="black"/>
                                  </a:solidFill>
                                  <a:latin typeface="Cambria Math" panose="02040503050406030204" pitchFamily="18" charset="0"/>
                                </a:rPr>
                                <m:t>𝑖</m:t>
                              </m:r>
                            </m:sub>
                          </m:sSub>
                          <m:r>
                            <a:rPr lang="en-US" altLang="zh-CN" sz="2800" i="1">
                              <a:solidFill>
                                <a:prstClr val="black"/>
                              </a:solidFill>
                              <a:latin typeface="Cambria Math" panose="02040503050406030204" pitchFamily="18" charset="0"/>
                            </a:rPr>
                            <m:t>)</m:t>
                          </m:r>
                        </m:e>
                      </m:nary>
                    </m:oMath>
                  </m:oMathPara>
                </a14:m>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317089" y="1144505"/>
                <a:ext cx="11606982" cy="5536513"/>
              </a:xfrm>
              <a:blipFill>
                <a:blip r:embed="rId3"/>
                <a:stretch>
                  <a:fillRect l="-1050" t="-1211"/>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2962107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93040" y="1021086"/>
                <a:ext cx="11863766" cy="5696803"/>
              </a:xfrm>
            </p:spPr>
            <p:txBody>
              <a:bodyPr>
                <a:normAutofit/>
              </a:bodyPr>
              <a:lstStyle/>
              <a:p>
                <a:pPr algn="l"/>
                <a:r>
                  <a:rPr lang="en-US" altLang="zh-CN" sz="2800" dirty="0">
                    <a:solidFill>
                      <a:srgbClr val="0070C0"/>
                    </a:solidFill>
                    <a:latin typeface="Arial Black" panose="020B0A04020102020204" pitchFamily="34" charset="0"/>
                  </a:rPr>
                  <a:t>Some Simple Propositions</a:t>
                </a:r>
              </a:p>
              <a:p>
                <a:pPr algn="l"/>
                <a:r>
                  <a:rPr lang="en-US" altLang="zh-CN" sz="2800" dirty="0"/>
                  <a:t>1. For any event </a:t>
                </a:r>
                <a14:m>
                  <m:oMath xmlns:m="http://schemas.openxmlformats.org/officeDocument/2006/math">
                    <m:r>
                      <a:rPr lang="en-US" altLang="zh-CN" sz="2800" i="1" dirty="0" smtClean="0">
                        <a:latin typeface="Cambria Math" panose="02040503050406030204" pitchFamily="18" charset="0"/>
                      </a:rPr>
                      <m:t>𝐴</m:t>
                    </m:r>
                  </m:oMath>
                </a14:m>
                <a:r>
                  <a:rPr lang="en-US" altLang="zh-CN" sz="2800" dirty="0"/>
                  <a:t>, </a:t>
                </a:r>
                <a14:m>
                  <m:oMath xmlns:m="http://schemas.openxmlformats.org/officeDocument/2006/math">
                    <m:r>
                      <a:rPr lang="en-US" altLang="zh-CN" sz="2800" i="1" dirty="0" smtClean="0">
                        <a:latin typeface="Cambria Math" panose="02040503050406030204" pitchFamily="18" charset="0"/>
                      </a:rPr>
                      <m:t>𝑃</m:t>
                    </m:r>
                    <m:d>
                      <m:dPr>
                        <m:ctrlPr>
                          <a:rPr lang="en-US" altLang="zh-CN" sz="2800" i="1" dirty="0" smtClean="0">
                            <a:latin typeface="Cambria Math" panose="02040503050406030204" pitchFamily="18" charset="0"/>
                          </a:rPr>
                        </m:ctrlPr>
                      </m:dPr>
                      <m:e>
                        <m:r>
                          <a:rPr lang="en-US" altLang="zh-CN" sz="2800" i="1" dirty="0" smtClean="0">
                            <a:latin typeface="Cambria Math" panose="02040503050406030204" pitchFamily="18" charset="0"/>
                          </a:rPr>
                          <m:t>𝐴</m:t>
                        </m:r>
                      </m:e>
                    </m:d>
                    <m:r>
                      <a:rPr lang="en-US" altLang="zh-CN" sz="2800" b="0" i="1" dirty="0" smtClean="0">
                        <a:latin typeface="Cambria Math" panose="02040503050406030204" pitchFamily="18" charset="0"/>
                      </a:rPr>
                      <m:t>+</m:t>
                    </m:r>
                    <m:r>
                      <a:rPr lang="en-US" altLang="zh-CN" sz="2800" i="1" dirty="0" smtClean="0">
                        <a:latin typeface="Cambria Math" panose="02040503050406030204" pitchFamily="18" charset="0"/>
                      </a:rPr>
                      <m:t>𝑃</m:t>
                    </m:r>
                    <m:d>
                      <m:dPr>
                        <m:ctrlPr>
                          <a:rPr lang="en-US" altLang="zh-CN" sz="2800" i="1" dirty="0" smtClean="0">
                            <a:latin typeface="Cambria Math" panose="02040503050406030204" pitchFamily="18" charset="0"/>
                          </a:rPr>
                        </m:ctrlPr>
                      </m:dPr>
                      <m:e>
                        <m:sSup>
                          <m:sSupPr>
                            <m:ctrlPr>
                              <a:rPr lang="en-US" altLang="zh-CN" sz="2800" b="0" i="1" dirty="0" smtClean="0">
                                <a:latin typeface="Cambria Math" panose="02040503050406030204" pitchFamily="18" charset="0"/>
                              </a:rPr>
                            </m:ctrlPr>
                          </m:sSupPr>
                          <m:e>
                            <m:r>
                              <a:rPr lang="en-US" altLang="zh-CN" sz="2800" i="1" dirty="0" smtClean="0">
                                <a:latin typeface="Cambria Math" panose="02040503050406030204" pitchFamily="18" charset="0"/>
                              </a:rPr>
                              <m:t>𝐴</m:t>
                            </m:r>
                          </m:e>
                          <m:sup>
                            <m:r>
                              <a:rPr lang="en-US" altLang="zh-CN" sz="2800" b="0" i="1" dirty="0" smtClean="0">
                                <a:latin typeface="Cambria Math" panose="02040503050406030204" pitchFamily="18" charset="0"/>
                              </a:rPr>
                              <m:t>𝑐</m:t>
                            </m:r>
                          </m:sup>
                        </m:sSup>
                      </m:e>
                    </m:d>
                    <m:r>
                      <a:rPr lang="en-US" altLang="zh-CN" sz="2800" b="0" i="1" dirty="0" smtClean="0">
                        <a:latin typeface="Cambria Math" panose="02040503050406030204" pitchFamily="18" charset="0"/>
                      </a:rPr>
                      <m:t>=</m:t>
                    </m:r>
                    <m:r>
                      <a:rPr lang="en-US" altLang="zh-CN" sz="2800" i="1" dirty="0">
                        <a:latin typeface="Cambria Math" panose="02040503050406030204" pitchFamily="18" charset="0"/>
                      </a:rPr>
                      <m:t> 1</m:t>
                    </m:r>
                  </m:oMath>
                </a14:m>
                <a:r>
                  <a:rPr lang="en-US" altLang="zh-CN" sz="2800" dirty="0"/>
                  <a:t>, from which </a:t>
                </a:r>
                <a14:m>
                  <m:oMath xmlns:m="http://schemas.openxmlformats.org/officeDocument/2006/math">
                    <m:r>
                      <a:rPr lang="en-US" altLang="zh-CN" sz="2800" i="1" dirty="0" smtClean="0">
                        <a:latin typeface="Cambria Math" panose="02040503050406030204" pitchFamily="18" charset="0"/>
                      </a:rPr>
                      <m:t>𝑃</m:t>
                    </m:r>
                    <m:d>
                      <m:dPr>
                        <m:ctrlPr>
                          <a:rPr lang="en-US" altLang="zh-CN" sz="2800" i="1" dirty="0" smtClean="0">
                            <a:latin typeface="Cambria Math" panose="02040503050406030204" pitchFamily="18" charset="0"/>
                          </a:rPr>
                        </m:ctrlPr>
                      </m:dPr>
                      <m:e>
                        <m:sSup>
                          <m:sSupPr>
                            <m:ctrlPr>
                              <a:rPr lang="en-US" altLang="zh-CN" sz="2800" b="0" i="1" dirty="0" smtClean="0">
                                <a:latin typeface="Cambria Math" panose="02040503050406030204" pitchFamily="18" charset="0"/>
                              </a:rPr>
                            </m:ctrlPr>
                          </m:sSupPr>
                          <m:e>
                            <m:r>
                              <a:rPr lang="en-US" altLang="zh-CN" sz="2800" i="1" dirty="0" smtClean="0">
                                <a:latin typeface="Cambria Math" panose="02040503050406030204" pitchFamily="18" charset="0"/>
                              </a:rPr>
                              <m:t>𝐴</m:t>
                            </m:r>
                          </m:e>
                          <m:sup>
                            <m:r>
                              <a:rPr lang="en-US" altLang="zh-CN" sz="2800" b="0" i="1" dirty="0" smtClean="0">
                                <a:latin typeface="Cambria Math" panose="02040503050406030204" pitchFamily="18" charset="0"/>
                              </a:rPr>
                              <m:t>𝑐</m:t>
                            </m:r>
                          </m:sup>
                        </m:sSup>
                      </m:e>
                    </m:d>
                    <m:r>
                      <a:rPr lang="en-US" altLang="zh-CN" sz="2800" b="0" i="1" dirty="0" smtClean="0">
                        <a:latin typeface="Cambria Math" panose="02040503050406030204" pitchFamily="18" charset="0"/>
                      </a:rPr>
                      <m:t>=</m:t>
                    </m:r>
                    <m:r>
                      <a:rPr lang="en-US" altLang="zh-CN" sz="2800" i="1" dirty="0" smtClean="0">
                        <a:latin typeface="Cambria Math" panose="02040503050406030204" pitchFamily="18" charset="0"/>
                      </a:rPr>
                      <m:t>1</m:t>
                    </m:r>
                    <m:r>
                      <a:rPr lang="en-US" altLang="zh-CN" sz="2800" b="0" i="1" dirty="0" smtClean="0">
                        <a:latin typeface="Cambria Math" panose="02040503050406030204" pitchFamily="18" charset="0"/>
                      </a:rPr>
                      <m:t>−</m:t>
                    </m:r>
                    <m:r>
                      <a:rPr lang="en-US" altLang="zh-CN" sz="2800" i="1" dirty="0" smtClean="0">
                        <a:latin typeface="Cambria Math" panose="02040503050406030204" pitchFamily="18" charset="0"/>
                      </a:rPr>
                      <m:t>𝑃</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rPr>
                      <m:t>).</m:t>
                    </m:r>
                  </m:oMath>
                </a14:m>
                <a:endParaRPr lang="en-US" altLang="zh-CN" sz="2800" dirty="0"/>
              </a:p>
              <a:p>
                <a:pPr algn="l"/>
                <a:r>
                  <a:rPr lang="en-US" altLang="zh-CN" sz="2800" dirty="0"/>
                  <a:t>2. If </a:t>
                </a:r>
                <a14:m>
                  <m:oMath xmlns:m="http://schemas.openxmlformats.org/officeDocument/2006/math">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ea typeface="Cambria Math" panose="02040503050406030204" pitchFamily="18" charset="0"/>
                      </a:rPr>
                      <m:t>⊂</m:t>
                    </m:r>
                    <m:r>
                      <a:rPr lang="en-US" altLang="zh-CN" sz="2800" b="0" i="1" dirty="0" smtClean="0">
                        <a:latin typeface="Cambria Math" panose="02040503050406030204" pitchFamily="18" charset="0"/>
                        <a:ea typeface="Cambria Math" panose="02040503050406030204" pitchFamily="18" charset="0"/>
                      </a:rPr>
                      <m:t>𝐵</m:t>
                    </m:r>
                  </m:oMath>
                </a14:m>
                <a:r>
                  <a:rPr lang="en-US" altLang="zh-CN" sz="2800" dirty="0"/>
                  <a:t>, </a:t>
                </a:r>
                <a14:m>
                  <m:oMath xmlns:m="http://schemas.openxmlformats.org/officeDocument/2006/math">
                    <m:r>
                      <a:rPr lang="en-US" altLang="zh-CN" sz="2800" i="1" dirty="0" smtClean="0">
                        <a:latin typeface="Cambria Math" panose="02040503050406030204" pitchFamily="18" charset="0"/>
                      </a:rPr>
                      <m:t>𝑃</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rPr>
                      <m:t>)≤</m:t>
                    </m:r>
                    <m:r>
                      <a:rPr lang="en-US" altLang="zh-CN" sz="2800" b="0" i="1" dirty="0" smtClean="0">
                        <a:latin typeface="Cambria Math" panose="02040503050406030204" pitchFamily="18" charset="0"/>
                      </a:rPr>
                      <m:t>𝑃</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𝐵</m:t>
                    </m:r>
                    <m:r>
                      <a:rPr lang="en-US" altLang="zh-CN" sz="2800" b="0" i="1" dirty="0" smtClean="0">
                        <a:latin typeface="Cambria Math" panose="02040503050406030204" pitchFamily="18" charset="0"/>
                      </a:rPr>
                      <m:t>)</m:t>
                    </m:r>
                  </m:oMath>
                </a14:m>
                <a:r>
                  <a:rPr lang="en-US" altLang="zh-CN" sz="2800" dirty="0"/>
                  <a:t>.</a:t>
                </a:r>
              </a:p>
              <a:p>
                <a:pPr algn="l"/>
                <a:r>
                  <a:rPr lang="en-US" altLang="zh-CN" sz="2800" dirty="0"/>
                  <a:t>3. For any two events </a:t>
                </a:r>
                <a14:m>
                  <m:oMath xmlns:m="http://schemas.openxmlformats.org/officeDocument/2006/math">
                    <m:r>
                      <a:rPr lang="en-US" altLang="zh-CN" sz="2800" i="1" dirty="0" smtClean="0">
                        <a:latin typeface="Cambria Math" panose="02040503050406030204" pitchFamily="18" charset="0"/>
                      </a:rPr>
                      <m:t>𝐴</m:t>
                    </m:r>
                  </m:oMath>
                </a14:m>
                <a:r>
                  <a:rPr lang="en-US" altLang="zh-CN" sz="2800" dirty="0"/>
                  <a:t> and </a:t>
                </a:r>
                <a14:m>
                  <m:oMath xmlns:m="http://schemas.openxmlformats.org/officeDocument/2006/math">
                    <m:r>
                      <a:rPr lang="en-US" altLang="zh-CN" sz="2800" i="1" dirty="0" smtClean="0">
                        <a:latin typeface="Cambria Math" panose="02040503050406030204" pitchFamily="18" charset="0"/>
                      </a:rPr>
                      <m:t>𝐵</m:t>
                    </m:r>
                  </m:oMath>
                </a14:m>
                <a:r>
                  <a:rPr lang="en-US" altLang="zh-CN" sz="2800" dirty="0"/>
                  <a:t>, </a:t>
                </a:r>
                <a14:m>
                  <m:oMath xmlns:m="http://schemas.openxmlformats.org/officeDocument/2006/math">
                    <m:r>
                      <a:rPr lang="en-US" altLang="zh-CN" sz="2800" b="0" i="1" smtClean="0">
                        <a:latin typeface="Cambria Math" panose="02040503050406030204" pitchFamily="18" charset="0"/>
                      </a:rPr>
                      <m:t>𝑃</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𝐴</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𝐵</m:t>
                        </m:r>
                      </m:e>
                    </m:d>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𝑃</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𝐴</m:t>
                        </m:r>
                      </m:e>
                    </m:d>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𝑃</m:t>
                    </m:r>
                    <m:d>
                      <m:dPr>
                        <m:ctrlPr>
                          <a:rPr lang="en-US" altLang="zh-CN" sz="2800" b="1" i="1" smtClean="0">
                            <a:latin typeface="Cambria Math" panose="02040503050406030204" pitchFamily="18" charset="0"/>
                          </a:rPr>
                        </m:ctrlPr>
                      </m:dPr>
                      <m:e>
                        <m:r>
                          <a:rPr lang="en-US" altLang="zh-CN" sz="2800" b="0" i="1" smtClean="0">
                            <a:latin typeface="Cambria Math" panose="02040503050406030204" pitchFamily="18" charset="0"/>
                          </a:rPr>
                          <m:t>𝐵</m:t>
                        </m:r>
                      </m:e>
                    </m:d>
                    <m:r>
                      <a:rPr lang="en-US" altLang="zh-CN" sz="2800" b="1" i="1" smtClean="0">
                        <a:latin typeface="Cambria Math" panose="02040503050406030204" pitchFamily="18" charset="0"/>
                      </a:rPr>
                      <m:t>−</m:t>
                    </m:r>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𝐴</m:t>
                    </m:r>
                    <m:r>
                      <a:rPr lang="en-US" altLang="zh-CN" sz="280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𝐵</m:t>
                    </m:r>
                    <m:r>
                      <a:rPr lang="en-US" altLang="zh-CN" sz="2800" b="1" i="1" smtClean="0">
                        <a:latin typeface="Cambria Math" panose="02040503050406030204" pitchFamily="18" charset="0"/>
                      </a:rPr>
                      <m:t>)</m:t>
                    </m:r>
                  </m:oMath>
                </a14:m>
                <a:endParaRPr lang="en-US" altLang="zh-CN" sz="2800" b="1" dirty="0"/>
              </a:p>
              <a:p>
                <a:pPr marL="457200" indent="-457200" algn="l">
                  <a:buFont typeface="Wingdings" panose="05000000000000000000" pitchFamily="2" charset="2"/>
                  <a:buChar char="Ø"/>
                </a:pPr>
                <a:endParaRPr lang="en-US" altLang="zh-CN" sz="2800" b="1" dirty="0"/>
              </a:p>
              <a:p>
                <a:pPr marL="457200" indent="-457200" algn="l">
                  <a:buFont typeface="Wingdings" panose="05000000000000000000" pitchFamily="2" charset="2"/>
                  <a:buChar char="Ø"/>
                </a:pPr>
                <a:endParaRPr lang="en-US" altLang="zh-CN" sz="2800" b="1" dirty="0"/>
              </a:p>
              <a:p>
                <a:pPr marL="457200" indent="-457200" algn="l">
                  <a:buFont typeface="Wingdings" panose="05000000000000000000" pitchFamily="2" charset="2"/>
                  <a:buChar char="Ø"/>
                </a:pPr>
                <a:endParaRPr lang="en-US" altLang="zh-CN" sz="2800" dirty="0"/>
              </a:p>
              <a:p>
                <a:pPr marL="457200" indent="-457200" algn="l">
                  <a:buFont typeface="Wingdings" panose="05000000000000000000" pitchFamily="2" charset="2"/>
                  <a:buChar char="Ø"/>
                </a:pPr>
                <a:endParaRPr lang="en-US" altLang="zh-CN" sz="2800" dirty="0"/>
              </a:p>
              <a:p>
                <a:pPr algn="l"/>
                <a:r>
                  <a:rPr lang="en-US" altLang="zh-CN" sz="2800" dirty="0"/>
                  <a:t>For any three events </a:t>
                </a:r>
                <a14:m>
                  <m:oMath xmlns:m="http://schemas.openxmlformats.org/officeDocument/2006/math">
                    <m:r>
                      <a:rPr lang="en-US" altLang="zh-CN" sz="2800" i="1" dirty="0" smtClean="0">
                        <a:latin typeface="Cambria Math" panose="02040503050406030204" pitchFamily="18" charset="0"/>
                      </a:rPr>
                      <m:t>𝐴</m:t>
                    </m:r>
                  </m:oMath>
                </a14:m>
                <a:r>
                  <a:rPr lang="en-US" altLang="zh-CN" sz="2800" dirty="0"/>
                  <a:t>, </a:t>
                </a:r>
                <a14:m>
                  <m:oMath xmlns:m="http://schemas.openxmlformats.org/officeDocument/2006/math">
                    <m:r>
                      <a:rPr lang="en-US" altLang="zh-CN" sz="2800" i="1" dirty="0" smtClean="0">
                        <a:latin typeface="Cambria Math" panose="02040503050406030204" pitchFamily="18" charset="0"/>
                      </a:rPr>
                      <m:t>𝐵</m:t>
                    </m:r>
                  </m:oMath>
                </a14:m>
                <a:r>
                  <a:rPr lang="en-US" altLang="zh-CN" sz="2800" dirty="0"/>
                  <a:t>, and </a:t>
                </a:r>
                <a14:m>
                  <m:oMath xmlns:m="http://schemas.openxmlformats.org/officeDocument/2006/math">
                    <m:r>
                      <a:rPr lang="en-US" altLang="zh-CN" sz="2800" i="1" dirty="0" smtClean="0">
                        <a:latin typeface="Cambria Math" panose="02040503050406030204" pitchFamily="18" charset="0"/>
                      </a:rPr>
                      <m:t>𝐶</m:t>
                    </m:r>
                  </m:oMath>
                </a14:m>
                <a:r>
                  <a:rPr lang="en-US" altLang="zh-CN" sz="2800" dirty="0"/>
                  <a:t>,</a:t>
                </a:r>
              </a:p>
              <a:p>
                <a:pPr algn="l"/>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pitchFamily="18" charset="0"/>
                        </a:rPr>
                        <m:t>𝑃</m:t>
                      </m:r>
                      <m:d>
                        <m:dPr>
                          <m:ctrlPr>
                            <a:rPr lang="en-US" altLang="zh-CN" sz="2800" i="1" dirty="0" smtClean="0">
                              <a:latin typeface="Cambria Math" panose="02040503050406030204" pitchFamily="18" charset="0"/>
                            </a:rPr>
                          </m:ctrlPr>
                        </m:dPr>
                        <m:e>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ea typeface="Cambria Math" panose="02040503050406030204" pitchFamily="18" charset="0"/>
                            </a:rPr>
                            <m:t>∪</m:t>
                          </m:r>
                          <m:r>
                            <a:rPr lang="en-US" altLang="zh-CN" sz="2800" i="1" dirty="0" smtClean="0">
                              <a:latin typeface="Cambria Math" panose="02040503050406030204" pitchFamily="18" charset="0"/>
                            </a:rPr>
                            <m:t>𝐵</m:t>
                          </m:r>
                          <m:r>
                            <a:rPr lang="en-US" altLang="zh-CN" sz="2800" i="1" dirty="0" smtClean="0">
                              <a:latin typeface="Cambria Math" panose="02040503050406030204" pitchFamily="18" charset="0"/>
                              <a:ea typeface="Cambria Math" panose="02040503050406030204" pitchFamily="18" charset="0"/>
                            </a:rPr>
                            <m:t>∪</m:t>
                          </m:r>
                          <m:r>
                            <a:rPr lang="en-US" altLang="zh-CN" sz="2800" i="1" dirty="0" smtClean="0">
                              <a:latin typeface="Cambria Math" panose="02040503050406030204" pitchFamily="18" charset="0"/>
                            </a:rPr>
                            <m:t>𝐶</m:t>
                          </m:r>
                        </m:e>
                      </m:d>
                      <m:r>
                        <a:rPr lang="en-US" altLang="zh-CN" sz="2800" b="0" i="1" dirty="0" smtClean="0">
                          <a:latin typeface="Cambria Math" panose="02040503050406030204" pitchFamily="18" charset="0"/>
                        </a:rPr>
                        <m:t>=</m:t>
                      </m:r>
                      <m:r>
                        <a:rPr lang="en-US" altLang="zh-CN" sz="2800" i="1" dirty="0" smtClean="0">
                          <a:latin typeface="Cambria Math" panose="02040503050406030204" pitchFamily="18" charset="0"/>
                        </a:rPr>
                        <m:t>𝑃</m:t>
                      </m:r>
                      <m:d>
                        <m:dPr>
                          <m:ctrlPr>
                            <a:rPr lang="en-US" altLang="zh-CN" sz="2800" i="1" dirty="0" smtClean="0">
                              <a:latin typeface="Cambria Math" panose="02040503050406030204" pitchFamily="18" charset="0"/>
                            </a:rPr>
                          </m:ctrlPr>
                        </m:dPr>
                        <m:e>
                          <m:r>
                            <a:rPr lang="en-US" altLang="zh-CN" sz="2800" i="1" dirty="0" smtClean="0">
                              <a:latin typeface="Cambria Math" panose="02040503050406030204" pitchFamily="18" charset="0"/>
                            </a:rPr>
                            <m:t>𝐴</m:t>
                          </m:r>
                        </m:e>
                      </m:d>
                      <m:r>
                        <a:rPr lang="en-US" altLang="zh-CN" sz="2800" b="0" i="1" dirty="0" smtClean="0">
                          <a:latin typeface="Cambria Math" panose="02040503050406030204" pitchFamily="18" charset="0"/>
                        </a:rPr>
                        <m:t>+</m:t>
                      </m:r>
                      <m:r>
                        <a:rPr lang="en-US" altLang="zh-CN" sz="2800" i="1" dirty="0" smtClean="0">
                          <a:latin typeface="Cambria Math" panose="02040503050406030204" pitchFamily="18" charset="0"/>
                        </a:rPr>
                        <m:t> </m:t>
                      </m:r>
                      <m:r>
                        <a:rPr lang="en-US" altLang="zh-CN" sz="2800" i="1" dirty="0" smtClean="0">
                          <a:latin typeface="Cambria Math" panose="02040503050406030204" pitchFamily="18" charset="0"/>
                        </a:rPr>
                        <m:t>𝑃</m:t>
                      </m:r>
                      <m:d>
                        <m:dPr>
                          <m:ctrlPr>
                            <a:rPr lang="en-US" altLang="zh-CN" sz="2800" i="1" dirty="0" smtClean="0">
                              <a:latin typeface="Cambria Math" panose="02040503050406030204" pitchFamily="18" charset="0"/>
                            </a:rPr>
                          </m:ctrlPr>
                        </m:dPr>
                        <m:e>
                          <m:r>
                            <a:rPr lang="en-US" altLang="zh-CN" sz="2800" b="0" i="1" dirty="0" smtClean="0">
                              <a:latin typeface="Cambria Math" panose="02040503050406030204" pitchFamily="18" charset="0"/>
                            </a:rPr>
                            <m:t>𝐵</m:t>
                          </m:r>
                        </m:e>
                      </m:d>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𝑃</m:t>
                      </m:r>
                      <m:d>
                        <m:dPr>
                          <m:ctrlPr>
                            <a:rPr lang="en-US" altLang="zh-CN" sz="2800" b="0" i="1" dirty="0" smtClean="0">
                              <a:latin typeface="Cambria Math" panose="02040503050406030204" pitchFamily="18" charset="0"/>
                            </a:rPr>
                          </m:ctrlPr>
                        </m:dPr>
                        <m:e>
                          <m:r>
                            <a:rPr lang="en-US" altLang="zh-CN" sz="2800" b="0" i="1" dirty="0" smtClean="0">
                              <a:latin typeface="Cambria Math" panose="02040503050406030204" pitchFamily="18" charset="0"/>
                            </a:rPr>
                            <m:t>𝐶</m:t>
                          </m:r>
                        </m:e>
                      </m:d>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𝑃</m:t>
                      </m:r>
                      <m:d>
                        <m:dPr>
                          <m:ctrlPr>
                            <a:rPr lang="en-US" altLang="zh-CN" sz="2800" b="0" i="1" dirty="0" smtClean="0">
                              <a:latin typeface="Cambria Math" panose="02040503050406030204" pitchFamily="18" charset="0"/>
                            </a:rPr>
                          </m:ctrlPr>
                        </m:dPr>
                        <m:e>
                          <m:r>
                            <a:rPr lang="en-US" altLang="zh-CN" sz="2800" i="1">
                              <a:latin typeface="Cambria Math" panose="02040503050406030204" pitchFamily="18" charset="0"/>
                            </a:rPr>
                            <m:t>𝐴</m:t>
                          </m:r>
                          <m:r>
                            <a:rPr lang="en-US" altLang="zh-CN" sz="2800" i="1">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𝐵</m:t>
                          </m:r>
                        </m:e>
                      </m:d>
                      <m:r>
                        <a:rPr lang="en-US" altLang="zh-CN" sz="2800" b="0" i="1" dirty="0" smtClean="0">
                          <a:latin typeface="Cambria Math" panose="02040503050406030204" pitchFamily="18" charset="0"/>
                        </a:rPr>
                        <m:t>−</m:t>
                      </m:r>
                      <m:r>
                        <a:rPr lang="en-US" altLang="zh-CN" sz="2800" i="1" dirty="0">
                          <a:latin typeface="Cambria Math" panose="02040503050406030204" pitchFamily="18" charset="0"/>
                        </a:rPr>
                        <m:t>𝑃</m:t>
                      </m:r>
                      <m:d>
                        <m:dPr>
                          <m:ctrlPr>
                            <a:rPr lang="en-US" altLang="zh-CN" sz="2800" i="1" dirty="0">
                              <a:latin typeface="Cambria Math" panose="02040503050406030204" pitchFamily="18" charset="0"/>
                            </a:rPr>
                          </m:ctrlPr>
                        </m:dPr>
                        <m:e>
                          <m:r>
                            <a:rPr lang="en-US" altLang="zh-CN" sz="2800" b="0" i="1" smtClean="0">
                              <a:latin typeface="Cambria Math" panose="02040503050406030204" pitchFamily="18" charset="0"/>
                            </a:rPr>
                            <m:t>𝐵</m:t>
                          </m:r>
                          <m:r>
                            <a:rPr lang="en-US" altLang="zh-CN" sz="2800" i="1">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𝐶</m:t>
                          </m:r>
                        </m:e>
                      </m:d>
                      <m:r>
                        <a:rPr lang="en-US" altLang="zh-CN" sz="2800" b="0" i="1" dirty="0" smtClean="0">
                          <a:latin typeface="Cambria Math" panose="02040503050406030204" pitchFamily="18" charset="0"/>
                        </a:rPr>
                        <m:t>−</m:t>
                      </m:r>
                      <m:r>
                        <a:rPr lang="en-US" altLang="zh-CN" sz="2800" i="1" dirty="0">
                          <a:latin typeface="Cambria Math" panose="02040503050406030204" pitchFamily="18" charset="0"/>
                        </a:rPr>
                        <m:t>𝑃</m:t>
                      </m:r>
                      <m:d>
                        <m:dPr>
                          <m:ctrlPr>
                            <a:rPr lang="en-US" altLang="zh-CN" sz="2800" i="1" dirty="0">
                              <a:latin typeface="Cambria Math" panose="02040503050406030204" pitchFamily="18" charset="0"/>
                            </a:rPr>
                          </m:ctrlPr>
                        </m:dPr>
                        <m:e>
                          <m:r>
                            <a:rPr lang="en-US" altLang="zh-CN" sz="2800" i="1">
                              <a:latin typeface="Cambria Math" panose="02040503050406030204" pitchFamily="18" charset="0"/>
                            </a:rPr>
                            <m:t>𝐴</m:t>
                          </m:r>
                          <m:r>
                            <a:rPr lang="en-US" altLang="zh-CN" sz="2800" i="1">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𝐶</m:t>
                          </m:r>
                        </m:e>
                      </m:d>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𝑃</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𝐴</m:t>
                      </m:r>
                      <m:r>
                        <a:rPr lang="en-US" altLang="zh-CN" sz="2800" b="0" i="1" dirty="0" smtClean="0">
                          <a:latin typeface="Cambria Math" panose="02040503050406030204" pitchFamily="18" charset="0"/>
                          <a:ea typeface="Cambria Math" panose="02040503050406030204" pitchFamily="18" charset="0"/>
                        </a:rPr>
                        <m:t>∩</m:t>
                      </m:r>
                      <m:r>
                        <a:rPr lang="en-US" altLang="zh-CN" sz="2800" b="0" i="1" dirty="0" smtClean="0">
                          <a:latin typeface="Cambria Math" panose="02040503050406030204" pitchFamily="18" charset="0"/>
                          <a:ea typeface="Cambria Math" panose="02040503050406030204" pitchFamily="18" charset="0"/>
                        </a:rPr>
                        <m:t>𝐵</m:t>
                      </m:r>
                      <m:r>
                        <a:rPr lang="en-US" altLang="zh-CN" sz="2800" b="0" i="1" dirty="0" smtClean="0">
                          <a:latin typeface="Cambria Math" panose="02040503050406030204" pitchFamily="18" charset="0"/>
                          <a:ea typeface="Cambria Math" panose="02040503050406030204" pitchFamily="18" charset="0"/>
                        </a:rPr>
                        <m:t>∩</m:t>
                      </m:r>
                      <m:r>
                        <a:rPr lang="en-US" altLang="zh-CN" sz="2800" b="0" i="1" dirty="0" smtClean="0">
                          <a:latin typeface="Cambria Math" panose="02040503050406030204" pitchFamily="18" charset="0"/>
                          <a:ea typeface="Cambria Math" panose="02040503050406030204" pitchFamily="18" charset="0"/>
                        </a:rPr>
                        <m:t>𝐶</m:t>
                      </m:r>
                      <m:r>
                        <a:rPr lang="en-US" altLang="zh-CN" sz="2800" b="0" i="1" dirty="0" smtClean="0">
                          <a:latin typeface="Cambria Math" panose="02040503050406030204" pitchFamily="18" charset="0"/>
                        </a:rPr>
                        <m:t>)</m:t>
                      </m:r>
                    </m:oMath>
                  </m:oMathPara>
                </a14:m>
                <a:endParaRPr lang="en-US" altLang="zh-CN" sz="2800" dirty="0"/>
              </a:p>
              <a:p>
                <a:pPr algn="l"/>
                <a:endParaRPr lang="en-US" altLang="zh-CN" sz="2800" dirty="0"/>
              </a:p>
              <a:p>
                <a:pPr algn="l"/>
                <a:endParaRPr lang="en-US" altLang="zh-CN" sz="2800" dirty="0"/>
              </a:p>
              <a:p>
                <a:pPr algn="l"/>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93040" y="1021086"/>
                <a:ext cx="11863766" cy="5696803"/>
              </a:xfrm>
              <a:blipFill>
                <a:blip r:embed="rId3"/>
                <a:stretch>
                  <a:fillRect l="-1079" t="-1927"/>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pic>
        <p:nvPicPr>
          <p:cNvPr id="2" name="图片 1"/>
          <p:cNvPicPr>
            <a:picLocks noChangeAspect="1"/>
          </p:cNvPicPr>
          <p:nvPr/>
        </p:nvPicPr>
        <p:blipFill>
          <a:blip r:embed="rId6"/>
          <a:stretch>
            <a:fillRect/>
          </a:stretch>
        </p:blipFill>
        <p:spPr>
          <a:xfrm>
            <a:off x="427488" y="3198536"/>
            <a:ext cx="7587984" cy="1528321"/>
          </a:xfrm>
          <a:prstGeom prst="rect">
            <a:avLst/>
          </a:prstGeom>
        </p:spPr>
      </p:pic>
      <p:pic>
        <p:nvPicPr>
          <p:cNvPr id="7" name="图片 6"/>
          <p:cNvPicPr>
            <a:picLocks noChangeAspect="1"/>
          </p:cNvPicPr>
          <p:nvPr/>
        </p:nvPicPr>
        <p:blipFill>
          <a:blip r:embed="rId7"/>
          <a:stretch>
            <a:fillRect/>
          </a:stretch>
        </p:blipFill>
        <p:spPr>
          <a:xfrm>
            <a:off x="8249920" y="3198536"/>
            <a:ext cx="3471099" cy="2148774"/>
          </a:xfrm>
          <a:prstGeom prst="rect">
            <a:avLst/>
          </a:prstGeom>
        </p:spPr>
      </p:pic>
    </p:spTree>
    <p:extLst>
      <p:ext uri="{BB962C8B-B14F-4D97-AF65-F5344CB8AC3E}">
        <p14:creationId xmlns:p14="http://schemas.microsoft.com/office/powerpoint/2010/main" val="72685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93040" y="1021086"/>
                <a:ext cx="11863766" cy="5696803"/>
              </a:xfrm>
            </p:spPr>
            <p:txBody>
              <a:bodyPr>
                <a:normAutofit/>
              </a:bodyPr>
              <a:lstStyle/>
              <a:p>
                <a:pPr algn="l"/>
                <a:r>
                  <a:rPr lang="en-US" altLang="zh-CN" sz="2800" dirty="0">
                    <a:latin typeface="Cambria Math" panose="02040503050406030204" pitchFamily="18" charset="0"/>
                  </a:rPr>
                  <a:t>4. </a:t>
                </a:r>
                <a:r>
                  <a:rPr lang="en-US" altLang="zh-CN" sz="2800" dirty="0">
                    <a:solidFill>
                      <a:srgbClr val="FF0000"/>
                    </a:solidFill>
                  </a:rPr>
                  <a:t>inclusion-exclusion identity(</a:t>
                </a:r>
                <a:r>
                  <a:rPr lang="zh-CN" altLang="en-US" sz="2800" dirty="0">
                    <a:solidFill>
                      <a:srgbClr val="FF0000"/>
                    </a:solidFill>
                  </a:rPr>
                  <a:t>容斥恒等式</a:t>
                </a:r>
                <a:r>
                  <a:rPr lang="en-US" altLang="zh-CN" sz="2800" dirty="0">
                    <a:solidFill>
                      <a:srgbClr val="FF0000"/>
                    </a:solidFill>
                  </a:rPr>
                  <a:t>)</a:t>
                </a:r>
              </a:p>
              <a:p>
                <a:pPr algn="l">
                  <a:lnSpc>
                    <a:spcPct val="100000"/>
                  </a:lnSpc>
                </a:pPr>
                <a14:m>
                  <m:oMathPara xmlns:m="http://schemas.openxmlformats.org/officeDocument/2006/math">
                    <m:oMathParaPr>
                      <m:jc m:val="centerGroup"/>
                    </m:oMathParaPr>
                    <m:oMath xmlns:m="http://schemas.openxmlformats.org/officeDocument/2006/math">
                      <m:r>
                        <a:rPr lang="en-US" altLang="zh-CN" sz="2800" i="1" dirty="0">
                          <a:latin typeface="Cambria Math" panose="02040503050406030204" pitchFamily="18" charset="0"/>
                        </a:rPr>
                        <m:t>𝑃</m:t>
                      </m:r>
                      <m:d>
                        <m:dPr>
                          <m:ctrlPr>
                            <a:rPr lang="en-US" altLang="zh-CN" sz="2800" i="1" dirty="0">
                              <a:latin typeface="Cambria Math" panose="02040503050406030204" pitchFamily="18" charset="0"/>
                            </a:rPr>
                          </m:ctrlPr>
                        </m:dPr>
                        <m:e>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r>
                                <a:rPr lang="en-US" altLang="zh-CN" sz="2800" i="1" dirty="0">
                                  <a:latin typeface="Cambria Math" panose="02040503050406030204" pitchFamily="18" charset="0"/>
                                </a:rPr>
                                <m:t>1</m:t>
                              </m:r>
                            </m:sub>
                          </m:sSub>
                          <m:r>
                            <a:rPr lang="en-US" altLang="zh-CN" sz="2800" i="1" dirty="0">
                              <a:latin typeface="Cambria Math" panose="02040503050406030204" pitchFamily="18" charset="0"/>
                              <a:ea typeface="Cambria Math" panose="02040503050406030204" pitchFamily="18" charset="0"/>
                            </a:rPr>
                            <m:t>∪</m:t>
                          </m:r>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r>
                                <a:rPr lang="en-US" altLang="zh-CN" sz="2800" i="1" dirty="0">
                                  <a:latin typeface="Cambria Math" panose="02040503050406030204" pitchFamily="18" charset="0"/>
                                </a:rPr>
                                <m:t>2</m:t>
                              </m:r>
                            </m:sub>
                          </m:sSub>
                          <m:r>
                            <a:rPr lang="en-US" altLang="zh-CN" sz="2800" i="1" dirty="0">
                              <a:latin typeface="Cambria Math" panose="02040503050406030204" pitchFamily="18" charset="0"/>
                              <a:ea typeface="Cambria Math" panose="02040503050406030204" pitchFamily="18" charset="0"/>
                            </a:rPr>
                            <m:t>∪⋯∪</m:t>
                          </m:r>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rPr>
                                <m:t>𝐴</m:t>
                              </m:r>
                            </m:e>
                            <m:sub>
                              <m:r>
                                <a:rPr lang="en-US" altLang="zh-CN" sz="2800" i="1" dirty="0">
                                  <a:latin typeface="Cambria Math" panose="02040503050406030204" pitchFamily="18" charset="0"/>
                                </a:rPr>
                                <m:t>𝑛</m:t>
                              </m:r>
                            </m:sub>
                          </m:sSub>
                        </m:e>
                      </m:d>
                      <m:r>
                        <a:rPr lang="en-US" altLang="zh-CN" sz="2800" b="0" i="1" dirty="0" smtClean="0">
                          <a:latin typeface="Cambria Math" panose="02040503050406030204" pitchFamily="18" charset="0"/>
                        </a:rPr>
                        <m:t>=</m:t>
                      </m:r>
                      <m:nary>
                        <m:naryPr>
                          <m:chr m:val="∑"/>
                          <m:ctrlPr>
                            <a:rPr lang="en-US" altLang="zh-CN" sz="2800" b="0" i="1" dirty="0" smtClean="0">
                              <a:latin typeface="Cambria Math" panose="02040503050406030204" pitchFamily="18" charset="0"/>
                            </a:rPr>
                          </m:ctrlPr>
                        </m:naryPr>
                        <m:sub>
                          <m:r>
                            <m:rPr>
                              <m:brk m:alnAt="23"/>
                            </m:rPr>
                            <a:rPr lang="en-US" altLang="zh-CN" sz="2800" b="0" i="1" dirty="0" smtClean="0">
                              <a:latin typeface="Cambria Math" panose="02040503050406030204" pitchFamily="18" charset="0"/>
                            </a:rPr>
                            <m:t>𝑖</m:t>
                          </m:r>
                          <m:r>
                            <a:rPr lang="en-US" altLang="zh-CN" sz="2800" b="0" i="1" dirty="0" smtClean="0">
                              <a:latin typeface="Cambria Math" panose="02040503050406030204" pitchFamily="18" charset="0"/>
                            </a:rPr>
                            <m:t>=1</m:t>
                          </m:r>
                        </m:sub>
                        <m:sup>
                          <m:r>
                            <a:rPr lang="en-US" altLang="zh-CN" sz="2800" b="0" i="1" dirty="0" smtClean="0">
                              <a:latin typeface="Cambria Math" panose="02040503050406030204" pitchFamily="18" charset="0"/>
                            </a:rPr>
                            <m:t>𝑛</m:t>
                          </m:r>
                        </m:sup>
                        <m:e>
                          <m:r>
                            <a:rPr lang="en-US" altLang="zh-CN" sz="2800" i="1" dirty="0">
                              <a:latin typeface="Cambria Math" panose="02040503050406030204" pitchFamily="18" charset="0"/>
                            </a:rPr>
                            <m:t>𝑃</m:t>
                          </m:r>
                          <m:d>
                            <m:dPr>
                              <m:ctrlPr>
                                <a:rPr lang="en-US" altLang="zh-CN" sz="2800" i="1" dirty="0">
                                  <a:latin typeface="Cambria Math" panose="02040503050406030204" pitchFamily="18" charset="0"/>
                                </a:rPr>
                              </m:ctrlPr>
                            </m:dPr>
                            <m:e>
                              <m:sSub>
                                <m:sSubPr>
                                  <m:ctrlPr>
                                    <a:rPr lang="en-US" altLang="zh-CN" sz="2800" b="0" i="1" dirty="0" smtClean="0">
                                      <a:latin typeface="Cambria Math" panose="02040503050406030204" pitchFamily="18" charset="0"/>
                                    </a:rPr>
                                  </m:ctrlPr>
                                </m:sSubPr>
                                <m:e>
                                  <m:r>
                                    <a:rPr lang="en-US" altLang="zh-CN" sz="2800" i="1" dirty="0">
                                      <a:latin typeface="Cambria Math" panose="02040503050406030204" pitchFamily="18" charset="0"/>
                                    </a:rPr>
                                    <m:t>𝐴</m:t>
                                  </m:r>
                                </m:e>
                                <m:sub>
                                  <m:r>
                                    <a:rPr lang="en-US" altLang="zh-CN" sz="2800" b="0" i="1" dirty="0" smtClean="0">
                                      <a:latin typeface="Cambria Math" panose="02040503050406030204" pitchFamily="18" charset="0"/>
                                    </a:rPr>
                                    <m:t>𝑖</m:t>
                                  </m:r>
                                </m:sub>
                              </m:sSub>
                            </m:e>
                          </m:d>
                        </m:e>
                      </m:nary>
                      <m:r>
                        <a:rPr lang="en-US" altLang="zh-CN" sz="2800" b="0" i="1" dirty="0" smtClean="0">
                          <a:latin typeface="Cambria Math" panose="02040503050406030204" pitchFamily="18" charset="0"/>
                        </a:rPr>
                        <m:t>−</m:t>
                      </m:r>
                      <m:nary>
                        <m:naryPr>
                          <m:chr m:val="∑"/>
                          <m:supHide m:val="on"/>
                          <m:ctrlPr>
                            <a:rPr lang="en-US" altLang="zh-CN" sz="2800" b="0" i="1" dirty="0" smtClean="0">
                              <a:latin typeface="Cambria Math" panose="02040503050406030204" pitchFamily="18" charset="0"/>
                            </a:rPr>
                          </m:ctrlPr>
                        </m:naryPr>
                        <m:sub>
                          <m:sSub>
                            <m:sSubPr>
                              <m:ctrlPr>
                                <a:rPr lang="en-US" altLang="zh-CN" sz="2800" b="0" i="1" dirty="0" smtClean="0">
                                  <a:latin typeface="Cambria Math" panose="02040503050406030204" pitchFamily="18" charset="0"/>
                                </a:rPr>
                              </m:ctrlPr>
                            </m:sSubPr>
                            <m:e>
                              <m:r>
                                <m:rPr>
                                  <m:brk m:alnAt="7"/>
                                </m:rPr>
                                <a:rPr lang="en-US" altLang="zh-CN" sz="2800" b="0" i="1" dirty="0" smtClean="0">
                                  <a:latin typeface="Cambria Math" panose="02040503050406030204" pitchFamily="18" charset="0"/>
                                </a:rPr>
                                <m:t>𝑖</m:t>
                              </m:r>
                            </m:e>
                            <m:sub>
                              <m:r>
                                <m:rPr>
                                  <m:brk m:alnAt="7"/>
                                </m:rPr>
                                <a:rPr lang="en-US" altLang="zh-CN" sz="2800" b="0" i="1" dirty="0" smtClean="0">
                                  <a:latin typeface="Cambria Math" panose="02040503050406030204" pitchFamily="18" charset="0"/>
                                </a:rPr>
                                <m:t>1</m:t>
                              </m:r>
                            </m:sub>
                          </m:sSub>
                          <m:r>
                            <m:rPr>
                              <m:brk m:alnAt="7"/>
                            </m:rPr>
                            <a:rPr lang="en-US" altLang="zh-CN" sz="2800" b="0" i="1" dirty="0" smtClean="0">
                              <a:latin typeface="Cambria Math" panose="02040503050406030204" pitchFamily="18" charset="0"/>
                              <a:ea typeface="Cambria Math" panose="02040503050406030204" pitchFamily="18" charset="0"/>
                            </a:rPr>
                            <m:t>&lt;</m:t>
                          </m:r>
                          <m:sSub>
                            <m:sSubPr>
                              <m:ctrlPr>
                                <a:rPr lang="en-US" altLang="zh-CN" sz="2800" b="0" i="1" dirty="0" smtClean="0">
                                  <a:latin typeface="Cambria Math" panose="02040503050406030204" pitchFamily="18" charset="0"/>
                                  <a:ea typeface="Cambria Math" panose="02040503050406030204" pitchFamily="18" charset="0"/>
                                </a:rPr>
                              </m:ctrlPr>
                            </m:sSubPr>
                            <m:e>
                              <m:r>
                                <m:rPr>
                                  <m:brk m:alnAt="7"/>
                                </m:rPr>
                                <a:rPr lang="en-US" altLang="zh-CN" sz="2800" b="0" i="1" dirty="0" smtClean="0">
                                  <a:latin typeface="Cambria Math" panose="02040503050406030204" pitchFamily="18" charset="0"/>
                                  <a:ea typeface="Cambria Math" panose="02040503050406030204" pitchFamily="18" charset="0"/>
                                </a:rPr>
                                <m:t>𝑖</m:t>
                              </m:r>
                            </m:e>
                            <m:sub>
                              <m:r>
                                <m:rPr>
                                  <m:brk m:alnAt="7"/>
                                </m:rPr>
                                <a:rPr lang="en-US" altLang="zh-CN" sz="2800" b="0" i="1" dirty="0" smtClean="0">
                                  <a:latin typeface="Cambria Math" panose="02040503050406030204" pitchFamily="18" charset="0"/>
                                  <a:ea typeface="Cambria Math" panose="02040503050406030204" pitchFamily="18" charset="0"/>
                                </a:rPr>
                                <m:t>2</m:t>
                              </m:r>
                            </m:sub>
                          </m:sSub>
                        </m:sub>
                        <m:sup/>
                        <m:e>
                          <m:r>
                            <a:rPr lang="en-US" altLang="zh-CN" sz="2800" i="1" dirty="0">
                              <a:latin typeface="Cambria Math" panose="02040503050406030204" pitchFamily="18" charset="0"/>
                            </a:rPr>
                            <m:t>𝑃</m:t>
                          </m:r>
                          <m:d>
                            <m:dPr>
                              <m:ctrlPr>
                                <a:rPr lang="en-US" altLang="zh-CN" sz="2800" i="1" dirty="0">
                                  <a:latin typeface="Cambria Math" panose="02040503050406030204" pitchFamily="18" charset="0"/>
                                </a:rPr>
                              </m:ctrlPr>
                            </m:dPr>
                            <m:e>
                              <m:sSub>
                                <m:sSubPr>
                                  <m:ctrlPr>
                                    <a:rPr lang="en-US" altLang="zh-CN" sz="2800" b="0" i="1" dirty="0" smtClean="0">
                                      <a:latin typeface="Cambria Math" panose="02040503050406030204" pitchFamily="18" charset="0"/>
                                    </a:rPr>
                                  </m:ctrlPr>
                                </m:sSubPr>
                                <m:e>
                                  <m:r>
                                    <a:rPr lang="en-US" altLang="zh-CN" sz="2800" b="0" i="1" dirty="0" smtClean="0">
                                      <a:latin typeface="Cambria Math" panose="02040503050406030204" pitchFamily="18" charset="0"/>
                                    </a:rPr>
                                    <m:t>𝐴</m:t>
                                  </m:r>
                                </m:e>
                                <m:sub>
                                  <m:sSub>
                                    <m:sSubPr>
                                      <m:ctrlPr>
                                        <a:rPr lang="en-US" altLang="zh-CN" sz="2800" b="0" i="1" dirty="0" smtClean="0">
                                          <a:latin typeface="Cambria Math" panose="02040503050406030204" pitchFamily="18" charset="0"/>
                                        </a:rPr>
                                      </m:ctrlPr>
                                    </m:sSubPr>
                                    <m:e>
                                      <m:r>
                                        <a:rPr lang="en-US" altLang="zh-CN" sz="2800" b="0" i="1" dirty="0" smtClean="0">
                                          <a:latin typeface="Cambria Math" panose="02040503050406030204" pitchFamily="18" charset="0"/>
                                        </a:rPr>
                                        <m:t>𝑖</m:t>
                                      </m:r>
                                    </m:e>
                                    <m:sub>
                                      <m:r>
                                        <a:rPr lang="en-US" altLang="zh-CN" sz="2800" b="0" i="1" dirty="0" smtClean="0">
                                          <a:latin typeface="Cambria Math" panose="02040503050406030204" pitchFamily="18" charset="0"/>
                                        </a:rPr>
                                        <m:t>1</m:t>
                                      </m:r>
                                    </m:sub>
                                  </m:sSub>
                                </m:sub>
                              </m:sSub>
                              <m:sSub>
                                <m:sSubPr>
                                  <m:ctrlPr>
                                    <a:rPr lang="en-US" altLang="zh-CN" sz="2800" b="0" i="1" dirty="0" smtClean="0">
                                      <a:latin typeface="Cambria Math" panose="02040503050406030204" pitchFamily="18" charset="0"/>
                                    </a:rPr>
                                  </m:ctrlPr>
                                </m:sSubPr>
                                <m:e>
                                  <m:r>
                                    <a:rPr lang="en-US" altLang="zh-CN" sz="2800" b="0" i="1" dirty="0" smtClean="0">
                                      <a:latin typeface="Cambria Math" panose="02040503050406030204" pitchFamily="18" charset="0"/>
                                    </a:rPr>
                                    <m:t>𝐴</m:t>
                                  </m:r>
                                </m:e>
                                <m:sub>
                                  <m:sSub>
                                    <m:sSubPr>
                                      <m:ctrlPr>
                                        <a:rPr lang="en-US" altLang="zh-CN" sz="2800" b="0" i="1" dirty="0" smtClean="0">
                                          <a:latin typeface="Cambria Math" panose="02040503050406030204" pitchFamily="18" charset="0"/>
                                        </a:rPr>
                                      </m:ctrlPr>
                                    </m:sSubPr>
                                    <m:e>
                                      <m:r>
                                        <a:rPr lang="en-US" altLang="zh-CN" sz="2800" b="0" i="1" dirty="0" smtClean="0">
                                          <a:latin typeface="Cambria Math" panose="02040503050406030204" pitchFamily="18" charset="0"/>
                                        </a:rPr>
                                        <m:t>𝑖</m:t>
                                      </m:r>
                                    </m:e>
                                    <m:sub>
                                      <m:r>
                                        <a:rPr lang="en-US" altLang="zh-CN" sz="2800" b="0" i="1" dirty="0" smtClean="0">
                                          <a:latin typeface="Cambria Math" panose="02040503050406030204" pitchFamily="18" charset="0"/>
                                        </a:rPr>
                                        <m:t>2</m:t>
                                      </m:r>
                                    </m:sub>
                                  </m:sSub>
                                </m:sub>
                              </m:sSub>
                            </m:e>
                          </m:d>
                        </m:e>
                      </m:nary>
                      <m:r>
                        <a:rPr lang="en-US" altLang="zh-CN" sz="2800" i="1" dirty="0" smtClean="0">
                          <a:latin typeface="Cambria Math" panose="02040503050406030204" pitchFamily="18" charset="0"/>
                        </a:rPr>
                        <m:t> </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ea typeface="Cambria Math" panose="02040503050406030204" pitchFamily="18" charset="0"/>
                        </a:rPr>
                        <m:t>⋯+</m:t>
                      </m:r>
                      <m:sSup>
                        <m:sSupPr>
                          <m:ctrlPr>
                            <a:rPr lang="en-US" altLang="zh-CN" sz="2800" b="0" i="1" dirty="0" smtClean="0">
                              <a:latin typeface="Cambria Math" panose="02040503050406030204" pitchFamily="18" charset="0"/>
                              <a:ea typeface="Cambria Math" panose="02040503050406030204" pitchFamily="18" charset="0"/>
                            </a:rPr>
                          </m:ctrlPr>
                        </m:sSupPr>
                        <m:e>
                          <m:d>
                            <m:dPr>
                              <m:ctrlPr>
                                <a:rPr lang="en-US" altLang="zh-CN" sz="2800" b="0" i="1" dirty="0" smtClean="0">
                                  <a:latin typeface="Cambria Math" panose="02040503050406030204" pitchFamily="18" charset="0"/>
                                  <a:ea typeface="Cambria Math" panose="02040503050406030204" pitchFamily="18" charset="0"/>
                                </a:rPr>
                              </m:ctrlPr>
                            </m:dPr>
                            <m:e>
                              <m:r>
                                <a:rPr lang="en-US" altLang="zh-CN" sz="2800" b="0" i="1" dirty="0" smtClean="0">
                                  <a:latin typeface="Cambria Math" panose="02040503050406030204" pitchFamily="18" charset="0"/>
                                  <a:ea typeface="Cambria Math" panose="02040503050406030204" pitchFamily="18" charset="0"/>
                                </a:rPr>
                                <m:t>−1</m:t>
                              </m:r>
                            </m:e>
                          </m:d>
                        </m:e>
                        <m:sup>
                          <m:r>
                            <a:rPr lang="en-US" altLang="zh-CN" sz="2800" i="1" dirty="0">
                              <a:latin typeface="Cambria Math" panose="02040503050406030204" pitchFamily="18" charset="0"/>
                              <a:ea typeface="Cambria Math" panose="02040503050406030204" pitchFamily="18" charset="0"/>
                            </a:rPr>
                            <m:t>𝑟</m:t>
                          </m:r>
                          <m:r>
                            <a:rPr lang="en-US" altLang="zh-CN" sz="2800" i="1" dirty="0">
                              <a:latin typeface="Cambria Math" panose="02040503050406030204" pitchFamily="18" charset="0"/>
                              <a:ea typeface="Cambria Math" panose="02040503050406030204" pitchFamily="18" charset="0"/>
                            </a:rPr>
                            <m:t>+1</m:t>
                          </m:r>
                        </m:sup>
                      </m:sSup>
                      <m:nary>
                        <m:naryPr>
                          <m:chr m:val="∑"/>
                          <m:supHide m:val="on"/>
                          <m:ctrlPr>
                            <a:rPr lang="en-US" altLang="zh-CN" sz="2800" i="1" dirty="0">
                              <a:latin typeface="Cambria Math" panose="02040503050406030204" pitchFamily="18" charset="0"/>
                            </a:rPr>
                          </m:ctrlPr>
                        </m:naryPr>
                        <m:sub>
                          <m:sSub>
                            <m:sSubPr>
                              <m:ctrlPr>
                                <a:rPr lang="en-US" altLang="zh-CN" sz="2800" i="1" dirty="0">
                                  <a:latin typeface="Cambria Math" panose="02040503050406030204" pitchFamily="18" charset="0"/>
                                </a:rPr>
                              </m:ctrlPr>
                            </m:sSubPr>
                            <m:e>
                              <m:r>
                                <m:rPr>
                                  <m:brk m:alnAt="7"/>
                                </m:rPr>
                                <a:rPr lang="en-US" altLang="zh-CN" sz="2800" i="1" dirty="0">
                                  <a:latin typeface="Cambria Math" panose="02040503050406030204" pitchFamily="18" charset="0"/>
                                </a:rPr>
                                <m:t>𝑖</m:t>
                              </m:r>
                            </m:e>
                            <m:sub>
                              <m:r>
                                <m:rPr>
                                  <m:brk m:alnAt="7"/>
                                </m:rPr>
                                <a:rPr lang="en-US" altLang="zh-CN" sz="2800" i="1" dirty="0">
                                  <a:latin typeface="Cambria Math" panose="02040503050406030204" pitchFamily="18" charset="0"/>
                                </a:rPr>
                                <m:t>1</m:t>
                              </m:r>
                            </m:sub>
                          </m:sSub>
                          <m:r>
                            <m:rPr>
                              <m:brk m:alnAt="7"/>
                            </m:rPr>
                            <a:rPr lang="en-US" altLang="zh-CN" sz="2800" i="1" dirty="0">
                              <a:latin typeface="Cambria Math" panose="02040503050406030204" pitchFamily="18" charset="0"/>
                              <a:ea typeface="Cambria Math" panose="02040503050406030204" pitchFamily="18" charset="0"/>
                            </a:rPr>
                            <m:t>&lt;</m:t>
                          </m:r>
                          <m:sSub>
                            <m:sSubPr>
                              <m:ctrlPr>
                                <a:rPr lang="en-US" altLang="zh-CN" sz="2800" i="1" dirty="0">
                                  <a:latin typeface="Cambria Math" panose="02040503050406030204" pitchFamily="18" charset="0"/>
                                  <a:ea typeface="Cambria Math" panose="02040503050406030204" pitchFamily="18" charset="0"/>
                                </a:rPr>
                              </m:ctrlPr>
                            </m:sSubPr>
                            <m:e>
                              <m:r>
                                <m:rPr>
                                  <m:brk m:alnAt="7"/>
                                </m:rPr>
                                <a:rPr lang="en-US" altLang="zh-CN" sz="2800" i="1" dirty="0">
                                  <a:latin typeface="Cambria Math" panose="02040503050406030204" pitchFamily="18" charset="0"/>
                                  <a:ea typeface="Cambria Math" panose="02040503050406030204" pitchFamily="18" charset="0"/>
                                </a:rPr>
                                <m:t>𝑖</m:t>
                              </m:r>
                            </m:e>
                            <m:sub>
                              <m:r>
                                <m:rPr>
                                  <m:brk m:alnAt="7"/>
                                </m:rPr>
                                <a:rPr lang="en-US" altLang="zh-CN" sz="2800" i="1" dirty="0">
                                  <a:latin typeface="Cambria Math" panose="02040503050406030204" pitchFamily="18" charset="0"/>
                                  <a:ea typeface="Cambria Math" panose="02040503050406030204" pitchFamily="18" charset="0"/>
                                </a:rPr>
                                <m:t>2</m:t>
                              </m:r>
                            </m:sub>
                          </m:sSub>
                          <m:r>
                            <a:rPr lang="en-US" altLang="zh-CN" sz="2800" i="1" dirty="0" smtClean="0">
                              <a:latin typeface="Cambria Math" panose="02040503050406030204" pitchFamily="18" charset="0"/>
                              <a:ea typeface="Cambria Math" panose="02040503050406030204" pitchFamily="18" charset="0"/>
                            </a:rPr>
                            <m:t>&lt;⋯&lt;</m:t>
                          </m:r>
                          <m:sSub>
                            <m:sSubPr>
                              <m:ctrlPr>
                                <a:rPr lang="en-US" altLang="zh-CN" sz="2800" b="0" i="1" dirty="0" smtClean="0">
                                  <a:latin typeface="Cambria Math" panose="02040503050406030204" pitchFamily="18" charset="0"/>
                                  <a:ea typeface="Cambria Math" panose="02040503050406030204" pitchFamily="18" charset="0"/>
                                </a:rPr>
                              </m:ctrlPr>
                            </m:sSubPr>
                            <m:e>
                              <m:r>
                                <a:rPr lang="en-US" altLang="zh-CN" sz="2800" b="0" i="1" dirty="0" smtClean="0">
                                  <a:latin typeface="Cambria Math" panose="02040503050406030204" pitchFamily="18" charset="0"/>
                                  <a:ea typeface="Cambria Math" panose="02040503050406030204" pitchFamily="18" charset="0"/>
                                </a:rPr>
                                <m:t>𝑖</m:t>
                              </m:r>
                            </m:e>
                            <m:sub>
                              <m:r>
                                <a:rPr lang="en-US" altLang="zh-CN" sz="2800" b="0" i="1" dirty="0" smtClean="0">
                                  <a:latin typeface="Cambria Math" panose="02040503050406030204" pitchFamily="18" charset="0"/>
                                  <a:ea typeface="Cambria Math" panose="02040503050406030204" pitchFamily="18" charset="0"/>
                                </a:rPr>
                                <m:t>𝑟</m:t>
                              </m:r>
                            </m:sub>
                          </m:sSub>
                        </m:sub>
                        <m:sup/>
                        <m:e>
                          <m:r>
                            <a:rPr lang="en-US" altLang="zh-CN" sz="2800" i="1" dirty="0">
                              <a:latin typeface="Cambria Math" panose="02040503050406030204" pitchFamily="18" charset="0"/>
                            </a:rPr>
                            <m:t>𝑃</m:t>
                          </m:r>
                          <m:d>
                            <m:dPr>
                              <m:ctrlPr>
                                <a:rPr lang="en-US" altLang="zh-CN" sz="2800" i="1" dirty="0">
                                  <a:latin typeface="Cambria Math" panose="02040503050406030204" pitchFamily="18" charset="0"/>
                                </a:rPr>
                              </m:ctrlPr>
                            </m:dPr>
                            <m:e>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𝑖</m:t>
                                      </m:r>
                                    </m:e>
                                    <m:sub>
                                      <m:r>
                                        <a:rPr lang="en-US" altLang="zh-CN" sz="2800" i="1" dirty="0">
                                          <a:latin typeface="Cambria Math" panose="02040503050406030204" pitchFamily="18" charset="0"/>
                                        </a:rPr>
                                        <m:t>1</m:t>
                                      </m:r>
                                    </m:sub>
                                  </m:sSub>
                                </m:sub>
                              </m:sSub>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𝑖</m:t>
                                      </m:r>
                                    </m:e>
                                    <m:sub>
                                      <m:r>
                                        <a:rPr lang="en-US" altLang="zh-CN" sz="2800" i="1" dirty="0">
                                          <a:latin typeface="Cambria Math" panose="02040503050406030204" pitchFamily="18" charset="0"/>
                                        </a:rPr>
                                        <m:t>2</m:t>
                                      </m:r>
                                    </m:sub>
                                  </m:sSub>
                                </m:sub>
                              </m:sSub>
                              <m:r>
                                <a:rPr lang="en-US" altLang="zh-CN" sz="2800" i="1" dirty="0" smtClean="0">
                                  <a:latin typeface="Cambria Math" panose="02040503050406030204" pitchFamily="18" charset="0"/>
                                  <a:ea typeface="Cambria Math" panose="02040503050406030204" pitchFamily="18" charset="0"/>
                                </a:rPr>
                                <m:t>⋯</m:t>
                              </m:r>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𝑖</m:t>
                                      </m:r>
                                    </m:e>
                                    <m:sub>
                                      <m:r>
                                        <a:rPr lang="en-US" altLang="zh-CN" sz="2800" b="0" i="1" dirty="0" smtClean="0">
                                          <a:latin typeface="Cambria Math" panose="02040503050406030204" pitchFamily="18" charset="0"/>
                                        </a:rPr>
                                        <m:t>𝑟</m:t>
                                      </m:r>
                                    </m:sub>
                                  </m:sSub>
                                </m:sub>
                              </m:sSub>
                            </m:e>
                          </m:d>
                        </m:e>
                      </m:nary>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ea typeface="Cambria Math" panose="02040503050406030204" pitchFamily="18" charset="0"/>
                        </a:rPr>
                        <m:t>⋯+</m:t>
                      </m:r>
                      <m:sSup>
                        <m:sSupPr>
                          <m:ctrlPr>
                            <a:rPr lang="en-US" altLang="zh-CN" sz="2800" i="1" dirty="0">
                              <a:latin typeface="Cambria Math" panose="02040503050406030204" pitchFamily="18" charset="0"/>
                              <a:ea typeface="Cambria Math" panose="02040503050406030204" pitchFamily="18" charset="0"/>
                            </a:rPr>
                          </m:ctrlPr>
                        </m:sSupPr>
                        <m:e>
                          <m:d>
                            <m:dPr>
                              <m:ctrlPr>
                                <a:rPr lang="en-US" altLang="zh-CN" sz="2800" i="1" dirty="0">
                                  <a:latin typeface="Cambria Math" panose="02040503050406030204" pitchFamily="18" charset="0"/>
                                  <a:ea typeface="Cambria Math" panose="02040503050406030204" pitchFamily="18" charset="0"/>
                                </a:rPr>
                              </m:ctrlPr>
                            </m:dPr>
                            <m:e>
                              <m:r>
                                <a:rPr lang="en-US" altLang="zh-CN" sz="2800" i="1" dirty="0">
                                  <a:latin typeface="Cambria Math" panose="02040503050406030204" pitchFamily="18" charset="0"/>
                                  <a:ea typeface="Cambria Math" panose="02040503050406030204" pitchFamily="18" charset="0"/>
                                </a:rPr>
                                <m:t>−1</m:t>
                              </m:r>
                            </m:e>
                          </m:d>
                        </m:e>
                        <m:sup>
                          <m:r>
                            <a:rPr lang="en-US" altLang="zh-CN" sz="2800" b="0" i="1" dirty="0" smtClean="0">
                              <a:latin typeface="Cambria Math" panose="02040503050406030204" pitchFamily="18" charset="0"/>
                              <a:ea typeface="Cambria Math" panose="02040503050406030204" pitchFamily="18" charset="0"/>
                            </a:rPr>
                            <m:t>𝑛</m:t>
                          </m:r>
                          <m:r>
                            <a:rPr lang="en-US" altLang="zh-CN" sz="2800" i="1" dirty="0">
                              <a:latin typeface="Cambria Math" panose="02040503050406030204" pitchFamily="18" charset="0"/>
                              <a:ea typeface="Cambria Math" panose="02040503050406030204" pitchFamily="18" charset="0"/>
                            </a:rPr>
                            <m:t>+1</m:t>
                          </m:r>
                        </m:sup>
                      </m:sSup>
                      <m:r>
                        <a:rPr lang="en-US" altLang="zh-CN" sz="2800" i="1" dirty="0">
                          <a:latin typeface="Cambria Math" panose="02040503050406030204" pitchFamily="18" charset="0"/>
                        </a:rPr>
                        <m:t>𝑃</m:t>
                      </m:r>
                      <m:d>
                        <m:dPr>
                          <m:ctrlPr>
                            <a:rPr lang="en-US" altLang="zh-CN" sz="2800" i="1" dirty="0">
                              <a:latin typeface="Cambria Math" panose="02040503050406030204" pitchFamily="18" charset="0"/>
                            </a:rPr>
                          </m:ctrlPr>
                        </m:dPr>
                        <m:e>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r>
                                <a:rPr lang="en-US" altLang="zh-CN" sz="2800" b="0" i="1" dirty="0" smtClean="0">
                                  <a:latin typeface="Cambria Math" panose="02040503050406030204" pitchFamily="18" charset="0"/>
                                </a:rPr>
                                <m:t>1</m:t>
                              </m:r>
                            </m:sub>
                          </m:sSub>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r>
                                <a:rPr lang="en-US" altLang="zh-CN" sz="2800" b="0" i="1" dirty="0" smtClean="0">
                                  <a:latin typeface="Cambria Math" panose="02040503050406030204" pitchFamily="18" charset="0"/>
                                </a:rPr>
                                <m:t>2</m:t>
                              </m:r>
                            </m:sub>
                          </m:sSub>
                          <m:r>
                            <a:rPr lang="en-US" altLang="zh-CN" sz="2800" i="1" dirty="0">
                              <a:latin typeface="Cambria Math" panose="02040503050406030204" pitchFamily="18" charset="0"/>
                              <a:ea typeface="Cambria Math" panose="02040503050406030204" pitchFamily="18" charset="0"/>
                            </a:rPr>
                            <m:t>⋯</m:t>
                          </m:r>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r>
                                <a:rPr lang="en-US" altLang="zh-CN" sz="2800" i="1" dirty="0" smtClean="0">
                                  <a:latin typeface="Cambria Math" panose="02040503050406030204" pitchFamily="18" charset="0"/>
                                </a:rPr>
                                <m:t>𝑛</m:t>
                              </m:r>
                            </m:sub>
                          </m:sSub>
                        </m:e>
                      </m:d>
                    </m:oMath>
                  </m:oMathPara>
                </a14:m>
                <a:endParaRPr lang="en-US" altLang="zh-CN" sz="2800" dirty="0"/>
              </a:p>
              <a:p>
                <a:pPr algn="l"/>
                <a:r>
                  <a:rPr lang="en-US" altLang="zh-CN" sz="2800" dirty="0"/>
                  <a:t>The summation </a:t>
                </a:r>
                <a14:m>
                  <m:oMath xmlns:m="http://schemas.openxmlformats.org/officeDocument/2006/math">
                    <m:nary>
                      <m:naryPr>
                        <m:chr m:val="∑"/>
                        <m:supHide m:val="on"/>
                        <m:ctrlPr>
                          <a:rPr lang="en-US" altLang="zh-CN" sz="2800" i="1" dirty="0">
                            <a:latin typeface="Cambria Math" panose="02040503050406030204" pitchFamily="18" charset="0"/>
                          </a:rPr>
                        </m:ctrlPr>
                      </m:naryPr>
                      <m:sub>
                        <m:sSub>
                          <m:sSubPr>
                            <m:ctrlPr>
                              <a:rPr lang="en-US" altLang="zh-CN" sz="2800" i="1" dirty="0">
                                <a:latin typeface="Cambria Math" panose="02040503050406030204" pitchFamily="18" charset="0"/>
                              </a:rPr>
                            </m:ctrlPr>
                          </m:sSubPr>
                          <m:e>
                            <m:r>
                              <m:rPr>
                                <m:brk m:alnAt="7"/>
                              </m:rPr>
                              <a:rPr lang="en-US" altLang="zh-CN" sz="2800" i="1" dirty="0">
                                <a:latin typeface="Cambria Math" panose="02040503050406030204" pitchFamily="18" charset="0"/>
                              </a:rPr>
                              <m:t>𝑖</m:t>
                            </m:r>
                          </m:e>
                          <m:sub>
                            <m:r>
                              <m:rPr>
                                <m:brk m:alnAt="7"/>
                              </m:rPr>
                              <a:rPr lang="en-US" altLang="zh-CN" sz="2800" i="1" dirty="0">
                                <a:latin typeface="Cambria Math" panose="02040503050406030204" pitchFamily="18" charset="0"/>
                              </a:rPr>
                              <m:t>1</m:t>
                            </m:r>
                          </m:sub>
                        </m:sSub>
                        <m:r>
                          <m:rPr>
                            <m:brk m:alnAt="7"/>
                          </m:rPr>
                          <a:rPr lang="en-US" altLang="zh-CN" sz="2800" i="1" dirty="0">
                            <a:latin typeface="Cambria Math" panose="02040503050406030204" pitchFamily="18" charset="0"/>
                            <a:ea typeface="Cambria Math" panose="02040503050406030204" pitchFamily="18" charset="0"/>
                          </a:rPr>
                          <m:t>&lt;</m:t>
                        </m:r>
                        <m:sSub>
                          <m:sSubPr>
                            <m:ctrlPr>
                              <a:rPr lang="en-US" altLang="zh-CN" sz="2800" i="1" dirty="0">
                                <a:latin typeface="Cambria Math" panose="02040503050406030204" pitchFamily="18" charset="0"/>
                                <a:ea typeface="Cambria Math" panose="02040503050406030204" pitchFamily="18" charset="0"/>
                              </a:rPr>
                            </m:ctrlPr>
                          </m:sSubPr>
                          <m:e>
                            <m:r>
                              <m:rPr>
                                <m:brk m:alnAt="7"/>
                              </m:rPr>
                              <a:rPr lang="en-US" altLang="zh-CN" sz="2800" i="1" dirty="0">
                                <a:latin typeface="Cambria Math" panose="02040503050406030204" pitchFamily="18" charset="0"/>
                                <a:ea typeface="Cambria Math" panose="02040503050406030204" pitchFamily="18" charset="0"/>
                              </a:rPr>
                              <m:t>𝑖</m:t>
                            </m:r>
                          </m:e>
                          <m:sub>
                            <m:r>
                              <m:rPr>
                                <m:brk m:alnAt="7"/>
                              </m:rPr>
                              <a:rPr lang="en-US" altLang="zh-CN" sz="2800" i="1" dirty="0">
                                <a:latin typeface="Cambria Math" panose="02040503050406030204" pitchFamily="18" charset="0"/>
                                <a:ea typeface="Cambria Math" panose="02040503050406030204" pitchFamily="18" charset="0"/>
                              </a:rPr>
                              <m:t>2</m:t>
                            </m:r>
                          </m:sub>
                        </m:sSub>
                        <m:r>
                          <a:rPr lang="en-US" altLang="zh-CN" sz="2800" i="1" dirty="0">
                            <a:latin typeface="Cambria Math" panose="02040503050406030204" pitchFamily="18" charset="0"/>
                            <a:ea typeface="Cambria Math" panose="02040503050406030204" pitchFamily="18" charset="0"/>
                          </a:rPr>
                          <m:t>&lt;⋯&lt;</m:t>
                        </m:r>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𝑖</m:t>
                            </m:r>
                          </m:e>
                          <m:sub>
                            <m:r>
                              <a:rPr lang="en-US" altLang="zh-CN" sz="2800" i="1" dirty="0">
                                <a:latin typeface="Cambria Math" panose="02040503050406030204" pitchFamily="18" charset="0"/>
                                <a:ea typeface="Cambria Math" panose="02040503050406030204" pitchFamily="18" charset="0"/>
                              </a:rPr>
                              <m:t>𝑟</m:t>
                            </m:r>
                          </m:sub>
                        </m:sSub>
                      </m:sub>
                      <m:sup/>
                      <m:e>
                        <m:r>
                          <a:rPr lang="en-US" altLang="zh-CN" sz="2800" i="1" dirty="0">
                            <a:latin typeface="Cambria Math" panose="02040503050406030204" pitchFamily="18" charset="0"/>
                          </a:rPr>
                          <m:t>𝑃</m:t>
                        </m:r>
                        <m:d>
                          <m:dPr>
                            <m:ctrlPr>
                              <a:rPr lang="en-US" altLang="zh-CN" sz="2800" i="1" dirty="0">
                                <a:latin typeface="Cambria Math" panose="02040503050406030204" pitchFamily="18" charset="0"/>
                              </a:rPr>
                            </m:ctrlPr>
                          </m:dPr>
                          <m:e>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𝑖</m:t>
                                    </m:r>
                                  </m:e>
                                  <m:sub>
                                    <m:r>
                                      <a:rPr lang="en-US" altLang="zh-CN" sz="2800" i="1" dirty="0">
                                        <a:latin typeface="Cambria Math" panose="02040503050406030204" pitchFamily="18" charset="0"/>
                                      </a:rPr>
                                      <m:t>1</m:t>
                                    </m:r>
                                  </m:sub>
                                </m:sSub>
                              </m:sub>
                            </m:sSub>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𝑖</m:t>
                                    </m:r>
                                  </m:e>
                                  <m:sub>
                                    <m:r>
                                      <a:rPr lang="en-US" altLang="zh-CN" sz="2800" i="1" dirty="0">
                                        <a:latin typeface="Cambria Math" panose="02040503050406030204" pitchFamily="18" charset="0"/>
                                      </a:rPr>
                                      <m:t>2</m:t>
                                    </m:r>
                                  </m:sub>
                                </m:sSub>
                              </m:sub>
                            </m:sSub>
                            <m:r>
                              <a:rPr lang="en-US" altLang="zh-CN" sz="2800" i="1" dirty="0">
                                <a:latin typeface="Cambria Math" panose="02040503050406030204" pitchFamily="18" charset="0"/>
                                <a:ea typeface="Cambria Math" panose="02040503050406030204" pitchFamily="18" charset="0"/>
                              </a:rPr>
                              <m:t>⋯</m:t>
                            </m:r>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𝑖</m:t>
                                    </m:r>
                                  </m:e>
                                  <m:sub>
                                    <m:r>
                                      <a:rPr lang="en-US" altLang="zh-CN" sz="2800" i="1" dirty="0">
                                        <a:latin typeface="Cambria Math" panose="02040503050406030204" pitchFamily="18" charset="0"/>
                                      </a:rPr>
                                      <m:t>𝑟</m:t>
                                    </m:r>
                                  </m:sub>
                                </m:sSub>
                              </m:sub>
                            </m:sSub>
                          </m:e>
                        </m:d>
                      </m:e>
                    </m:nary>
                  </m:oMath>
                </a14:m>
                <a:r>
                  <a:rPr lang="en-US" altLang="zh-CN" sz="2800" dirty="0"/>
                  <a:t> is taken over all of the </a:t>
                </a:r>
                <a14:m>
                  <m:oMath xmlns:m="http://schemas.openxmlformats.org/officeDocument/2006/math">
                    <m:d>
                      <m:dPr>
                        <m:ctrlPr>
                          <a:rPr lang="en-US" altLang="zh-CN" sz="2800" i="1" dirty="0" smtClean="0">
                            <a:latin typeface="Cambria Math" panose="02040503050406030204" pitchFamily="18" charset="0"/>
                          </a:rPr>
                        </m:ctrlPr>
                      </m:dPr>
                      <m:e>
                        <m:m>
                          <m:mPr>
                            <m:mcs>
                              <m:mc>
                                <m:mcPr>
                                  <m:count m:val="1"/>
                                  <m:mcJc m:val="center"/>
                                </m:mcPr>
                              </m:mc>
                            </m:mcs>
                            <m:ctrlPr>
                              <a:rPr lang="en-US" altLang="zh-CN" sz="2800" i="1" dirty="0">
                                <a:latin typeface="Cambria Math" panose="02040503050406030204" pitchFamily="18" charset="0"/>
                              </a:rPr>
                            </m:ctrlPr>
                          </m:mPr>
                          <m:mr>
                            <m:e>
                              <m:r>
                                <m:rPr>
                                  <m:brk m:alnAt="7"/>
                                </m:rPr>
                                <a:rPr lang="en-US" altLang="zh-CN" sz="2800" i="1" dirty="0">
                                  <a:latin typeface="Cambria Math" panose="02040503050406030204" pitchFamily="18" charset="0"/>
                                </a:rPr>
                                <m:t>𝑛</m:t>
                              </m:r>
                            </m:e>
                          </m:mr>
                          <m:mr>
                            <m:e>
                              <m:r>
                                <a:rPr lang="en-US" altLang="zh-CN" sz="2800" i="1" dirty="0">
                                  <a:latin typeface="Cambria Math" panose="02040503050406030204" pitchFamily="18" charset="0"/>
                                </a:rPr>
                                <m:t>𝑟</m:t>
                              </m:r>
                            </m:e>
                          </m:mr>
                        </m:m>
                      </m:e>
                    </m:d>
                  </m:oMath>
                </a14:m>
                <a:r>
                  <a:rPr lang="en-US" altLang="zh-CN" sz="2800" dirty="0"/>
                  <a:t> possible subsets of size </a:t>
                </a:r>
                <a14:m>
                  <m:oMath xmlns:m="http://schemas.openxmlformats.org/officeDocument/2006/math">
                    <m:r>
                      <a:rPr lang="en-US" altLang="zh-CN" sz="2800" i="1" dirty="0" smtClean="0">
                        <a:latin typeface="Cambria Math" panose="02040503050406030204" pitchFamily="18" charset="0"/>
                      </a:rPr>
                      <m:t>𝑟</m:t>
                    </m:r>
                  </m:oMath>
                </a14:m>
                <a:r>
                  <a:rPr lang="en-US" altLang="zh-CN" sz="2800" dirty="0"/>
                  <a:t> of the set </a:t>
                </a:r>
                <a14:m>
                  <m:oMath xmlns:m="http://schemas.openxmlformats.org/officeDocument/2006/math">
                    <m:r>
                      <a:rPr lang="en-US" altLang="zh-CN" sz="2800" i="1" dirty="0" smtClean="0">
                        <a:latin typeface="Cambria Math" panose="02040503050406030204" pitchFamily="18" charset="0"/>
                      </a:rPr>
                      <m:t>{1,2, … ,</m:t>
                    </m:r>
                    <m:r>
                      <a:rPr lang="en-US" altLang="zh-CN" sz="2800" i="1" dirty="0" smtClean="0">
                        <a:latin typeface="Cambria Math" panose="02040503050406030204" pitchFamily="18" charset="0"/>
                      </a:rPr>
                      <m:t>𝑛</m:t>
                    </m:r>
                    <m:r>
                      <a:rPr lang="en-US" altLang="zh-CN" sz="2800" i="1" dirty="0" smtClean="0">
                        <a:latin typeface="Cambria Math" panose="02040503050406030204" pitchFamily="18" charset="0"/>
                      </a:rPr>
                      <m:t>}.</m:t>
                    </m:r>
                  </m:oMath>
                </a14:m>
                <a:endParaRPr lang="en-US" altLang="zh-CN" sz="2800"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93040" y="1021086"/>
                <a:ext cx="11863766" cy="5696803"/>
              </a:xfrm>
              <a:blipFill>
                <a:blip r:embed="rId3"/>
                <a:stretch>
                  <a:fillRect l="-1079" t="-2355" r="-1439"/>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183479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93040" y="1021086"/>
                <a:ext cx="11863766" cy="5696803"/>
              </a:xfrm>
            </p:spPr>
            <p:txBody>
              <a:bodyPr>
                <a:normAutofit/>
              </a:bodyPr>
              <a:lstStyle/>
              <a:p>
                <a:pPr algn="l"/>
                <a:r>
                  <a:rPr lang="en-US" altLang="zh-CN" sz="2800" dirty="0">
                    <a:latin typeface="Cambria Math" panose="02040503050406030204" pitchFamily="18" charset="0"/>
                  </a:rPr>
                  <a:t>4. </a:t>
                </a:r>
                <a:r>
                  <a:rPr lang="en-US" altLang="zh-CN" sz="2800" dirty="0">
                    <a:solidFill>
                      <a:srgbClr val="FF0000"/>
                    </a:solidFill>
                  </a:rPr>
                  <a:t>inclusion-exclusion identity</a:t>
                </a:r>
              </a:p>
              <a:p>
                <a:pPr algn="l"/>
                <a:r>
                  <a:rPr lang="en-US" altLang="zh-CN" sz="2800" dirty="0"/>
                  <a:t>It states that the probability of the union of </a:t>
                </a:r>
                <a14:m>
                  <m:oMath xmlns:m="http://schemas.openxmlformats.org/officeDocument/2006/math">
                    <m:r>
                      <a:rPr lang="en-US" altLang="zh-CN" sz="2800" i="1" dirty="0" smtClean="0">
                        <a:latin typeface="Cambria Math" panose="02040503050406030204" pitchFamily="18" charset="0"/>
                      </a:rPr>
                      <m:t>𝑛</m:t>
                    </m:r>
                  </m:oMath>
                </a14:m>
                <a:r>
                  <a:rPr lang="en-US" altLang="zh-CN" sz="2800" dirty="0"/>
                  <a:t> events equals the sum of the probabilities of these events taken one at a time, minus the sum of the probabilities of these events taken two at a time, plus the sum of the probabilities of these events taken three at a time, and so on.</a:t>
                </a:r>
              </a:p>
              <a:p>
                <a:pPr algn="l"/>
                <a14:m>
                  <m:oMathPara xmlns:m="http://schemas.openxmlformats.org/officeDocument/2006/math">
                    <m:oMathParaPr>
                      <m:jc m:val="centerGroup"/>
                    </m:oMathParaPr>
                    <m:oMath xmlns:m="http://schemas.openxmlformats.org/officeDocument/2006/math">
                      <m:r>
                        <a:rPr lang="en-US" altLang="zh-CN" sz="2800" i="1" dirty="0">
                          <a:latin typeface="Cambria Math" panose="02040503050406030204" pitchFamily="18" charset="0"/>
                        </a:rPr>
                        <m:t>𝑃</m:t>
                      </m:r>
                      <m:d>
                        <m:dPr>
                          <m:ctrlPr>
                            <a:rPr lang="en-US" altLang="zh-CN" sz="2800" i="1" dirty="0">
                              <a:latin typeface="Cambria Math" panose="02040503050406030204" pitchFamily="18" charset="0"/>
                            </a:rPr>
                          </m:ctrlPr>
                        </m:dPr>
                        <m:e>
                          <m:nary>
                            <m:naryPr>
                              <m:chr m:val="⋃"/>
                              <m:ctrlPr>
                                <a:rPr lang="en-US" altLang="zh-CN" sz="2800" i="1" dirty="0">
                                  <a:latin typeface="Cambria Math" panose="02040503050406030204" pitchFamily="18" charset="0"/>
                                </a:rPr>
                              </m:ctrlPr>
                            </m:naryPr>
                            <m:sub>
                              <m:r>
                                <m:rPr>
                                  <m:brk m:alnAt="23"/>
                                </m:rPr>
                                <a:rPr lang="en-US" altLang="zh-CN" sz="2800" i="1" dirty="0">
                                  <a:latin typeface="Cambria Math" panose="02040503050406030204" pitchFamily="18" charset="0"/>
                                </a:rPr>
                                <m:t>𝑖</m:t>
                              </m:r>
                              <m:r>
                                <a:rPr lang="en-US" altLang="zh-CN" sz="2800" i="1" dirty="0">
                                  <a:latin typeface="Cambria Math" panose="02040503050406030204" pitchFamily="18" charset="0"/>
                                </a:rPr>
                                <m:t>=1</m:t>
                              </m:r>
                            </m:sub>
                            <m:sup>
                              <m:r>
                                <a:rPr lang="en-US" altLang="zh-CN" sz="2800" i="1" dirty="0">
                                  <a:latin typeface="Cambria Math" panose="02040503050406030204" pitchFamily="18" charset="0"/>
                                </a:rPr>
                                <m:t>𝑛</m:t>
                              </m:r>
                            </m:sup>
                            <m:e>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r>
                                    <a:rPr lang="en-US" altLang="zh-CN" sz="2800" i="1" dirty="0">
                                      <a:latin typeface="Cambria Math" panose="02040503050406030204" pitchFamily="18" charset="0"/>
                                    </a:rPr>
                                    <m:t>𝑖</m:t>
                                  </m:r>
                                </m:sub>
                              </m:sSub>
                            </m:e>
                          </m:nary>
                        </m:e>
                      </m:d>
                      <m:r>
                        <a:rPr lang="en-US" altLang="zh-CN" sz="2800" i="1" dirty="0">
                          <a:latin typeface="Cambria Math" panose="02040503050406030204" pitchFamily="18" charset="0"/>
                        </a:rPr>
                        <m:t>=</m:t>
                      </m:r>
                      <m:nary>
                        <m:naryPr>
                          <m:chr m:val="∑"/>
                          <m:ctrlPr>
                            <a:rPr lang="en-US" altLang="zh-CN" sz="2800" i="1" dirty="0">
                              <a:latin typeface="Cambria Math" panose="02040503050406030204" pitchFamily="18" charset="0"/>
                            </a:rPr>
                          </m:ctrlPr>
                        </m:naryPr>
                        <m:sub>
                          <m:r>
                            <m:rPr>
                              <m:brk m:alnAt="23"/>
                            </m:rPr>
                            <a:rPr lang="en-US" altLang="zh-CN" sz="2800" i="1" dirty="0">
                              <a:latin typeface="Cambria Math" panose="02040503050406030204" pitchFamily="18" charset="0"/>
                            </a:rPr>
                            <m:t>𝑟</m:t>
                          </m:r>
                          <m:r>
                            <a:rPr lang="en-US" altLang="zh-CN" sz="2800" i="1" dirty="0">
                              <a:latin typeface="Cambria Math" panose="02040503050406030204" pitchFamily="18" charset="0"/>
                            </a:rPr>
                            <m:t>=1</m:t>
                          </m:r>
                        </m:sub>
                        <m:sup>
                          <m:r>
                            <a:rPr lang="en-US" altLang="zh-CN" sz="2800" i="1" dirty="0">
                              <a:latin typeface="Cambria Math" panose="02040503050406030204" pitchFamily="18" charset="0"/>
                            </a:rPr>
                            <m:t>𝑛</m:t>
                          </m:r>
                        </m:sup>
                        <m:e>
                          <m:sSup>
                            <m:sSupPr>
                              <m:ctrlPr>
                                <a:rPr lang="en-US" altLang="zh-CN" sz="2800" i="1" dirty="0">
                                  <a:latin typeface="Cambria Math" panose="02040503050406030204" pitchFamily="18" charset="0"/>
                                  <a:ea typeface="Cambria Math" panose="02040503050406030204" pitchFamily="18" charset="0"/>
                                </a:rPr>
                              </m:ctrlPr>
                            </m:sSupPr>
                            <m:e>
                              <m:d>
                                <m:dPr>
                                  <m:ctrlPr>
                                    <a:rPr lang="en-US" altLang="zh-CN" sz="2800" i="1" dirty="0">
                                      <a:latin typeface="Cambria Math" panose="02040503050406030204" pitchFamily="18" charset="0"/>
                                      <a:ea typeface="Cambria Math" panose="02040503050406030204" pitchFamily="18" charset="0"/>
                                    </a:rPr>
                                  </m:ctrlPr>
                                </m:dPr>
                                <m:e>
                                  <m:r>
                                    <a:rPr lang="en-US" altLang="zh-CN" sz="2800" i="1" dirty="0">
                                      <a:latin typeface="Cambria Math" panose="02040503050406030204" pitchFamily="18" charset="0"/>
                                      <a:ea typeface="Cambria Math" panose="02040503050406030204" pitchFamily="18" charset="0"/>
                                    </a:rPr>
                                    <m:t>−1</m:t>
                                  </m:r>
                                </m:e>
                              </m:d>
                            </m:e>
                            <m:sup>
                              <m:r>
                                <a:rPr lang="en-US" altLang="zh-CN" sz="2800" i="1" dirty="0">
                                  <a:latin typeface="Cambria Math" panose="02040503050406030204" pitchFamily="18" charset="0"/>
                                  <a:ea typeface="Cambria Math" panose="02040503050406030204" pitchFamily="18" charset="0"/>
                                </a:rPr>
                                <m:t>𝑟</m:t>
                              </m:r>
                              <m:r>
                                <a:rPr lang="en-US" altLang="zh-CN" sz="2800" i="1" dirty="0">
                                  <a:latin typeface="Cambria Math" panose="02040503050406030204" pitchFamily="18" charset="0"/>
                                  <a:ea typeface="Cambria Math" panose="02040503050406030204" pitchFamily="18" charset="0"/>
                                </a:rPr>
                                <m:t>+1</m:t>
                              </m:r>
                            </m:sup>
                          </m:sSup>
                          <m:nary>
                            <m:naryPr>
                              <m:chr m:val="∑"/>
                              <m:supHide m:val="on"/>
                              <m:ctrlPr>
                                <a:rPr lang="en-US" altLang="zh-CN" sz="2800" i="1" dirty="0">
                                  <a:latin typeface="Cambria Math" panose="02040503050406030204" pitchFamily="18" charset="0"/>
                                </a:rPr>
                              </m:ctrlPr>
                            </m:naryPr>
                            <m:sub>
                              <m:sSub>
                                <m:sSubPr>
                                  <m:ctrlPr>
                                    <a:rPr lang="en-US" altLang="zh-CN" sz="2800" i="1" dirty="0">
                                      <a:latin typeface="Cambria Math" panose="02040503050406030204" pitchFamily="18" charset="0"/>
                                    </a:rPr>
                                  </m:ctrlPr>
                                </m:sSubPr>
                                <m:e>
                                  <m:r>
                                    <m:rPr>
                                      <m:brk m:alnAt="7"/>
                                    </m:rPr>
                                    <a:rPr lang="en-US" altLang="zh-CN" sz="2800" i="1" dirty="0">
                                      <a:latin typeface="Cambria Math" panose="02040503050406030204" pitchFamily="18" charset="0"/>
                                    </a:rPr>
                                    <m:t>𝑖</m:t>
                                  </m:r>
                                </m:e>
                                <m:sub>
                                  <m:r>
                                    <m:rPr>
                                      <m:brk m:alnAt="7"/>
                                    </m:rPr>
                                    <a:rPr lang="en-US" altLang="zh-CN" sz="2800" i="1" dirty="0">
                                      <a:latin typeface="Cambria Math" panose="02040503050406030204" pitchFamily="18" charset="0"/>
                                    </a:rPr>
                                    <m:t>1</m:t>
                                  </m:r>
                                </m:sub>
                              </m:sSub>
                              <m:r>
                                <m:rPr>
                                  <m:brk m:alnAt="7"/>
                                </m:rPr>
                                <a:rPr lang="en-US" altLang="zh-CN" sz="2800" i="1" dirty="0">
                                  <a:latin typeface="Cambria Math" panose="02040503050406030204" pitchFamily="18" charset="0"/>
                                  <a:ea typeface="Cambria Math" panose="02040503050406030204" pitchFamily="18" charset="0"/>
                                </a:rPr>
                                <m:t>&lt;</m:t>
                              </m:r>
                              <m:sSub>
                                <m:sSubPr>
                                  <m:ctrlPr>
                                    <a:rPr lang="en-US" altLang="zh-CN" sz="2800" i="1" dirty="0">
                                      <a:latin typeface="Cambria Math" panose="02040503050406030204" pitchFamily="18" charset="0"/>
                                      <a:ea typeface="Cambria Math" panose="02040503050406030204" pitchFamily="18" charset="0"/>
                                    </a:rPr>
                                  </m:ctrlPr>
                                </m:sSubPr>
                                <m:e>
                                  <m:r>
                                    <m:rPr>
                                      <m:brk m:alnAt="7"/>
                                    </m:rPr>
                                    <a:rPr lang="en-US" altLang="zh-CN" sz="2800" i="1" dirty="0">
                                      <a:latin typeface="Cambria Math" panose="02040503050406030204" pitchFamily="18" charset="0"/>
                                      <a:ea typeface="Cambria Math" panose="02040503050406030204" pitchFamily="18" charset="0"/>
                                    </a:rPr>
                                    <m:t>𝑖</m:t>
                                  </m:r>
                                </m:e>
                                <m:sub>
                                  <m:r>
                                    <m:rPr>
                                      <m:brk m:alnAt="7"/>
                                    </m:rPr>
                                    <a:rPr lang="en-US" altLang="zh-CN" sz="2800" i="1" dirty="0">
                                      <a:latin typeface="Cambria Math" panose="02040503050406030204" pitchFamily="18" charset="0"/>
                                      <a:ea typeface="Cambria Math" panose="02040503050406030204" pitchFamily="18" charset="0"/>
                                    </a:rPr>
                                    <m:t>2</m:t>
                                  </m:r>
                                </m:sub>
                              </m:sSub>
                              <m:r>
                                <a:rPr lang="en-US" altLang="zh-CN" sz="2800" i="1" dirty="0">
                                  <a:latin typeface="Cambria Math" panose="02040503050406030204" pitchFamily="18" charset="0"/>
                                  <a:ea typeface="Cambria Math" panose="02040503050406030204" pitchFamily="18" charset="0"/>
                                </a:rPr>
                                <m:t>&lt;⋯&lt;</m:t>
                              </m:r>
                              <m:sSub>
                                <m:sSubPr>
                                  <m:ctrlPr>
                                    <a:rPr lang="en-US" altLang="zh-CN" sz="2800" i="1" dirty="0">
                                      <a:latin typeface="Cambria Math" panose="02040503050406030204" pitchFamily="18" charset="0"/>
                                      <a:ea typeface="Cambria Math" panose="02040503050406030204" pitchFamily="18" charset="0"/>
                                    </a:rPr>
                                  </m:ctrlPr>
                                </m:sSubPr>
                                <m:e>
                                  <m:r>
                                    <a:rPr lang="en-US" altLang="zh-CN" sz="2800" i="1" dirty="0">
                                      <a:latin typeface="Cambria Math" panose="02040503050406030204" pitchFamily="18" charset="0"/>
                                      <a:ea typeface="Cambria Math" panose="02040503050406030204" pitchFamily="18" charset="0"/>
                                    </a:rPr>
                                    <m:t>𝑖</m:t>
                                  </m:r>
                                </m:e>
                                <m:sub>
                                  <m:r>
                                    <a:rPr lang="en-US" altLang="zh-CN" sz="2800" i="1" dirty="0">
                                      <a:latin typeface="Cambria Math" panose="02040503050406030204" pitchFamily="18" charset="0"/>
                                      <a:ea typeface="Cambria Math" panose="02040503050406030204" pitchFamily="18" charset="0"/>
                                    </a:rPr>
                                    <m:t>𝑟</m:t>
                                  </m:r>
                                </m:sub>
                              </m:sSub>
                            </m:sub>
                            <m:sup/>
                            <m:e>
                              <m:r>
                                <a:rPr lang="en-US" altLang="zh-CN" sz="2800" i="1" dirty="0">
                                  <a:latin typeface="Cambria Math" panose="02040503050406030204" pitchFamily="18" charset="0"/>
                                </a:rPr>
                                <m:t>𝑃</m:t>
                              </m:r>
                              <m:d>
                                <m:dPr>
                                  <m:ctrlPr>
                                    <a:rPr lang="en-US" altLang="zh-CN" sz="2800" i="1" dirty="0">
                                      <a:latin typeface="Cambria Math" panose="02040503050406030204" pitchFamily="18" charset="0"/>
                                    </a:rPr>
                                  </m:ctrlPr>
                                </m:dPr>
                                <m:e>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𝑖</m:t>
                                          </m:r>
                                        </m:e>
                                        <m:sub>
                                          <m:r>
                                            <a:rPr lang="en-US" altLang="zh-CN" sz="2800" i="1" dirty="0">
                                              <a:latin typeface="Cambria Math" panose="02040503050406030204" pitchFamily="18" charset="0"/>
                                            </a:rPr>
                                            <m:t>1</m:t>
                                          </m:r>
                                        </m:sub>
                                      </m:sSub>
                                    </m:sub>
                                  </m:sSub>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𝑖</m:t>
                                          </m:r>
                                        </m:e>
                                        <m:sub>
                                          <m:r>
                                            <a:rPr lang="en-US" altLang="zh-CN" sz="2800" i="1" dirty="0">
                                              <a:latin typeface="Cambria Math" panose="02040503050406030204" pitchFamily="18" charset="0"/>
                                            </a:rPr>
                                            <m:t>2</m:t>
                                          </m:r>
                                        </m:sub>
                                      </m:sSub>
                                    </m:sub>
                                  </m:sSub>
                                  <m:r>
                                    <a:rPr lang="en-US" altLang="zh-CN" sz="2800" i="1" dirty="0">
                                      <a:latin typeface="Cambria Math" panose="02040503050406030204" pitchFamily="18" charset="0"/>
                                      <a:ea typeface="Cambria Math" panose="02040503050406030204" pitchFamily="18" charset="0"/>
                                    </a:rPr>
                                    <m:t>⋯</m:t>
                                  </m:r>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𝑖</m:t>
                                          </m:r>
                                        </m:e>
                                        <m:sub>
                                          <m:r>
                                            <a:rPr lang="en-US" altLang="zh-CN" sz="2800" i="1" dirty="0">
                                              <a:latin typeface="Cambria Math" panose="02040503050406030204" pitchFamily="18" charset="0"/>
                                            </a:rPr>
                                            <m:t>𝑟</m:t>
                                          </m:r>
                                        </m:sub>
                                      </m:sSub>
                                    </m:sub>
                                  </m:sSub>
                                </m:e>
                              </m:d>
                            </m:e>
                          </m:nary>
                        </m:e>
                      </m:nary>
                    </m:oMath>
                  </m:oMathPara>
                </a14:m>
                <a:endParaRPr lang="en-US" altLang="zh-CN" sz="2800"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93040" y="1021086"/>
                <a:ext cx="11863766" cy="5696803"/>
              </a:xfrm>
              <a:blipFill>
                <a:blip r:embed="rId3"/>
                <a:stretch>
                  <a:fillRect l="-1079" t="-2141"/>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42320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93040" y="1247759"/>
                <a:ext cx="11732341" cy="5460015"/>
              </a:xfrm>
            </p:spPr>
            <p:txBody>
              <a:bodyPr>
                <a:normAutofit/>
              </a:bodyPr>
              <a:lstStyle/>
              <a:p>
                <a:pPr algn="l">
                  <a:lnSpc>
                    <a:spcPct val="100000"/>
                  </a:lnSpc>
                </a:pPr>
                <a:r>
                  <a:rPr lang="en-US" altLang="zh-CN" sz="2800" dirty="0">
                    <a:solidFill>
                      <a:srgbClr val="0070C0"/>
                    </a:solidFill>
                    <a:latin typeface="Arial Black" panose="020B0A04020102020204" pitchFamily="34" charset="0"/>
                  </a:rPr>
                  <a:t>Determining Probabilities Systematically</a:t>
                </a:r>
              </a:p>
              <a:p>
                <a:pPr algn="l">
                  <a:lnSpc>
                    <a:spcPct val="100000"/>
                  </a:lnSpc>
                </a:pPr>
                <a:r>
                  <a:rPr lang="en-US" altLang="zh-CN" sz="2800" dirty="0"/>
                  <a:t>Consider a sample space that is either finite or “countably infinite”. </a:t>
                </a:r>
              </a:p>
              <a:p>
                <a:pPr algn="l">
                  <a:lnSpc>
                    <a:spcPct val="100000"/>
                  </a:lnSpc>
                </a:pPr>
                <a:r>
                  <a:rPr lang="en-US" altLang="zh-CN" sz="2800" dirty="0"/>
                  <a:t>Let </a:t>
                </a:r>
                <a14:m>
                  <m:oMath xmlns:m="http://schemas.openxmlformats.org/officeDocument/2006/math">
                    <m:sSub>
                      <m:sSubPr>
                        <m:ctrlPr>
                          <a:rPr lang="en-US" altLang="zh-CN" sz="2800" b="0" i="1" dirty="0" smtClean="0">
                            <a:latin typeface="Cambria Math" panose="02040503050406030204" pitchFamily="18" charset="0"/>
                          </a:rPr>
                        </m:ctrlPr>
                      </m:sSubPr>
                      <m:e>
                        <m:r>
                          <a:rPr lang="en-US" altLang="zh-CN" sz="2800" i="1" dirty="0" smtClean="0">
                            <a:latin typeface="Cambria Math" panose="02040503050406030204" pitchFamily="18" charset="0"/>
                          </a:rPr>
                          <m:t>𝐸</m:t>
                        </m:r>
                      </m:e>
                      <m:sub>
                        <m:r>
                          <a:rPr lang="en-US" altLang="zh-CN" sz="2800" i="1" dirty="0" smtClean="0">
                            <a:latin typeface="Cambria Math" panose="02040503050406030204" pitchFamily="18" charset="0"/>
                          </a:rPr>
                          <m:t>1</m:t>
                        </m:r>
                      </m:sub>
                    </m:sSub>
                    <m:r>
                      <a:rPr lang="en-US" altLang="zh-CN" sz="2800" i="1" dirty="0" smtClean="0">
                        <a:latin typeface="Cambria Math" panose="02040503050406030204" pitchFamily="18" charset="0"/>
                      </a:rPr>
                      <m:t>, </m:t>
                    </m:r>
                    <m:sSub>
                      <m:sSubPr>
                        <m:ctrlPr>
                          <a:rPr lang="en-US" altLang="zh-CN" sz="2800" b="0" i="1" dirty="0" smtClean="0">
                            <a:latin typeface="Cambria Math" panose="02040503050406030204" pitchFamily="18" charset="0"/>
                          </a:rPr>
                        </m:ctrlPr>
                      </m:sSubPr>
                      <m:e>
                        <m:r>
                          <a:rPr lang="en-US" altLang="zh-CN" sz="2800" i="1" dirty="0" smtClean="0">
                            <a:latin typeface="Cambria Math" panose="02040503050406030204" pitchFamily="18" charset="0"/>
                          </a:rPr>
                          <m:t>𝐸</m:t>
                        </m:r>
                      </m:e>
                      <m:sub>
                        <m:r>
                          <a:rPr lang="en-US" altLang="zh-CN" sz="2800" i="1" dirty="0" smtClean="0">
                            <a:latin typeface="Cambria Math" panose="02040503050406030204" pitchFamily="18" charset="0"/>
                          </a:rPr>
                          <m:t>2</m:t>
                        </m:r>
                      </m:sub>
                    </m:sSub>
                    <m:r>
                      <a:rPr lang="en-US" altLang="zh-CN" sz="2800" i="1" dirty="0" smtClean="0">
                        <a:latin typeface="Cambria Math" panose="02040503050406030204" pitchFamily="18" charset="0"/>
                      </a:rPr>
                      <m:t>, </m:t>
                    </m:r>
                    <m:sSub>
                      <m:sSubPr>
                        <m:ctrlPr>
                          <a:rPr lang="en-US" altLang="zh-CN" sz="2800" b="0" i="1" dirty="0" smtClean="0">
                            <a:latin typeface="Cambria Math" panose="02040503050406030204" pitchFamily="18" charset="0"/>
                          </a:rPr>
                        </m:ctrlPr>
                      </m:sSubPr>
                      <m:e>
                        <m:r>
                          <a:rPr lang="en-US" altLang="zh-CN" sz="2800" i="1" dirty="0" smtClean="0">
                            <a:latin typeface="Cambria Math" panose="02040503050406030204" pitchFamily="18" charset="0"/>
                          </a:rPr>
                          <m:t>𝐸</m:t>
                        </m:r>
                      </m:e>
                      <m:sub>
                        <m:r>
                          <a:rPr lang="en-US" altLang="zh-CN" sz="2800" i="1" dirty="0" smtClean="0">
                            <a:latin typeface="Cambria Math" panose="02040503050406030204" pitchFamily="18" charset="0"/>
                          </a:rPr>
                          <m:t>3</m:t>
                        </m:r>
                      </m:sub>
                    </m:sSub>
                    <m:r>
                      <a:rPr lang="en-US" altLang="zh-CN" sz="2800" i="1" dirty="0" smtClean="0">
                        <a:latin typeface="Cambria Math" panose="02040503050406030204" pitchFamily="18" charset="0"/>
                      </a:rPr>
                      <m:t>, . . . </m:t>
                    </m:r>
                  </m:oMath>
                </a14:m>
                <a:r>
                  <a:rPr lang="en-US" altLang="zh-CN" sz="2800" dirty="0"/>
                  <a:t>denote the corresponding simple events, each consisting of a single outcome, with the requirement that </a:t>
                </a:r>
              </a:p>
              <a:p>
                <a:pPr algn="l">
                  <a:lnSpc>
                    <a:spcPct val="100000"/>
                  </a:lnSpc>
                </a:pPr>
                <a14:m>
                  <m:oMathPara xmlns:m="http://schemas.openxmlformats.org/officeDocument/2006/math">
                    <m:oMathParaPr>
                      <m:jc m:val="centerGroup"/>
                    </m:oMathParaPr>
                    <m:oMath xmlns:m="http://schemas.openxmlformats.org/officeDocument/2006/math">
                      <m:nary>
                        <m:naryPr>
                          <m:chr m:val="∑"/>
                          <m:subHide m:val="on"/>
                          <m:supHide m:val="on"/>
                          <m:ctrlPr>
                            <a:rPr lang="en-US" altLang="zh-CN" sz="2800" i="1" smtClean="0">
                              <a:latin typeface="Cambria Math" panose="02040503050406030204" pitchFamily="18" charset="0"/>
                            </a:rPr>
                          </m:ctrlPr>
                        </m:naryPr>
                        <m:sub/>
                        <m:sup/>
                        <m:e>
                          <m:r>
                            <a:rPr lang="en-US" altLang="zh-CN" sz="2800" b="0" i="1" smtClean="0">
                              <a:latin typeface="Cambria Math" panose="02040503050406030204" pitchFamily="18" charset="0"/>
                            </a:rPr>
                            <m:t>𝑃</m:t>
                          </m:r>
                          <m:d>
                            <m:dPr>
                              <m:ctrlPr>
                                <a:rPr lang="en-US" altLang="zh-CN" sz="2800" b="0" i="1" smtClean="0">
                                  <a:latin typeface="Cambria Math" panose="02040503050406030204" pitchFamily="18" charset="0"/>
                                </a:rPr>
                              </m:ctrlPr>
                            </m:dPr>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𝐸</m:t>
                                  </m:r>
                                </m:e>
                                <m:sub>
                                  <m:r>
                                    <a:rPr lang="en-US" altLang="zh-CN" sz="2800" b="0" i="1" smtClean="0">
                                      <a:latin typeface="Cambria Math" panose="02040503050406030204" pitchFamily="18" charset="0"/>
                                    </a:rPr>
                                    <m:t>𝑖</m:t>
                                  </m:r>
                                </m:sub>
                              </m:sSub>
                            </m:e>
                          </m:d>
                          <m:r>
                            <a:rPr lang="en-US" altLang="zh-CN" sz="2800" b="0" i="1" smtClean="0">
                              <a:latin typeface="Cambria Math" panose="02040503050406030204" pitchFamily="18" charset="0"/>
                            </a:rPr>
                            <m:t>=1.</m:t>
                          </m:r>
                        </m:e>
                      </m:nary>
                    </m:oMath>
                  </m:oMathPara>
                </a14:m>
                <a:endParaRPr lang="en-US" altLang="zh-CN" sz="2800" dirty="0"/>
              </a:p>
              <a:p>
                <a:pPr algn="l">
                  <a:lnSpc>
                    <a:spcPct val="100000"/>
                  </a:lnSpc>
                </a:pPr>
                <a:r>
                  <a:rPr lang="en-US" altLang="zh-CN" sz="2800" dirty="0"/>
                  <a:t>Then the probability of any compound event </a:t>
                </a:r>
                <a14:m>
                  <m:oMath xmlns:m="http://schemas.openxmlformats.org/officeDocument/2006/math">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rPr>
                      <m:t> </m:t>
                    </m:r>
                  </m:oMath>
                </a14:m>
                <a:r>
                  <a:rPr lang="en-US" altLang="zh-CN" sz="2800" dirty="0"/>
                  <a:t>is computed by adding together the </a:t>
                </a:r>
                <a14:m>
                  <m:oMath xmlns:m="http://schemas.openxmlformats.org/officeDocument/2006/math">
                    <m:r>
                      <a:rPr lang="en-US" altLang="zh-CN" sz="2800" i="1" dirty="0" smtClean="0">
                        <a:latin typeface="Cambria Math" panose="02040503050406030204" pitchFamily="18" charset="0"/>
                      </a:rPr>
                      <m:t>𝑃</m:t>
                    </m:r>
                    <m:r>
                      <a:rPr lang="en-US" altLang="zh-CN" sz="2800" i="1" dirty="0" smtClean="0">
                        <a:latin typeface="Cambria Math" panose="02040503050406030204" pitchFamily="18" charset="0"/>
                      </a:rPr>
                      <m:t>(</m:t>
                    </m:r>
                    <m:sSub>
                      <m:sSubPr>
                        <m:ctrlPr>
                          <a:rPr lang="en-US" altLang="zh-CN" sz="2800" b="0" i="1" dirty="0" smtClean="0">
                            <a:latin typeface="Cambria Math" panose="02040503050406030204" pitchFamily="18" charset="0"/>
                          </a:rPr>
                        </m:ctrlPr>
                      </m:sSubPr>
                      <m:e>
                        <m:r>
                          <a:rPr lang="en-US" altLang="zh-CN" sz="2800" i="1" dirty="0" err="1" smtClean="0">
                            <a:latin typeface="Cambria Math" panose="02040503050406030204" pitchFamily="18" charset="0"/>
                          </a:rPr>
                          <m:t>𝐸</m:t>
                        </m:r>
                      </m:e>
                      <m:sub>
                        <m:r>
                          <a:rPr lang="en-US" altLang="zh-CN" sz="2800" i="1" dirty="0" err="1" smtClean="0">
                            <a:latin typeface="Cambria Math" panose="02040503050406030204" pitchFamily="18" charset="0"/>
                          </a:rPr>
                          <m:t>𝑖</m:t>
                        </m:r>
                      </m:sub>
                    </m:sSub>
                    <m:r>
                      <a:rPr lang="en-US" altLang="zh-CN" sz="2800" i="1" dirty="0">
                        <a:latin typeface="Cambria Math" panose="02040503050406030204" pitchFamily="18" charset="0"/>
                      </a:rPr>
                      <m:t>)</m:t>
                    </m:r>
                  </m:oMath>
                </a14:m>
                <a:r>
                  <a:rPr lang="en-US" altLang="zh-CN" sz="2800" dirty="0"/>
                  <a:t>s for all </a:t>
                </a:r>
                <a14:m>
                  <m:oMath xmlns:m="http://schemas.openxmlformats.org/officeDocument/2006/math">
                    <m:sSub>
                      <m:sSubPr>
                        <m:ctrlPr>
                          <a:rPr lang="en-US" altLang="zh-CN" sz="2800" b="0" i="1" dirty="0" smtClean="0">
                            <a:latin typeface="Cambria Math" panose="02040503050406030204" pitchFamily="18" charset="0"/>
                          </a:rPr>
                        </m:ctrlPr>
                      </m:sSubPr>
                      <m:e>
                        <m:r>
                          <a:rPr lang="en-US" altLang="zh-CN" sz="2800" i="1" dirty="0" smtClean="0">
                            <a:latin typeface="Cambria Math" panose="02040503050406030204" pitchFamily="18" charset="0"/>
                          </a:rPr>
                          <m:t>𝐸</m:t>
                        </m:r>
                      </m:e>
                      <m:sub>
                        <m:r>
                          <a:rPr lang="en-US" altLang="zh-CN" sz="2800" i="1" dirty="0" smtClean="0">
                            <a:latin typeface="Cambria Math" panose="02040503050406030204" pitchFamily="18" charset="0"/>
                          </a:rPr>
                          <m:t>𝑖</m:t>
                        </m:r>
                      </m:sub>
                    </m:sSub>
                  </m:oMath>
                </a14:m>
                <a:r>
                  <a:rPr lang="en-US" altLang="zh-CN" sz="2800" dirty="0"/>
                  <a:t>s in </a:t>
                </a:r>
                <a14:m>
                  <m:oMath xmlns:m="http://schemas.openxmlformats.org/officeDocument/2006/math">
                    <m:r>
                      <a:rPr lang="en-US" altLang="zh-CN" sz="2800" i="1" dirty="0" smtClean="0">
                        <a:latin typeface="Cambria Math" panose="02040503050406030204" pitchFamily="18" charset="0"/>
                      </a:rPr>
                      <m:t>𝐴</m:t>
                    </m:r>
                  </m:oMath>
                </a14:m>
                <a:r>
                  <a:rPr lang="en-US" altLang="zh-CN" sz="2800" dirty="0"/>
                  <a:t>:</a:t>
                </a:r>
              </a:p>
              <a:p>
                <a:pPr algn="l">
                  <a:lnSpc>
                    <a:spcPct val="100000"/>
                  </a:lnSpc>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𝑃</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𝐴</m:t>
                          </m:r>
                        </m:e>
                      </m:d>
                      <m:r>
                        <a:rPr lang="en-US" altLang="zh-CN" sz="2800" b="0" i="1" smtClean="0">
                          <a:latin typeface="Cambria Math" panose="02040503050406030204" pitchFamily="18" charset="0"/>
                        </a:rPr>
                        <m:t>=</m:t>
                      </m:r>
                      <m:nary>
                        <m:naryPr>
                          <m:chr m:val="∑"/>
                          <m:supHide m:val="on"/>
                          <m:ctrlPr>
                            <a:rPr lang="en-US" altLang="zh-CN" sz="2800" b="0" i="1" smtClean="0">
                              <a:latin typeface="Cambria Math" panose="02040503050406030204" pitchFamily="18" charset="0"/>
                            </a:rPr>
                          </m:ctrlPr>
                        </m:naryPr>
                        <m:sub>
                          <m:r>
                            <m:rPr>
                              <m:nor/>
                            </m:rPr>
                            <a:rPr lang="en-US" altLang="zh-CN" sz="2800" dirty="0">
                              <a:solidFill>
                                <a:prstClr val="black"/>
                              </a:solidFill>
                            </a:rPr>
                            <m:t>all</m:t>
                          </m:r>
                          <m:r>
                            <m:rPr>
                              <m:nor/>
                            </m:rPr>
                            <a:rPr lang="en-US" altLang="zh-CN" sz="2800" dirty="0">
                              <a:solidFill>
                                <a:prstClr val="black"/>
                              </a:solidFill>
                            </a:rPr>
                            <m:t> </m:t>
                          </m:r>
                          <m:sSub>
                            <m:sSubPr>
                              <m:ctrlPr>
                                <a:rPr lang="en-US" altLang="zh-CN" sz="2800" i="1" dirty="0">
                                  <a:solidFill>
                                    <a:prstClr val="black"/>
                                  </a:solidFill>
                                  <a:latin typeface="Cambria Math" panose="02040503050406030204" pitchFamily="18" charset="0"/>
                                </a:rPr>
                              </m:ctrlPr>
                            </m:sSubPr>
                            <m:e>
                              <m:r>
                                <a:rPr lang="en-US" altLang="zh-CN" sz="2800" i="1" dirty="0">
                                  <a:solidFill>
                                    <a:prstClr val="black"/>
                                  </a:solidFill>
                                  <a:latin typeface="Cambria Math" panose="02040503050406030204" pitchFamily="18" charset="0"/>
                                </a:rPr>
                                <m:t>𝐸</m:t>
                              </m:r>
                            </m:e>
                            <m:sub>
                              <m:r>
                                <a:rPr lang="en-US" altLang="zh-CN" sz="2800" i="1" dirty="0">
                                  <a:solidFill>
                                    <a:prstClr val="black"/>
                                  </a:solidFill>
                                  <a:latin typeface="Cambria Math" panose="02040503050406030204" pitchFamily="18" charset="0"/>
                                </a:rPr>
                                <m:t>𝑖</m:t>
                              </m:r>
                            </m:sub>
                          </m:sSub>
                          <m:r>
                            <m:rPr>
                              <m:nor/>
                            </m:rPr>
                            <a:rPr lang="en-US" altLang="zh-CN" sz="2800" dirty="0">
                              <a:solidFill>
                                <a:prstClr val="black"/>
                              </a:solidFill>
                            </a:rPr>
                            <m:t>s</m:t>
                          </m:r>
                          <m:r>
                            <m:rPr>
                              <m:nor/>
                            </m:rPr>
                            <a:rPr lang="en-US" altLang="zh-CN" sz="2800" dirty="0">
                              <a:solidFill>
                                <a:prstClr val="black"/>
                              </a:solidFill>
                            </a:rPr>
                            <m:t> </m:t>
                          </m:r>
                          <m:r>
                            <m:rPr>
                              <m:nor/>
                            </m:rPr>
                            <a:rPr lang="en-US" altLang="zh-CN" sz="2800" dirty="0">
                              <a:solidFill>
                                <a:prstClr val="black"/>
                              </a:solidFill>
                            </a:rPr>
                            <m:t>in</m:t>
                          </m:r>
                          <m:r>
                            <m:rPr>
                              <m:nor/>
                            </m:rPr>
                            <a:rPr lang="en-US" altLang="zh-CN" sz="2800" dirty="0">
                              <a:solidFill>
                                <a:prstClr val="black"/>
                              </a:solidFill>
                            </a:rPr>
                            <m:t> </m:t>
                          </m:r>
                          <m:r>
                            <a:rPr lang="en-US" altLang="zh-CN" sz="2800" i="1" dirty="0">
                              <a:solidFill>
                                <a:prstClr val="black"/>
                              </a:solidFill>
                              <a:latin typeface="Cambria Math" panose="02040503050406030204" pitchFamily="18" charset="0"/>
                            </a:rPr>
                            <m:t>𝐴</m:t>
                          </m:r>
                        </m:sub>
                        <m:sup/>
                        <m:e>
                          <m:r>
                            <a:rPr lang="en-US" altLang="zh-CN" sz="2800" i="1">
                              <a:latin typeface="Cambria Math" panose="02040503050406030204" pitchFamily="18" charset="0"/>
                            </a:rPr>
                            <m:t>𝑃</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𝐸</m:t>
                              </m:r>
                            </m:e>
                            <m:sub>
                              <m:r>
                                <a:rPr lang="en-US" altLang="zh-CN" sz="2800" i="1">
                                  <a:latin typeface="Cambria Math" panose="02040503050406030204" pitchFamily="18" charset="0"/>
                                </a:rPr>
                                <m:t>𝑖</m:t>
                              </m:r>
                            </m:sub>
                          </m:sSub>
                          <m:r>
                            <a:rPr lang="en-US" altLang="zh-CN" sz="2800" i="1">
                              <a:latin typeface="Cambria Math" panose="02040503050406030204" pitchFamily="18" charset="0"/>
                            </a:rPr>
                            <m:t>)</m:t>
                          </m:r>
                        </m:e>
                      </m:nary>
                    </m:oMath>
                  </m:oMathPara>
                </a14:m>
                <a:endParaRPr lang="en-US" altLang="zh-CN" sz="2800"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93040" y="1247759"/>
                <a:ext cx="11732341" cy="5460015"/>
              </a:xfrm>
              <a:blipFill>
                <a:blip r:embed="rId3"/>
                <a:stretch>
                  <a:fillRect l="-1091" t="-1229" r="-468"/>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28014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93406" y="1094568"/>
                <a:ext cx="12029767" cy="5785294"/>
              </a:xfrm>
            </p:spPr>
            <p:txBody>
              <a:bodyPr>
                <a:normAutofit fontScale="92500"/>
              </a:bodyPr>
              <a:lstStyle/>
              <a:p>
                <a:pPr algn="l">
                  <a:lnSpc>
                    <a:spcPct val="110000"/>
                  </a:lnSpc>
                </a:pPr>
                <a:r>
                  <a:rPr lang="en-US" altLang="zh-CN" sz="2800" dirty="0">
                    <a:solidFill>
                      <a:srgbClr val="0070C0"/>
                    </a:solidFill>
                    <a:latin typeface="Arial Black" panose="020B0A04020102020204" pitchFamily="34" charset="0"/>
                  </a:rPr>
                  <a:t>Sample Spaces Having Equally Likely Outcomes(</a:t>
                </a:r>
                <a:r>
                  <a:rPr lang="zh-CN" altLang="en-US" sz="2800" dirty="0">
                    <a:solidFill>
                      <a:srgbClr val="0070C0"/>
                    </a:solidFill>
                    <a:latin typeface="Arial Black" panose="020B0A04020102020204" pitchFamily="34" charset="0"/>
                  </a:rPr>
                  <a:t>等可能样本空间</a:t>
                </a:r>
                <a:r>
                  <a:rPr lang="en-US" altLang="zh-CN" sz="2800" dirty="0">
                    <a:solidFill>
                      <a:srgbClr val="0070C0"/>
                    </a:solidFill>
                    <a:latin typeface="Arial Black" panose="020B0A04020102020204" pitchFamily="34" charset="0"/>
                  </a:rPr>
                  <a:t>)</a:t>
                </a:r>
              </a:p>
              <a:p>
                <a:pPr algn="l">
                  <a:lnSpc>
                    <a:spcPct val="110000"/>
                  </a:lnSpc>
                </a:pPr>
                <a:r>
                  <a:rPr lang="en-US" altLang="zh-CN" sz="2800" dirty="0"/>
                  <a:t>In many experiments consisting of</a:t>
                </a:r>
                <a14:m>
                  <m:oMath xmlns:m="http://schemas.openxmlformats.org/officeDocument/2006/math">
                    <m:r>
                      <a:rPr lang="en-US" altLang="zh-CN" sz="2800" i="1" dirty="0" smtClean="0">
                        <a:latin typeface="Cambria Math" panose="02040503050406030204" pitchFamily="18" charset="0"/>
                      </a:rPr>
                      <m:t> </m:t>
                    </m:r>
                    <m:r>
                      <a:rPr lang="en-US" altLang="zh-CN" sz="2800" i="1" dirty="0" smtClean="0">
                        <a:latin typeface="Cambria Math" panose="02040503050406030204" pitchFamily="18" charset="0"/>
                      </a:rPr>
                      <m:t>𝑁</m:t>
                    </m:r>
                    <m:r>
                      <a:rPr lang="en-US" altLang="zh-CN" sz="2800" i="1" dirty="0" smtClean="0">
                        <a:latin typeface="Cambria Math" panose="02040503050406030204" pitchFamily="18" charset="0"/>
                      </a:rPr>
                      <m:t> </m:t>
                    </m:r>
                  </m:oMath>
                </a14:m>
                <a:r>
                  <a:rPr lang="en-US" altLang="zh-CN" sz="2800" dirty="0"/>
                  <a:t>outcomes, it is reasonable to assign equal probabilities to all </a:t>
                </a:r>
                <a14:m>
                  <m:oMath xmlns:m="http://schemas.openxmlformats.org/officeDocument/2006/math">
                    <m:r>
                      <a:rPr lang="en-US" altLang="zh-CN" sz="2800" i="1" dirty="0" smtClean="0">
                        <a:latin typeface="Cambria Math" panose="02040503050406030204" pitchFamily="18" charset="0"/>
                      </a:rPr>
                      <m:t>𝑁</m:t>
                    </m:r>
                  </m:oMath>
                </a14:m>
                <a:r>
                  <a:rPr lang="en-US" altLang="zh-CN" sz="2800" dirty="0"/>
                  <a:t> simple events. With </a:t>
                </a:r>
                <a14:m>
                  <m:oMath xmlns:m="http://schemas.openxmlformats.org/officeDocument/2006/math">
                    <m:r>
                      <a:rPr lang="en-US" altLang="zh-CN" sz="2800" i="1" dirty="0" smtClean="0">
                        <a:latin typeface="Cambria Math" panose="02040503050406030204" pitchFamily="18" charset="0"/>
                      </a:rPr>
                      <m:t>𝑝</m:t>
                    </m:r>
                    <m:r>
                      <a:rPr lang="en-US" altLang="zh-CN" sz="2800" b="0" i="1" dirty="0" smtClean="0">
                        <a:latin typeface="Cambria Math" panose="02040503050406030204" pitchFamily="18" charset="0"/>
                      </a:rPr>
                      <m:t>=</m:t>
                    </m:r>
                    <m:r>
                      <a:rPr lang="en-US" altLang="zh-CN" sz="2800" i="1" dirty="0" smtClean="0">
                        <a:latin typeface="Cambria Math" panose="02040503050406030204" pitchFamily="18" charset="0"/>
                      </a:rPr>
                      <m:t>𝑃</m:t>
                    </m:r>
                    <m:r>
                      <a:rPr lang="en-US" altLang="zh-CN" sz="2800" i="1" dirty="0" smtClean="0">
                        <a:latin typeface="Cambria Math" panose="02040503050406030204" pitchFamily="18" charset="0"/>
                      </a:rPr>
                      <m:t>(</m:t>
                    </m:r>
                    <m:sSub>
                      <m:sSubPr>
                        <m:ctrlPr>
                          <a:rPr lang="en-US" altLang="zh-CN" sz="2800" b="0" i="1" dirty="0" smtClean="0">
                            <a:latin typeface="Cambria Math" panose="02040503050406030204" pitchFamily="18" charset="0"/>
                          </a:rPr>
                        </m:ctrlPr>
                      </m:sSubPr>
                      <m:e>
                        <m:r>
                          <a:rPr lang="en-US" altLang="zh-CN" sz="2800" i="1" dirty="0" err="1">
                            <a:latin typeface="Cambria Math" panose="02040503050406030204" pitchFamily="18" charset="0"/>
                          </a:rPr>
                          <m:t>𝐸</m:t>
                        </m:r>
                      </m:e>
                      <m:sub>
                        <m:r>
                          <a:rPr lang="en-US" altLang="zh-CN" sz="2800" i="1" dirty="0" err="1">
                            <a:latin typeface="Cambria Math" panose="02040503050406030204" pitchFamily="18" charset="0"/>
                          </a:rPr>
                          <m:t>𝑖</m:t>
                        </m:r>
                      </m:sub>
                    </m:sSub>
                    <m:r>
                      <a:rPr lang="en-US" altLang="zh-CN" sz="2800" i="1" dirty="0">
                        <a:latin typeface="Cambria Math" panose="02040503050406030204" pitchFamily="18" charset="0"/>
                      </a:rPr>
                      <m:t>) </m:t>
                    </m:r>
                  </m:oMath>
                </a14:m>
                <a:r>
                  <a:rPr lang="en-US" altLang="zh-CN" sz="2800" dirty="0"/>
                  <a:t>for every </a:t>
                </a:r>
                <a14:m>
                  <m:oMath xmlns:m="http://schemas.openxmlformats.org/officeDocument/2006/math">
                    <m:r>
                      <a:rPr lang="en-US" altLang="zh-CN" sz="2800" i="1" dirty="0" smtClean="0">
                        <a:latin typeface="Cambria Math" panose="02040503050406030204" pitchFamily="18" charset="0"/>
                      </a:rPr>
                      <m:t>𝑖</m:t>
                    </m:r>
                  </m:oMath>
                </a14:m>
                <a:r>
                  <a:rPr lang="en-US" altLang="zh-CN" sz="2800" dirty="0"/>
                  <a:t>,</a:t>
                </a:r>
              </a:p>
              <a:p>
                <a:pPr algn="l">
                  <a:lnSpc>
                    <a:spcPct val="110000"/>
                  </a:lnSpc>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1=</m:t>
                      </m:r>
                      <m:nary>
                        <m:naryPr>
                          <m:chr m:val="∑"/>
                          <m:ctrlPr>
                            <a:rPr lang="en-US" altLang="zh-CN" sz="2800" b="0" i="1" smtClean="0">
                              <a:latin typeface="Cambria Math" panose="02040503050406030204" pitchFamily="18" charset="0"/>
                            </a:rPr>
                          </m:ctrlPr>
                        </m:naryPr>
                        <m:sub>
                          <m:r>
                            <m:rPr>
                              <m:brk m:alnAt="23"/>
                            </m:rPr>
                            <a:rPr lang="en-US" altLang="zh-CN" sz="2800" b="0" i="1" smtClean="0">
                              <a:latin typeface="Cambria Math" panose="02040503050406030204" pitchFamily="18" charset="0"/>
                            </a:rPr>
                            <m:t>𝑖</m:t>
                          </m:r>
                          <m:r>
                            <a:rPr lang="en-US" altLang="zh-CN" sz="2800" b="0" i="1" smtClean="0">
                              <a:latin typeface="Cambria Math" panose="02040503050406030204" pitchFamily="18" charset="0"/>
                            </a:rPr>
                            <m:t>=1</m:t>
                          </m:r>
                        </m:sub>
                        <m:sup>
                          <m:r>
                            <a:rPr lang="en-US" altLang="zh-CN" sz="2800" b="0" i="1" smtClean="0">
                              <a:latin typeface="Cambria Math" panose="02040503050406030204" pitchFamily="18" charset="0"/>
                            </a:rPr>
                            <m:t>𝑁</m:t>
                          </m:r>
                        </m:sup>
                        <m:e>
                          <m:r>
                            <a:rPr lang="en-US" altLang="zh-CN" sz="2800" b="0" i="1" smtClean="0">
                              <a:latin typeface="Cambria Math" panose="02040503050406030204" pitchFamily="18" charset="0"/>
                            </a:rPr>
                            <m:t>𝑃</m:t>
                          </m:r>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𝐸</m:t>
                              </m:r>
                            </m:e>
                            <m:sub>
                              <m:r>
                                <a:rPr lang="en-US" altLang="zh-CN" sz="2800" b="0" i="1" smtClean="0">
                                  <a:latin typeface="Cambria Math" panose="02040503050406030204" pitchFamily="18" charset="0"/>
                                </a:rPr>
                                <m:t>𝑖</m:t>
                              </m:r>
                            </m:sub>
                          </m:sSub>
                          <m:r>
                            <a:rPr lang="en-US" altLang="zh-CN" sz="2800" b="0" i="1" smtClean="0">
                              <a:latin typeface="Cambria Math" panose="02040503050406030204" pitchFamily="18" charset="0"/>
                            </a:rPr>
                            <m:t>)</m:t>
                          </m:r>
                        </m:e>
                      </m:nary>
                      <m:r>
                        <a:rPr lang="en-US" altLang="zh-CN" sz="2800" b="0" i="1" smtClean="0">
                          <a:latin typeface="Cambria Math" panose="02040503050406030204" pitchFamily="18" charset="0"/>
                        </a:rPr>
                        <m:t>=</m:t>
                      </m:r>
                      <m:nary>
                        <m:naryPr>
                          <m:chr m:val="∑"/>
                          <m:ctrlPr>
                            <a:rPr lang="en-US" altLang="zh-CN" sz="2800" i="1">
                              <a:solidFill>
                                <a:prstClr val="black"/>
                              </a:solidFill>
                              <a:latin typeface="Cambria Math" panose="02040503050406030204" pitchFamily="18" charset="0"/>
                            </a:rPr>
                          </m:ctrlPr>
                        </m:naryPr>
                        <m:sub>
                          <m:r>
                            <m:rPr>
                              <m:brk m:alnAt="23"/>
                            </m:rPr>
                            <a:rPr lang="en-US" altLang="zh-CN" sz="2800" i="1">
                              <a:solidFill>
                                <a:prstClr val="black"/>
                              </a:solidFill>
                              <a:latin typeface="Cambria Math" panose="02040503050406030204" pitchFamily="18" charset="0"/>
                            </a:rPr>
                            <m:t>𝑖</m:t>
                          </m:r>
                          <m:r>
                            <a:rPr lang="en-US" altLang="zh-CN" sz="2800" i="1">
                              <a:solidFill>
                                <a:prstClr val="black"/>
                              </a:solidFill>
                              <a:latin typeface="Cambria Math" panose="02040503050406030204" pitchFamily="18" charset="0"/>
                            </a:rPr>
                            <m:t>=1</m:t>
                          </m:r>
                        </m:sub>
                        <m:sup>
                          <m:r>
                            <a:rPr lang="en-US" altLang="zh-CN" sz="2800" i="1">
                              <a:solidFill>
                                <a:prstClr val="black"/>
                              </a:solidFill>
                              <a:latin typeface="Cambria Math" panose="02040503050406030204" pitchFamily="18" charset="0"/>
                            </a:rPr>
                            <m:t>𝑁</m:t>
                          </m:r>
                        </m:sup>
                        <m:e>
                          <m:r>
                            <a:rPr lang="en-US" altLang="zh-CN" sz="2800" b="0" i="1" smtClean="0">
                              <a:solidFill>
                                <a:prstClr val="black"/>
                              </a:solidFill>
                              <a:latin typeface="Cambria Math" panose="02040503050406030204" pitchFamily="18" charset="0"/>
                            </a:rPr>
                            <m:t>𝑝</m:t>
                          </m:r>
                        </m:e>
                      </m:nary>
                      <m:r>
                        <a:rPr lang="en-US" altLang="zh-CN" sz="2800" b="0" i="1" smtClean="0">
                          <a:solidFill>
                            <a:prstClr val="black"/>
                          </a:solidFill>
                          <a:latin typeface="Cambria Math" panose="02040503050406030204" pitchFamily="18" charset="0"/>
                        </a:rPr>
                        <m:t>=</m:t>
                      </m:r>
                      <m:r>
                        <a:rPr lang="en-US" altLang="zh-CN" sz="2800" b="0" i="1" smtClean="0">
                          <a:solidFill>
                            <a:prstClr val="black"/>
                          </a:solidFill>
                          <a:latin typeface="Cambria Math" panose="02040503050406030204" pitchFamily="18" charset="0"/>
                        </a:rPr>
                        <m:t>𝑁𝑝</m:t>
                      </m:r>
                      <m:r>
                        <a:rPr lang="en-US" altLang="zh-CN" sz="2800" b="0" i="1" smtClean="0">
                          <a:solidFill>
                            <a:prstClr val="black"/>
                          </a:solidFill>
                          <a:latin typeface="Cambria Math" panose="02040503050406030204" pitchFamily="18" charset="0"/>
                          <a:ea typeface="Cambria Math" panose="02040503050406030204" pitchFamily="18" charset="0"/>
                        </a:rPr>
                        <m:t>⇒</m:t>
                      </m:r>
                      <m:r>
                        <a:rPr lang="en-US" altLang="zh-CN" sz="2800" i="1" dirty="0">
                          <a:latin typeface="Cambria Math" panose="02040503050406030204" pitchFamily="18" charset="0"/>
                        </a:rPr>
                        <m:t>𝑝</m:t>
                      </m:r>
                      <m:r>
                        <a:rPr lang="en-US" altLang="zh-CN" sz="2800" i="1" dirty="0">
                          <a:latin typeface="Cambria Math" panose="02040503050406030204" pitchFamily="18" charset="0"/>
                        </a:rPr>
                        <m:t>=</m:t>
                      </m:r>
                      <m:f>
                        <m:fPr>
                          <m:ctrlPr>
                            <a:rPr lang="en-US" altLang="zh-CN" sz="2800" i="1" dirty="0">
                              <a:latin typeface="Cambria Math" panose="02040503050406030204" pitchFamily="18" charset="0"/>
                            </a:rPr>
                          </m:ctrlPr>
                        </m:fPr>
                        <m:num>
                          <m:r>
                            <a:rPr lang="en-US" altLang="zh-CN" sz="2800" i="1" dirty="0">
                              <a:latin typeface="Cambria Math" panose="02040503050406030204" pitchFamily="18" charset="0"/>
                            </a:rPr>
                            <m:t>1</m:t>
                          </m:r>
                        </m:num>
                        <m:den>
                          <m:r>
                            <a:rPr lang="en-US" altLang="zh-CN" sz="2800" i="1" dirty="0">
                              <a:latin typeface="Cambria Math" panose="02040503050406030204" pitchFamily="18" charset="0"/>
                            </a:rPr>
                            <m:t>𝑁</m:t>
                          </m:r>
                        </m:den>
                      </m:f>
                    </m:oMath>
                  </m:oMathPara>
                </a14:m>
                <a:endParaRPr lang="en-US" altLang="zh-CN" sz="2800" dirty="0"/>
              </a:p>
              <a:p>
                <a:pPr algn="l">
                  <a:lnSpc>
                    <a:spcPct val="110000"/>
                  </a:lnSpc>
                </a:pPr>
                <a:r>
                  <a:rPr lang="en-US" altLang="zh-CN" sz="2800" dirty="0"/>
                  <a:t>That is, if there are </a:t>
                </a:r>
                <a14:m>
                  <m:oMath xmlns:m="http://schemas.openxmlformats.org/officeDocument/2006/math">
                    <m:r>
                      <a:rPr lang="en-US" altLang="zh-CN" sz="2800" i="1" dirty="0" smtClean="0">
                        <a:latin typeface="Cambria Math" panose="02040503050406030204" pitchFamily="18" charset="0"/>
                      </a:rPr>
                      <m:t>𝑁</m:t>
                    </m:r>
                  </m:oMath>
                </a14:m>
                <a:r>
                  <a:rPr lang="en-US" altLang="zh-CN" sz="2800" dirty="0"/>
                  <a:t> equally likely outcomes, the probability for each is </a:t>
                </a:r>
                <a14:m>
                  <m:oMath xmlns:m="http://schemas.openxmlformats.org/officeDocument/2006/math">
                    <m:f>
                      <m:fPr>
                        <m:ctrlPr>
                          <a:rPr lang="en-US" altLang="zh-CN" sz="2800" i="1" dirty="0">
                            <a:latin typeface="Cambria Math" panose="02040503050406030204" pitchFamily="18" charset="0"/>
                          </a:rPr>
                        </m:ctrlPr>
                      </m:fPr>
                      <m:num>
                        <m:r>
                          <a:rPr lang="en-US" altLang="zh-CN" sz="2800" i="1" dirty="0">
                            <a:latin typeface="Cambria Math" panose="02040503050406030204" pitchFamily="18" charset="0"/>
                          </a:rPr>
                          <m:t>1</m:t>
                        </m:r>
                      </m:num>
                      <m:den>
                        <m:r>
                          <a:rPr lang="en-US" altLang="zh-CN" sz="2800" i="1" dirty="0">
                            <a:latin typeface="Cambria Math" panose="02040503050406030204" pitchFamily="18" charset="0"/>
                          </a:rPr>
                          <m:t>𝑁</m:t>
                        </m:r>
                      </m:den>
                    </m:f>
                  </m:oMath>
                </a14:m>
                <a:r>
                  <a:rPr lang="en-US" altLang="zh-CN" sz="2800" dirty="0"/>
                  <a:t>.</a:t>
                </a:r>
              </a:p>
              <a:p>
                <a:pPr algn="l">
                  <a:lnSpc>
                    <a:spcPct val="110000"/>
                  </a:lnSpc>
                </a:pPr>
                <a:r>
                  <a:rPr lang="en-US" altLang="zh-CN" sz="2800" dirty="0"/>
                  <a:t>Consider an event </a:t>
                </a:r>
                <a14:m>
                  <m:oMath xmlns:m="http://schemas.openxmlformats.org/officeDocument/2006/math">
                    <m:r>
                      <a:rPr lang="en-US" altLang="zh-CN" sz="2800" i="1" dirty="0" smtClean="0">
                        <a:latin typeface="Cambria Math" panose="02040503050406030204" pitchFamily="18" charset="0"/>
                      </a:rPr>
                      <m:t>𝐴</m:t>
                    </m:r>
                  </m:oMath>
                </a14:m>
                <a:r>
                  <a:rPr lang="en-US" altLang="zh-CN" sz="2800" dirty="0"/>
                  <a:t>, with </a:t>
                </a:r>
                <a14:m>
                  <m:oMath xmlns:m="http://schemas.openxmlformats.org/officeDocument/2006/math">
                    <m:r>
                      <a:rPr lang="en-US" altLang="zh-CN" sz="2800" i="1" dirty="0" smtClean="0">
                        <a:latin typeface="Cambria Math" panose="02040503050406030204" pitchFamily="18" charset="0"/>
                      </a:rPr>
                      <m:t>𝑁</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𝐴</m:t>
                    </m:r>
                    <m:r>
                      <a:rPr lang="en-US" altLang="zh-CN" sz="2800" i="1" dirty="0" smtClean="0">
                        <a:latin typeface="Cambria Math" panose="02040503050406030204" pitchFamily="18" charset="0"/>
                      </a:rPr>
                      <m:t>)</m:t>
                    </m:r>
                  </m:oMath>
                </a14:m>
                <a:r>
                  <a:rPr lang="en-US" altLang="zh-CN" sz="2800" dirty="0"/>
                  <a:t> denoting the number of outcomes contained in </a:t>
                </a:r>
                <a14:m>
                  <m:oMath xmlns:m="http://schemas.openxmlformats.org/officeDocument/2006/math">
                    <m:r>
                      <a:rPr lang="en-US" altLang="zh-CN" sz="2800" i="1" dirty="0" smtClean="0">
                        <a:latin typeface="Cambria Math" panose="02040503050406030204" pitchFamily="18" charset="0"/>
                      </a:rPr>
                      <m:t>𝐴</m:t>
                    </m:r>
                  </m:oMath>
                </a14:m>
                <a:r>
                  <a:rPr lang="en-US" altLang="zh-CN" sz="2800" dirty="0"/>
                  <a:t>. Then</a:t>
                </a:r>
              </a:p>
              <a:p>
                <a:pPr algn="l">
                  <a:lnSpc>
                    <a:spcPct val="110000"/>
                  </a:lnSpc>
                </a:pPr>
                <a14:m>
                  <m:oMathPara xmlns:m="http://schemas.openxmlformats.org/officeDocument/2006/math">
                    <m:oMathParaPr>
                      <m:jc m:val="centerGroup"/>
                    </m:oMathParaPr>
                    <m:oMath xmlns:m="http://schemas.openxmlformats.org/officeDocument/2006/math">
                      <m:r>
                        <a:rPr lang="en-US" altLang="zh-CN" sz="2800" i="1">
                          <a:solidFill>
                            <a:prstClr val="black"/>
                          </a:solidFill>
                          <a:latin typeface="Cambria Math" panose="02040503050406030204" pitchFamily="18" charset="0"/>
                        </a:rPr>
                        <m:t>𝑃</m:t>
                      </m:r>
                      <m:d>
                        <m:dPr>
                          <m:ctrlPr>
                            <a:rPr lang="en-US" altLang="zh-CN" sz="2800" i="1">
                              <a:solidFill>
                                <a:prstClr val="black"/>
                              </a:solidFill>
                              <a:latin typeface="Cambria Math" panose="02040503050406030204" pitchFamily="18" charset="0"/>
                            </a:rPr>
                          </m:ctrlPr>
                        </m:dPr>
                        <m:e>
                          <m:r>
                            <a:rPr lang="en-US" altLang="zh-CN" sz="2800" i="1">
                              <a:solidFill>
                                <a:prstClr val="black"/>
                              </a:solidFill>
                              <a:latin typeface="Cambria Math" panose="02040503050406030204" pitchFamily="18" charset="0"/>
                            </a:rPr>
                            <m:t>𝐴</m:t>
                          </m:r>
                        </m:e>
                      </m:d>
                      <m:r>
                        <a:rPr lang="en-US" altLang="zh-CN" sz="2800" i="1">
                          <a:solidFill>
                            <a:prstClr val="black"/>
                          </a:solidFill>
                          <a:latin typeface="Cambria Math" panose="02040503050406030204" pitchFamily="18" charset="0"/>
                        </a:rPr>
                        <m:t>=</m:t>
                      </m:r>
                      <m:nary>
                        <m:naryPr>
                          <m:chr m:val="∑"/>
                          <m:supHide m:val="on"/>
                          <m:ctrlPr>
                            <a:rPr lang="en-US" altLang="zh-CN" sz="2800" i="1" smtClean="0">
                              <a:solidFill>
                                <a:prstClr val="black"/>
                              </a:solidFill>
                              <a:latin typeface="Cambria Math" panose="02040503050406030204" pitchFamily="18" charset="0"/>
                            </a:rPr>
                          </m:ctrlPr>
                        </m:naryPr>
                        <m:sub>
                          <m:sSub>
                            <m:sSubPr>
                              <m:ctrlPr>
                                <a:rPr lang="en-US" altLang="zh-CN" sz="2800" i="1" dirty="0">
                                  <a:solidFill>
                                    <a:prstClr val="black"/>
                                  </a:solidFill>
                                  <a:latin typeface="Cambria Math" panose="02040503050406030204" pitchFamily="18" charset="0"/>
                                </a:rPr>
                              </m:ctrlPr>
                            </m:sSubPr>
                            <m:e>
                              <m:r>
                                <a:rPr lang="en-US" altLang="zh-CN" sz="2800" i="1" dirty="0">
                                  <a:solidFill>
                                    <a:prstClr val="black"/>
                                  </a:solidFill>
                                  <a:latin typeface="Cambria Math" panose="02040503050406030204" pitchFamily="18" charset="0"/>
                                </a:rPr>
                                <m:t>𝐸</m:t>
                              </m:r>
                            </m:e>
                            <m:sub>
                              <m:r>
                                <a:rPr lang="en-US" altLang="zh-CN" sz="2800" i="1" dirty="0">
                                  <a:solidFill>
                                    <a:prstClr val="black"/>
                                  </a:solidFill>
                                  <a:latin typeface="Cambria Math" panose="02040503050406030204" pitchFamily="18" charset="0"/>
                                </a:rPr>
                                <m:t>𝑖</m:t>
                              </m:r>
                            </m:sub>
                          </m:sSub>
                          <m:r>
                            <m:rPr>
                              <m:nor/>
                            </m:rPr>
                            <a:rPr lang="en-US" altLang="zh-CN" sz="2800" dirty="0">
                              <a:solidFill>
                                <a:prstClr val="black"/>
                              </a:solidFill>
                            </a:rPr>
                            <m:t>s</m:t>
                          </m:r>
                          <m:r>
                            <m:rPr>
                              <m:nor/>
                            </m:rPr>
                            <a:rPr lang="en-US" altLang="zh-CN" sz="2800" dirty="0">
                              <a:solidFill>
                                <a:prstClr val="black"/>
                              </a:solidFill>
                            </a:rPr>
                            <m:t> </m:t>
                          </m:r>
                          <m:r>
                            <m:rPr>
                              <m:nor/>
                            </m:rPr>
                            <a:rPr lang="en-US" altLang="zh-CN" sz="2800" dirty="0">
                              <a:solidFill>
                                <a:prstClr val="black"/>
                              </a:solidFill>
                            </a:rPr>
                            <m:t>in</m:t>
                          </m:r>
                          <m:r>
                            <m:rPr>
                              <m:nor/>
                            </m:rPr>
                            <a:rPr lang="en-US" altLang="zh-CN" sz="2800" dirty="0">
                              <a:solidFill>
                                <a:prstClr val="black"/>
                              </a:solidFill>
                            </a:rPr>
                            <m:t> </m:t>
                          </m:r>
                          <m:r>
                            <a:rPr lang="en-US" altLang="zh-CN" sz="2800" i="1" dirty="0">
                              <a:solidFill>
                                <a:prstClr val="black"/>
                              </a:solidFill>
                              <a:latin typeface="Cambria Math" panose="02040503050406030204" pitchFamily="18" charset="0"/>
                            </a:rPr>
                            <m:t>𝐴</m:t>
                          </m:r>
                        </m:sub>
                        <m:sup/>
                        <m:e>
                          <m:r>
                            <a:rPr lang="en-US" altLang="zh-CN" sz="2800" i="1">
                              <a:solidFill>
                                <a:prstClr val="black"/>
                              </a:solidFill>
                              <a:latin typeface="Cambria Math" panose="02040503050406030204" pitchFamily="18" charset="0"/>
                            </a:rPr>
                            <m:t>𝑃</m:t>
                          </m:r>
                          <m:r>
                            <a:rPr lang="en-US" altLang="zh-CN" sz="2800" i="1">
                              <a:solidFill>
                                <a:prstClr val="black"/>
                              </a:solidFill>
                              <a:latin typeface="Cambria Math" panose="02040503050406030204" pitchFamily="18" charset="0"/>
                            </a:rPr>
                            <m:t>(</m:t>
                          </m:r>
                          <m:sSub>
                            <m:sSubPr>
                              <m:ctrlPr>
                                <a:rPr lang="en-US" altLang="zh-CN" sz="2800" i="1">
                                  <a:solidFill>
                                    <a:prstClr val="black"/>
                                  </a:solidFill>
                                  <a:latin typeface="Cambria Math" panose="02040503050406030204" pitchFamily="18" charset="0"/>
                                </a:rPr>
                              </m:ctrlPr>
                            </m:sSubPr>
                            <m:e>
                              <m:r>
                                <a:rPr lang="en-US" altLang="zh-CN" sz="2800" i="1">
                                  <a:solidFill>
                                    <a:prstClr val="black"/>
                                  </a:solidFill>
                                  <a:latin typeface="Cambria Math" panose="02040503050406030204" pitchFamily="18" charset="0"/>
                                </a:rPr>
                                <m:t>𝐸</m:t>
                              </m:r>
                            </m:e>
                            <m:sub>
                              <m:r>
                                <a:rPr lang="en-US" altLang="zh-CN" sz="2800" i="1">
                                  <a:solidFill>
                                    <a:prstClr val="black"/>
                                  </a:solidFill>
                                  <a:latin typeface="Cambria Math" panose="02040503050406030204" pitchFamily="18" charset="0"/>
                                </a:rPr>
                                <m:t>𝑖</m:t>
                              </m:r>
                            </m:sub>
                          </m:sSub>
                          <m:r>
                            <a:rPr lang="en-US" altLang="zh-CN" sz="2800" i="1">
                              <a:solidFill>
                                <a:prstClr val="black"/>
                              </a:solidFill>
                              <a:latin typeface="Cambria Math" panose="02040503050406030204" pitchFamily="18" charset="0"/>
                            </a:rPr>
                            <m:t>)</m:t>
                          </m:r>
                        </m:e>
                      </m:nary>
                      <m:r>
                        <a:rPr lang="en-US" altLang="zh-CN" sz="2800" b="0" i="1" smtClean="0">
                          <a:solidFill>
                            <a:prstClr val="black"/>
                          </a:solidFill>
                          <a:latin typeface="Cambria Math" panose="02040503050406030204" pitchFamily="18" charset="0"/>
                        </a:rPr>
                        <m:t>=</m:t>
                      </m:r>
                      <m:r>
                        <a:rPr lang="en-US" altLang="zh-CN" sz="2800" b="0" i="1" smtClean="0">
                          <a:solidFill>
                            <a:prstClr val="black"/>
                          </a:solidFill>
                          <a:latin typeface="Cambria Math" panose="02040503050406030204" pitchFamily="18" charset="0"/>
                        </a:rPr>
                        <m:t>𝑁</m:t>
                      </m:r>
                      <m:d>
                        <m:dPr>
                          <m:ctrlPr>
                            <a:rPr lang="en-US" altLang="zh-CN" sz="2800" b="0" i="1" smtClean="0">
                              <a:solidFill>
                                <a:prstClr val="black"/>
                              </a:solidFill>
                              <a:latin typeface="Cambria Math" panose="02040503050406030204" pitchFamily="18" charset="0"/>
                            </a:rPr>
                          </m:ctrlPr>
                        </m:dPr>
                        <m:e>
                          <m:r>
                            <a:rPr lang="en-US" altLang="zh-CN" sz="2800" b="0" i="1" smtClean="0">
                              <a:solidFill>
                                <a:prstClr val="black"/>
                              </a:solidFill>
                              <a:latin typeface="Cambria Math" panose="02040503050406030204" pitchFamily="18" charset="0"/>
                            </a:rPr>
                            <m:t>𝐴</m:t>
                          </m:r>
                        </m:e>
                      </m:d>
                      <m:r>
                        <a:rPr lang="en-US" altLang="zh-CN" sz="2800" b="0" i="1" smtClean="0">
                          <a:solidFill>
                            <a:prstClr val="black"/>
                          </a:solidFill>
                          <a:latin typeface="Cambria Math" panose="02040503050406030204" pitchFamily="18" charset="0"/>
                        </a:rPr>
                        <m:t>𝑝</m:t>
                      </m:r>
                      <m:r>
                        <a:rPr lang="en-US" altLang="zh-CN" sz="2800" b="0" i="1" smtClean="0">
                          <a:solidFill>
                            <a:prstClr val="black"/>
                          </a:solidFill>
                          <a:latin typeface="Cambria Math" panose="02040503050406030204" pitchFamily="18" charset="0"/>
                        </a:rPr>
                        <m:t>=</m:t>
                      </m:r>
                      <m:f>
                        <m:fPr>
                          <m:ctrlPr>
                            <a:rPr lang="en-US" altLang="zh-CN" sz="2800" i="1" dirty="0">
                              <a:latin typeface="Cambria Math" panose="02040503050406030204" pitchFamily="18" charset="0"/>
                            </a:rPr>
                          </m:ctrlPr>
                        </m:fPr>
                        <m:num>
                          <m:r>
                            <m:rPr>
                              <m:sty m:val="p"/>
                            </m:rPr>
                            <a:rPr lang="en-US" altLang="zh-CN" sz="2800" i="0">
                              <a:solidFill>
                                <a:prstClr val="black"/>
                              </a:solidFill>
                              <a:latin typeface="Cambria Math" panose="02040503050406030204" pitchFamily="18" charset="0"/>
                            </a:rPr>
                            <m:t>number</m:t>
                          </m:r>
                          <m:r>
                            <a:rPr lang="en-US" altLang="zh-CN" sz="2800" i="0">
                              <a:solidFill>
                                <a:prstClr val="black"/>
                              </a:solidFill>
                              <a:latin typeface="Cambria Math" panose="02040503050406030204" pitchFamily="18" charset="0"/>
                            </a:rPr>
                            <m:t> </m:t>
                          </m:r>
                          <m:r>
                            <m:rPr>
                              <m:sty m:val="p"/>
                            </m:rPr>
                            <a:rPr lang="en-US" altLang="zh-CN" sz="2800" i="0">
                              <a:solidFill>
                                <a:prstClr val="black"/>
                              </a:solidFill>
                              <a:latin typeface="Cambria Math" panose="02040503050406030204" pitchFamily="18" charset="0"/>
                            </a:rPr>
                            <m:t>of</m:t>
                          </m:r>
                          <m:r>
                            <a:rPr lang="en-US" altLang="zh-CN" sz="2800" i="0">
                              <a:solidFill>
                                <a:prstClr val="black"/>
                              </a:solidFill>
                              <a:latin typeface="Cambria Math" panose="02040503050406030204" pitchFamily="18" charset="0"/>
                            </a:rPr>
                            <m:t> </m:t>
                          </m:r>
                          <m:r>
                            <m:rPr>
                              <m:sty m:val="p"/>
                            </m:rPr>
                            <a:rPr lang="en-US" altLang="zh-CN" sz="2800" i="0">
                              <a:solidFill>
                                <a:prstClr val="black"/>
                              </a:solidFill>
                              <a:latin typeface="Cambria Math" panose="02040503050406030204" pitchFamily="18" charset="0"/>
                            </a:rPr>
                            <m:t>outcomes</m:t>
                          </m:r>
                          <m:r>
                            <a:rPr lang="en-US" altLang="zh-CN" sz="2800" i="0">
                              <a:solidFill>
                                <a:prstClr val="black"/>
                              </a:solidFill>
                              <a:latin typeface="Cambria Math" panose="02040503050406030204" pitchFamily="18" charset="0"/>
                            </a:rPr>
                            <m:t> </m:t>
                          </m:r>
                          <m:r>
                            <m:rPr>
                              <m:sty m:val="p"/>
                            </m:rPr>
                            <a:rPr lang="en-US" altLang="zh-CN" sz="2800" i="0">
                              <a:solidFill>
                                <a:prstClr val="black"/>
                              </a:solidFill>
                              <a:latin typeface="Cambria Math" panose="02040503050406030204" pitchFamily="18" charset="0"/>
                            </a:rPr>
                            <m:t>in</m:t>
                          </m:r>
                          <m:r>
                            <a:rPr lang="en-US" altLang="zh-CN" sz="2800" i="0">
                              <a:solidFill>
                                <a:prstClr val="black"/>
                              </a:solidFill>
                              <a:latin typeface="Cambria Math" panose="02040503050406030204" pitchFamily="18" charset="0"/>
                            </a:rPr>
                            <m:t> </m:t>
                          </m:r>
                          <m:r>
                            <a:rPr lang="en-US" altLang="zh-CN" sz="2800" b="0" i="1" smtClean="0">
                              <a:solidFill>
                                <a:prstClr val="black"/>
                              </a:solidFill>
                              <a:latin typeface="Cambria Math" panose="02040503050406030204" pitchFamily="18" charset="0"/>
                            </a:rPr>
                            <m:t>𝐴</m:t>
                          </m:r>
                        </m:num>
                        <m:den>
                          <m:r>
                            <m:rPr>
                              <m:sty m:val="p"/>
                            </m:rPr>
                            <a:rPr lang="en-US" altLang="zh-CN" sz="2800" i="0" dirty="0">
                              <a:latin typeface="Cambria Math" panose="02040503050406030204" pitchFamily="18" charset="0"/>
                            </a:rPr>
                            <m:t>number</m:t>
                          </m:r>
                          <m:r>
                            <a:rPr lang="en-US" altLang="zh-CN" sz="2800" i="0" dirty="0">
                              <a:latin typeface="Cambria Math" panose="02040503050406030204" pitchFamily="18" charset="0"/>
                            </a:rPr>
                            <m:t> </m:t>
                          </m:r>
                          <m:r>
                            <m:rPr>
                              <m:sty m:val="p"/>
                            </m:rPr>
                            <a:rPr lang="en-US" altLang="zh-CN" sz="2800" i="0" dirty="0">
                              <a:latin typeface="Cambria Math" panose="02040503050406030204" pitchFamily="18" charset="0"/>
                            </a:rPr>
                            <m:t>of</m:t>
                          </m:r>
                          <m:r>
                            <a:rPr lang="en-US" altLang="zh-CN" sz="2800" i="0" dirty="0">
                              <a:latin typeface="Cambria Math" panose="02040503050406030204" pitchFamily="18" charset="0"/>
                            </a:rPr>
                            <m:t> </m:t>
                          </m:r>
                          <m:r>
                            <m:rPr>
                              <m:sty m:val="p"/>
                            </m:rPr>
                            <a:rPr lang="en-US" altLang="zh-CN" sz="2800" i="0" dirty="0">
                              <a:latin typeface="Cambria Math" panose="02040503050406030204" pitchFamily="18" charset="0"/>
                            </a:rPr>
                            <m:t>outcomes</m:t>
                          </m:r>
                          <m:r>
                            <a:rPr lang="en-US" altLang="zh-CN" sz="2800" i="0" dirty="0">
                              <a:latin typeface="Cambria Math" panose="02040503050406030204" pitchFamily="18" charset="0"/>
                            </a:rPr>
                            <m:t> </m:t>
                          </m:r>
                          <m:r>
                            <m:rPr>
                              <m:sty m:val="p"/>
                            </m:rPr>
                            <a:rPr lang="en-US" altLang="zh-CN" sz="2800" i="0" dirty="0">
                              <a:latin typeface="Cambria Math" panose="02040503050406030204" pitchFamily="18" charset="0"/>
                            </a:rPr>
                            <m:t>in</m:t>
                          </m:r>
                          <m:r>
                            <a:rPr lang="en-US" altLang="zh-CN" sz="2800" i="0" dirty="0">
                              <a:latin typeface="Cambria Math" panose="02040503050406030204" pitchFamily="18" charset="0"/>
                            </a:rPr>
                            <m:t> </m:t>
                          </m:r>
                          <m:r>
                            <a:rPr lang="en-US" altLang="zh-CN" sz="2800" b="0" i="1" dirty="0" smtClean="0">
                              <a:latin typeface="Cambria Math" panose="02040503050406030204" pitchFamily="18" charset="0"/>
                            </a:rPr>
                            <m:t>𝑆</m:t>
                          </m:r>
                        </m:den>
                      </m:f>
                    </m:oMath>
                  </m:oMathPara>
                </a14:m>
                <a:endParaRPr lang="en-US" altLang="zh-CN" sz="2800" dirty="0"/>
              </a:p>
              <a:p>
                <a:pPr algn="l"/>
                <a:endParaRPr lang="en-US" altLang="zh-CN" dirty="0"/>
              </a:p>
              <a:p>
                <a:pPr algn="l"/>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93406" y="1094568"/>
                <a:ext cx="12029767" cy="5785294"/>
              </a:xfrm>
              <a:blipFill>
                <a:blip r:embed="rId3"/>
                <a:stretch>
                  <a:fillRect l="-912" t="-1159" r="-405"/>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4208440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93040" y="1122398"/>
                <a:ext cx="11649915" cy="5610240"/>
              </a:xfrm>
            </p:spPr>
            <p:txBody>
              <a:bodyPr>
                <a:normAutofit/>
              </a:bodyPr>
              <a:lstStyle/>
              <a:p>
                <a:pPr algn="l">
                  <a:lnSpc>
                    <a:spcPct val="100000"/>
                  </a:lnSpc>
                </a:pPr>
                <a:r>
                  <a:rPr lang="en-US" altLang="zh-CN" sz="2800" dirty="0">
                    <a:solidFill>
                      <a:srgbClr val="0070C0"/>
                    </a:solidFill>
                    <a:latin typeface="Arial Black" panose="020B0A04020102020204" pitchFamily="34" charset="0"/>
                  </a:rPr>
                  <a:t>Example 2.4 </a:t>
                </a:r>
              </a:p>
              <a:p>
                <a:pPr algn="l">
                  <a:lnSpc>
                    <a:spcPct val="100000"/>
                  </a:lnSpc>
                </a:pPr>
                <a:r>
                  <a:rPr lang="en-US" altLang="zh-CN" sz="2800" dirty="0"/>
                  <a:t>When two dice are rolled separately, there are </a:t>
                </a:r>
                <a14:m>
                  <m:oMath xmlns:m="http://schemas.openxmlformats.org/officeDocument/2006/math">
                    <m:r>
                      <a:rPr lang="en-US" altLang="zh-CN" sz="2800" i="1" dirty="0" smtClean="0">
                        <a:latin typeface="Cambria Math" panose="02040503050406030204" pitchFamily="18" charset="0"/>
                      </a:rPr>
                      <m:t>𝑁</m:t>
                    </m:r>
                    <m:r>
                      <a:rPr lang="en-US" altLang="zh-CN" sz="2800" b="0" i="1" dirty="0" smtClean="0">
                        <a:latin typeface="Cambria Math" panose="02040503050406030204" pitchFamily="18" charset="0"/>
                      </a:rPr>
                      <m:t>=</m:t>
                    </m:r>
                    <m:r>
                      <a:rPr lang="en-US" altLang="zh-CN" sz="2800" i="1" dirty="0" smtClean="0">
                        <a:latin typeface="Cambria Math" panose="02040503050406030204" pitchFamily="18" charset="0"/>
                      </a:rPr>
                      <m:t>36 </m:t>
                    </m:r>
                  </m:oMath>
                </a14:m>
                <a:r>
                  <a:rPr lang="en-US" altLang="zh-CN" sz="2800" dirty="0"/>
                  <a:t>outcomes. If both the dice are fair, all </a:t>
                </a:r>
                <a14:m>
                  <m:oMath xmlns:m="http://schemas.openxmlformats.org/officeDocument/2006/math">
                    <m:r>
                      <a:rPr lang="en-US" altLang="zh-CN" sz="2800" i="1" dirty="0" smtClean="0">
                        <a:latin typeface="Cambria Math" panose="02040503050406030204" pitchFamily="18" charset="0"/>
                      </a:rPr>
                      <m:t>36</m:t>
                    </m:r>
                  </m:oMath>
                </a14:m>
                <a:r>
                  <a:rPr lang="en-US" altLang="zh-CN" sz="2800" dirty="0"/>
                  <a:t> outcomes are equally likely, so </a:t>
                </a:r>
                <a14:m>
                  <m:oMath xmlns:m="http://schemas.openxmlformats.org/officeDocument/2006/math">
                    <m:r>
                      <a:rPr lang="en-US" altLang="zh-CN" sz="2800" i="1" dirty="0" smtClean="0">
                        <a:latin typeface="Cambria Math" panose="02040503050406030204" pitchFamily="18" charset="0"/>
                      </a:rPr>
                      <m:t>𝑃</m:t>
                    </m:r>
                    <m:d>
                      <m:dPr>
                        <m:ctrlPr>
                          <a:rPr lang="en-US" altLang="zh-CN" sz="2800" i="1" dirty="0" smtClean="0">
                            <a:latin typeface="Cambria Math" panose="02040503050406030204" pitchFamily="18" charset="0"/>
                          </a:rPr>
                        </m:ctrlPr>
                      </m:dPr>
                      <m:e>
                        <m:sSub>
                          <m:sSubPr>
                            <m:ctrlPr>
                              <a:rPr lang="en-US" altLang="zh-CN" sz="2800" b="0" i="1" dirty="0" smtClean="0">
                                <a:latin typeface="Cambria Math" panose="02040503050406030204" pitchFamily="18" charset="0"/>
                              </a:rPr>
                            </m:ctrlPr>
                          </m:sSubPr>
                          <m:e>
                            <m:r>
                              <a:rPr lang="en-US" altLang="zh-CN" sz="2800" i="1" dirty="0" err="1">
                                <a:latin typeface="Cambria Math" panose="02040503050406030204" pitchFamily="18" charset="0"/>
                              </a:rPr>
                              <m:t>𝐸</m:t>
                            </m:r>
                          </m:e>
                          <m:sub>
                            <m:r>
                              <a:rPr lang="en-US" altLang="zh-CN" sz="2800" i="1" dirty="0" err="1">
                                <a:latin typeface="Cambria Math" panose="02040503050406030204" pitchFamily="18" charset="0"/>
                              </a:rPr>
                              <m:t>𝑖</m:t>
                            </m:r>
                          </m:sub>
                        </m:sSub>
                      </m:e>
                    </m:d>
                    <m:r>
                      <a:rPr lang="en-US" altLang="zh-CN" sz="2800" b="0" i="1" dirty="0" smtClean="0">
                        <a:latin typeface="Cambria Math" panose="02040503050406030204" pitchFamily="18" charset="0"/>
                      </a:rPr>
                      <m:t>=</m:t>
                    </m:r>
                    <m:f>
                      <m:fPr>
                        <m:ctrlPr>
                          <a:rPr lang="en-US" altLang="zh-CN" sz="2800" b="0" i="1" dirty="0" smtClean="0">
                            <a:latin typeface="Cambria Math" panose="02040503050406030204" pitchFamily="18" charset="0"/>
                          </a:rPr>
                        </m:ctrlPr>
                      </m:fPr>
                      <m:num>
                        <m:r>
                          <a:rPr lang="en-US" altLang="zh-CN" sz="2800" i="1" dirty="0" smtClean="0">
                            <a:latin typeface="Cambria Math" panose="02040503050406030204" pitchFamily="18" charset="0"/>
                          </a:rPr>
                          <m:t>1</m:t>
                        </m:r>
                      </m:num>
                      <m:den>
                        <m:r>
                          <a:rPr lang="en-US" altLang="zh-CN" sz="2800" i="1" dirty="0">
                            <a:latin typeface="Cambria Math" panose="02040503050406030204" pitchFamily="18" charset="0"/>
                          </a:rPr>
                          <m:t>3</m:t>
                        </m:r>
                        <m:r>
                          <a:rPr lang="en-US" altLang="zh-CN" sz="2800" i="1" dirty="0" smtClean="0">
                            <a:latin typeface="Cambria Math" panose="02040503050406030204" pitchFamily="18" charset="0"/>
                          </a:rPr>
                          <m:t>6</m:t>
                        </m:r>
                      </m:den>
                    </m:f>
                  </m:oMath>
                </a14:m>
                <a:r>
                  <a:rPr lang="en-US" altLang="zh-CN" sz="2800" dirty="0"/>
                  <a:t>. Then the event </a:t>
                </a:r>
                <a14:m>
                  <m:oMath xmlns:m="http://schemas.openxmlformats.org/officeDocument/2006/math">
                    <m:r>
                      <a:rPr lang="en-US" altLang="zh-CN" sz="2800" i="1" dirty="0" smtClean="0">
                        <a:latin typeface="Cambria Math" panose="02040503050406030204" pitchFamily="18" charset="0"/>
                      </a:rPr>
                      <m:t>𝐴</m:t>
                    </m:r>
                    <m:r>
                      <a:rPr lang="en-US" altLang="zh-CN" sz="2800" b="0" i="1" dirty="0" smtClean="0">
                        <a:latin typeface="Cambria Math" panose="02040503050406030204" pitchFamily="18" charset="0"/>
                      </a:rPr>
                      <m:t>=</m:t>
                    </m:r>
                  </m:oMath>
                </a14:m>
                <a:r>
                  <a:rPr lang="en-US" altLang="zh-CN" sz="2800" dirty="0"/>
                  <a:t> {sum of two numbers </a:t>
                </a:r>
                <a14:m>
                  <m:oMath xmlns:m="http://schemas.openxmlformats.org/officeDocument/2006/math">
                    <m:r>
                      <a:rPr lang="en-US" altLang="zh-CN" sz="2800" i="1" dirty="0" smtClean="0">
                        <a:latin typeface="Cambria Math" panose="02040503050406030204" pitchFamily="18" charset="0"/>
                      </a:rPr>
                      <m:t>=</m:t>
                    </m:r>
                    <m:r>
                      <a:rPr lang="en-US" altLang="zh-CN" sz="2800" i="1" dirty="0">
                        <a:latin typeface="Cambria Math" panose="02040503050406030204" pitchFamily="18" charset="0"/>
                      </a:rPr>
                      <m:t>7</m:t>
                    </m:r>
                  </m:oMath>
                </a14:m>
                <a:r>
                  <a:rPr lang="en-US" altLang="zh-CN" sz="2800" dirty="0"/>
                  <a:t>} consists of the six outcomes </a:t>
                </a:r>
                <a14:m>
                  <m:oMath xmlns:m="http://schemas.openxmlformats.org/officeDocument/2006/math">
                    <m:d>
                      <m:dPr>
                        <m:ctrlPr>
                          <a:rPr lang="en-US" altLang="zh-CN" sz="2800" i="1" dirty="0" smtClean="0">
                            <a:latin typeface="Cambria Math" panose="02040503050406030204" pitchFamily="18" charset="0"/>
                          </a:rPr>
                        </m:ctrlPr>
                      </m:dPr>
                      <m:e>
                        <m:r>
                          <a:rPr lang="en-US" altLang="zh-CN" sz="2800" i="1" dirty="0" smtClean="0">
                            <a:latin typeface="Cambria Math" panose="02040503050406030204" pitchFamily="18" charset="0"/>
                          </a:rPr>
                          <m:t>1, 6</m:t>
                        </m:r>
                      </m:e>
                    </m:d>
                    <m:r>
                      <a:rPr lang="en-US" altLang="zh-CN" sz="2800" i="1" dirty="0" smtClean="0">
                        <a:latin typeface="Cambria Math" panose="02040503050406030204" pitchFamily="18" charset="0"/>
                      </a:rPr>
                      <m:t>, </m:t>
                    </m:r>
                    <m:d>
                      <m:dPr>
                        <m:ctrlPr>
                          <a:rPr lang="en-US" altLang="zh-CN" sz="2800" i="1" dirty="0" smtClean="0">
                            <a:latin typeface="Cambria Math" panose="02040503050406030204" pitchFamily="18" charset="0"/>
                          </a:rPr>
                        </m:ctrlPr>
                      </m:dPr>
                      <m:e>
                        <m:r>
                          <a:rPr lang="en-US" altLang="zh-CN" sz="2800" i="1" dirty="0" smtClean="0">
                            <a:latin typeface="Cambria Math" panose="02040503050406030204" pitchFamily="18" charset="0"/>
                          </a:rPr>
                          <m:t>2, 5</m:t>
                        </m:r>
                      </m:e>
                    </m:d>
                    <m:r>
                      <a:rPr lang="en-US" altLang="zh-CN" sz="2800" i="1" dirty="0" smtClean="0">
                        <a:latin typeface="Cambria Math" panose="02040503050406030204" pitchFamily="18" charset="0"/>
                      </a:rPr>
                      <m:t>, </m:t>
                    </m:r>
                  </m:oMath>
                </a14:m>
                <a:endParaRPr lang="en-US" altLang="zh-CN" sz="2800" i="1" dirty="0">
                  <a:latin typeface="Cambria Math" panose="02040503050406030204" pitchFamily="18" charset="0"/>
                </a:endParaRPr>
              </a:p>
              <a:p>
                <a:pPr algn="l">
                  <a:lnSpc>
                    <a:spcPct val="100000"/>
                  </a:lnSpc>
                </a:pPr>
                <a14:m>
                  <m:oMath xmlns:m="http://schemas.openxmlformats.org/officeDocument/2006/math">
                    <m:r>
                      <a:rPr lang="en-US" altLang="zh-CN" sz="2800" i="1" dirty="0" smtClean="0">
                        <a:latin typeface="Cambria Math" panose="02040503050406030204" pitchFamily="18" charset="0"/>
                      </a:rPr>
                      <m:t>(3, 4), (4, 3), (5, 2), </m:t>
                    </m:r>
                  </m:oMath>
                </a14:m>
                <a:r>
                  <a:rPr lang="en-US" altLang="zh-CN" sz="2800" dirty="0"/>
                  <a:t> and </a:t>
                </a:r>
                <a14:m>
                  <m:oMath xmlns:m="http://schemas.openxmlformats.org/officeDocument/2006/math">
                    <m:r>
                      <a:rPr lang="en-US" altLang="zh-CN" sz="2800" i="1" dirty="0" smtClean="0">
                        <a:latin typeface="Cambria Math" panose="02040503050406030204" pitchFamily="18" charset="0"/>
                      </a:rPr>
                      <m:t>(6, 1)</m:t>
                    </m:r>
                  </m:oMath>
                </a14:m>
                <a:r>
                  <a:rPr lang="en-US" altLang="zh-CN" sz="2800" dirty="0"/>
                  <a:t>, so</a:t>
                </a:r>
              </a:p>
              <a:p>
                <a:pPr algn="l">
                  <a:lnSpc>
                    <a:spcPct val="100000"/>
                  </a:lnSpc>
                </a:pPr>
                <a14:m>
                  <m:oMathPara xmlns:m="http://schemas.openxmlformats.org/officeDocument/2006/math">
                    <m:oMathParaPr>
                      <m:jc m:val="centerGroup"/>
                    </m:oMathParaPr>
                    <m:oMath xmlns:m="http://schemas.openxmlformats.org/officeDocument/2006/math">
                      <m:r>
                        <a:rPr lang="en-US" altLang="zh-CN" sz="2800" i="1">
                          <a:solidFill>
                            <a:prstClr val="black"/>
                          </a:solidFill>
                          <a:latin typeface="Cambria Math" panose="02040503050406030204" pitchFamily="18" charset="0"/>
                        </a:rPr>
                        <m:t>𝑃</m:t>
                      </m:r>
                      <m:d>
                        <m:dPr>
                          <m:ctrlPr>
                            <a:rPr lang="en-US" altLang="zh-CN" sz="2800" i="1">
                              <a:solidFill>
                                <a:prstClr val="black"/>
                              </a:solidFill>
                              <a:latin typeface="Cambria Math" panose="02040503050406030204" pitchFamily="18" charset="0"/>
                            </a:rPr>
                          </m:ctrlPr>
                        </m:dPr>
                        <m:e>
                          <m:r>
                            <a:rPr lang="en-US" altLang="zh-CN" sz="2800" i="1">
                              <a:solidFill>
                                <a:prstClr val="black"/>
                              </a:solidFill>
                              <a:latin typeface="Cambria Math" panose="02040503050406030204" pitchFamily="18" charset="0"/>
                            </a:rPr>
                            <m:t>𝐴</m:t>
                          </m:r>
                        </m:e>
                      </m:d>
                      <m:r>
                        <a:rPr lang="en-US" altLang="zh-CN" sz="2800" i="1">
                          <a:solidFill>
                            <a:prstClr val="black"/>
                          </a:solidFill>
                          <a:latin typeface="Cambria Math" panose="02040503050406030204" pitchFamily="18" charset="0"/>
                        </a:rPr>
                        <m:t>=</m:t>
                      </m:r>
                      <m:f>
                        <m:fPr>
                          <m:ctrlPr>
                            <a:rPr lang="en-US" altLang="zh-CN" sz="2800" i="1" dirty="0">
                              <a:solidFill>
                                <a:prstClr val="black"/>
                              </a:solidFill>
                              <a:latin typeface="Cambria Math" panose="02040503050406030204" pitchFamily="18" charset="0"/>
                            </a:rPr>
                          </m:ctrlPr>
                        </m:fPr>
                        <m:num>
                          <m:r>
                            <a:rPr lang="en-US" altLang="zh-CN" sz="2800" i="1">
                              <a:solidFill>
                                <a:prstClr val="black"/>
                              </a:solidFill>
                              <a:latin typeface="Cambria Math" panose="02040503050406030204" pitchFamily="18" charset="0"/>
                            </a:rPr>
                            <m:t>𝑁</m:t>
                          </m:r>
                          <m:d>
                            <m:dPr>
                              <m:ctrlPr>
                                <a:rPr lang="en-US" altLang="zh-CN" sz="2800" i="1">
                                  <a:solidFill>
                                    <a:prstClr val="black"/>
                                  </a:solidFill>
                                  <a:latin typeface="Cambria Math" panose="02040503050406030204" pitchFamily="18" charset="0"/>
                                </a:rPr>
                              </m:ctrlPr>
                            </m:dPr>
                            <m:e>
                              <m:r>
                                <a:rPr lang="en-US" altLang="zh-CN" sz="2800" i="1">
                                  <a:solidFill>
                                    <a:prstClr val="black"/>
                                  </a:solidFill>
                                  <a:latin typeface="Cambria Math" panose="02040503050406030204" pitchFamily="18" charset="0"/>
                                </a:rPr>
                                <m:t>𝐴</m:t>
                              </m:r>
                            </m:e>
                          </m:d>
                        </m:num>
                        <m:den>
                          <m:r>
                            <a:rPr lang="en-US" altLang="zh-CN" sz="2800" i="1" dirty="0">
                              <a:solidFill>
                                <a:prstClr val="black"/>
                              </a:solidFill>
                              <a:latin typeface="Cambria Math" panose="02040503050406030204" pitchFamily="18" charset="0"/>
                            </a:rPr>
                            <m:t>𝑁</m:t>
                          </m:r>
                        </m:den>
                      </m:f>
                      <m:r>
                        <a:rPr lang="en-US" altLang="zh-CN" sz="2800" b="0" i="1" dirty="0" smtClean="0">
                          <a:solidFill>
                            <a:prstClr val="black"/>
                          </a:solidFill>
                          <a:latin typeface="Cambria Math" panose="02040503050406030204" pitchFamily="18" charset="0"/>
                        </a:rPr>
                        <m:t>=</m:t>
                      </m:r>
                      <m:f>
                        <m:fPr>
                          <m:ctrlPr>
                            <a:rPr lang="en-US" altLang="zh-CN" sz="2800" b="0" i="1" dirty="0" smtClean="0">
                              <a:solidFill>
                                <a:prstClr val="black"/>
                              </a:solidFill>
                              <a:latin typeface="Cambria Math" panose="02040503050406030204" pitchFamily="18" charset="0"/>
                            </a:rPr>
                          </m:ctrlPr>
                        </m:fPr>
                        <m:num>
                          <m:r>
                            <a:rPr lang="en-US" altLang="zh-CN" sz="2800" b="0" i="1" dirty="0" smtClean="0">
                              <a:solidFill>
                                <a:prstClr val="black"/>
                              </a:solidFill>
                              <a:latin typeface="Cambria Math" panose="02040503050406030204" pitchFamily="18" charset="0"/>
                            </a:rPr>
                            <m:t>6</m:t>
                          </m:r>
                        </m:num>
                        <m:den>
                          <m:r>
                            <a:rPr lang="en-US" altLang="zh-CN" sz="2800" b="0" i="1" dirty="0" smtClean="0">
                              <a:solidFill>
                                <a:prstClr val="black"/>
                              </a:solidFill>
                              <a:latin typeface="Cambria Math" panose="02040503050406030204" pitchFamily="18" charset="0"/>
                            </a:rPr>
                            <m:t>36</m:t>
                          </m:r>
                        </m:den>
                      </m:f>
                      <m:r>
                        <a:rPr lang="en-US" altLang="zh-CN" sz="2800" b="0" i="1" dirty="0" smtClean="0">
                          <a:solidFill>
                            <a:prstClr val="black"/>
                          </a:solidFill>
                          <a:latin typeface="Cambria Math" panose="02040503050406030204" pitchFamily="18" charset="0"/>
                        </a:rPr>
                        <m:t>=</m:t>
                      </m:r>
                      <m:f>
                        <m:fPr>
                          <m:ctrlPr>
                            <a:rPr lang="en-US" altLang="zh-CN" sz="2800" b="0" i="1" dirty="0" smtClean="0">
                              <a:solidFill>
                                <a:prstClr val="black"/>
                              </a:solidFill>
                              <a:latin typeface="Cambria Math" panose="02040503050406030204" pitchFamily="18" charset="0"/>
                            </a:rPr>
                          </m:ctrlPr>
                        </m:fPr>
                        <m:num>
                          <m:r>
                            <a:rPr lang="en-US" altLang="zh-CN" sz="2800" b="0" i="1" dirty="0" smtClean="0">
                              <a:solidFill>
                                <a:prstClr val="black"/>
                              </a:solidFill>
                              <a:latin typeface="Cambria Math" panose="02040503050406030204" pitchFamily="18" charset="0"/>
                            </a:rPr>
                            <m:t>1</m:t>
                          </m:r>
                        </m:num>
                        <m:den>
                          <m:r>
                            <a:rPr lang="en-US" altLang="zh-CN" sz="2800" b="0" i="1" dirty="0" smtClean="0">
                              <a:solidFill>
                                <a:prstClr val="black"/>
                              </a:solidFill>
                              <a:latin typeface="Cambria Math" panose="02040503050406030204" pitchFamily="18" charset="0"/>
                            </a:rPr>
                            <m:t>6</m:t>
                          </m:r>
                        </m:den>
                      </m:f>
                    </m:oMath>
                  </m:oMathPara>
                </a14:m>
                <a:endParaRPr lang="en-US" altLang="zh-CN" sz="2800" dirty="0"/>
              </a:p>
              <a:p>
                <a:pPr algn="l"/>
                <a:endParaRPr lang="en-US" altLang="zh-CN" sz="3200" dirty="0"/>
              </a:p>
              <a:p>
                <a:pPr algn="l"/>
                <a:endParaRPr lang="en-US" altLang="zh-CN" sz="3200" dirty="0"/>
              </a:p>
              <a:p>
                <a:pPr algn="l"/>
                <a:endParaRPr lang="en-US" altLang="zh-CN" sz="3200" dirty="0"/>
              </a:p>
              <a:p>
                <a:pPr algn="l"/>
                <a:endParaRPr lang="en-US" altLang="zh-CN" dirty="0"/>
              </a:p>
              <a:p>
                <a:pPr algn="l"/>
                <a:endParaRPr lang="en-US" altLang="zh-CN" dirty="0"/>
              </a:p>
              <a:p>
                <a:pPr algn="l"/>
                <a:endParaRPr lang="en-US" altLang="zh-CN" dirty="0"/>
              </a:p>
              <a:p>
                <a:pPr algn="l"/>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93040" y="1122398"/>
                <a:ext cx="11649915" cy="5610240"/>
              </a:xfrm>
              <a:blipFill>
                <a:blip r:embed="rId3"/>
                <a:stretch>
                  <a:fillRect l="-1099" t="-1087"/>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2042797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1022" y="1198881"/>
                <a:ext cx="11649915" cy="5610240"/>
              </a:xfrm>
            </p:spPr>
            <p:txBody>
              <a:bodyPr>
                <a:normAutofit/>
              </a:bodyPr>
              <a:lstStyle/>
              <a:p>
                <a:pPr algn="l">
                  <a:lnSpc>
                    <a:spcPct val="100000"/>
                  </a:lnSpc>
                </a:pPr>
                <a:r>
                  <a:rPr lang="en-US" altLang="zh-CN" sz="2800" dirty="0">
                    <a:solidFill>
                      <a:srgbClr val="0070C0"/>
                    </a:solidFill>
                    <a:latin typeface="Arial Black" panose="020B0A04020102020204" pitchFamily="34" charset="0"/>
                  </a:rPr>
                  <a:t>Example 2.5 </a:t>
                </a:r>
              </a:p>
              <a:p>
                <a:pPr algn="l">
                  <a:lnSpc>
                    <a:spcPct val="100000"/>
                  </a:lnSpc>
                </a:pPr>
                <a:r>
                  <a:rPr lang="en-US" altLang="zh-CN" sz="2800" dirty="0"/>
                  <a:t>A committee of 5 is to be selected from a group of 6 men and 9 women. If the selection is made randomly, what is the probability that the committee consists of 3 men and 2 women?</a:t>
                </a:r>
              </a:p>
              <a:p>
                <a:pPr algn="l">
                  <a:lnSpc>
                    <a:spcPct val="100000"/>
                  </a:lnSpc>
                </a:pPr>
                <a14:m>
                  <m:oMath xmlns:m="http://schemas.openxmlformats.org/officeDocument/2006/math">
                    <m:r>
                      <a:rPr lang="en-US" altLang="zh-CN" sz="2800" i="1" dirty="0" smtClean="0">
                        <a:latin typeface="Cambria Math" panose="02040503050406030204" pitchFamily="18" charset="0"/>
                      </a:rPr>
                      <m:t>𝐴</m:t>
                    </m:r>
                    <m:r>
                      <a:rPr lang="en-US" altLang="zh-CN" sz="2800" b="0" i="1" dirty="0" smtClean="0">
                        <a:latin typeface="Cambria Math" panose="02040503050406030204" pitchFamily="18" charset="0"/>
                      </a:rPr>
                      <m:t>=</m:t>
                    </m:r>
                  </m:oMath>
                </a14:m>
                <a:r>
                  <a:rPr lang="en-US" altLang="zh-CN" sz="2800" dirty="0"/>
                  <a:t> {the committee consists of 3 men and 2 women}, so</a:t>
                </a:r>
              </a:p>
              <a:p>
                <a:pPr algn="l">
                  <a:lnSpc>
                    <a:spcPct val="100000"/>
                  </a:lnSpc>
                </a:pPr>
                <a14:m>
                  <m:oMathPara xmlns:m="http://schemas.openxmlformats.org/officeDocument/2006/math">
                    <m:oMathParaPr>
                      <m:jc m:val="centerGroup"/>
                    </m:oMathParaPr>
                    <m:oMath xmlns:m="http://schemas.openxmlformats.org/officeDocument/2006/math">
                      <m:r>
                        <a:rPr lang="en-US" altLang="zh-CN" sz="2800" i="1">
                          <a:solidFill>
                            <a:prstClr val="black"/>
                          </a:solidFill>
                          <a:latin typeface="Cambria Math" panose="02040503050406030204" pitchFamily="18" charset="0"/>
                        </a:rPr>
                        <m:t>𝑃</m:t>
                      </m:r>
                      <m:d>
                        <m:dPr>
                          <m:ctrlPr>
                            <a:rPr lang="en-US" altLang="zh-CN" sz="2800" i="1">
                              <a:solidFill>
                                <a:prstClr val="black"/>
                              </a:solidFill>
                              <a:latin typeface="Cambria Math" panose="02040503050406030204" pitchFamily="18" charset="0"/>
                            </a:rPr>
                          </m:ctrlPr>
                        </m:dPr>
                        <m:e>
                          <m:r>
                            <a:rPr lang="en-US" altLang="zh-CN" sz="2800" i="1">
                              <a:solidFill>
                                <a:prstClr val="black"/>
                              </a:solidFill>
                              <a:latin typeface="Cambria Math" panose="02040503050406030204" pitchFamily="18" charset="0"/>
                            </a:rPr>
                            <m:t>𝐴</m:t>
                          </m:r>
                        </m:e>
                      </m:d>
                      <m:r>
                        <a:rPr lang="en-US" altLang="zh-CN" sz="2800" i="1">
                          <a:solidFill>
                            <a:prstClr val="black"/>
                          </a:solidFill>
                          <a:latin typeface="Cambria Math" panose="02040503050406030204" pitchFamily="18" charset="0"/>
                        </a:rPr>
                        <m:t>=</m:t>
                      </m:r>
                      <m:f>
                        <m:fPr>
                          <m:ctrlPr>
                            <a:rPr lang="en-US" altLang="zh-CN" sz="2800" i="1" dirty="0">
                              <a:solidFill>
                                <a:prstClr val="black"/>
                              </a:solidFill>
                              <a:latin typeface="Cambria Math" panose="02040503050406030204" pitchFamily="18" charset="0"/>
                            </a:rPr>
                          </m:ctrlPr>
                        </m:fPr>
                        <m:num>
                          <m:r>
                            <a:rPr lang="en-US" altLang="zh-CN" sz="2800" i="1">
                              <a:solidFill>
                                <a:prstClr val="black"/>
                              </a:solidFill>
                              <a:latin typeface="Cambria Math" panose="02040503050406030204" pitchFamily="18" charset="0"/>
                            </a:rPr>
                            <m:t>𝑁</m:t>
                          </m:r>
                          <m:d>
                            <m:dPr>
                              <m:ctrlPr>
                                <a:rPr lang="en-US" altLang="zh-CN" sz="2800" i="1">
                                  <a:solidFill>
                                    <a:prstClr val="black"/>
                                  </a:solidFill>
                                  <a:latin typeface="Cambria Math" panose="02040503050406030204" pitchFamily="18" charset="0"/>
                                </a:rPr>
                              </m:ctrlPr>
                            </m:dPr>
                            <m:e>
                              <m:r>
                                <a:rPr lang="en-US" altLang="zh-CN" sz="2800" i="1">
                                  <a:solidFill>
                                    <a:prstClr val="black"/>
                                  </a:solidFill>
                                  <a:latin typeface="Cambria Math" panose="02040503050406030204" pitchFamily="18" charset="0"/>
                                </a:rPr>
                                <m:t>𝐴</m:t>
                              </m:r>
                            </m:e>
                          </m:d>
                        </m:num>
                        <m:den>
                          <m:r>
                            <a:rPr lang="en-US" altLang="zh-CN" sz="2800" i="1" dirty="0">
                              <a:solidFill>
                                <a:prstClr val="black"/>
                              </a:solidFill>
                              <a:latin typeface="Cambria Math" panose="02040503050406030204" pitchFamily="18" charset="0"/>
                            </a:rPr>
                            <m:t>𝑁</m:t>
                          </m:r>
                        </m:den>
                      </m:f>
                      <m:r>
                        <a:rPr lang="en-US" altLang="zh-CN" sz="2800" b="0" i="1" dirty="0" smtClean="0">
                          <a:solidFill>
                            <a:prstClr val="black"/>
                          </a:solidFill>
                          <a:latin typeface="Cambria Math" panose="02040503050406030204" pitchFamily="18" charset="0"/>
                        </a:rPr>
                        <m:t>=</m:t>
                      </m:r>
                      <m:f>
                        <m:fPr>
                          <m:ctrlPr>
                            <a:rPr lang="en-US" altLang="zh-CN" sz="2800" b="0" i="1" dirty="0" smtClean="0">
                              <a:solidFill>
                                <a:prstClr val="black"/>
                              </a:solidFill>
                              <a:latin typeface="Cambria Math" panose="02040503050406030204" pitchFamily="18" charset="0"/>
                            </a:rPr>
                          </m:ctrlPr>
                        </m:fPr>
                        <m:num>
                          <m:d>
                            <m:dPr>
                              <m:ctrlPr>
                                <a:rPr lang="en-US" altLang="zh-CN" sz="2800" b="0" i="1" dirty="0" smtClean="0">
                                  <a:solidFill>
                                    <a:prstClr val="black"/>
                                  </a:solidFill>
                                  <a:latin typeface="Cambria Math" panose="02040503050406030204" pitchFamily="18" charset="0"/>
                                </a:rPr>
                              </m:ctrlPr>
                            </m:dPr>
                            <m:e>
                              <m:m>
                                <m:mPr>
                                  <m:mcs>
                                    <m:mc>
                                      <m:mcPr>
                                        <m:count m:val="1"/>
                                        <m:mcJc m:val="center"/>
                                      </m:mcPr>
                                    </m:mc>
                                  </m:mcs>
                                  <m:ctrlPr>
                                    <a:rPr lang="en-US" altLang="zh-CN" sz="2800" b="0" i="1" dirty="0" smtClean="0">
                                      <a:solidFill>
                                        <a:prstClr val="black"/>
                                      </a:solidFill>
                                      <a:latin typeface="Cambria Math" panose="02040503050406030204" pitchFamily="18" charset="0"/>
                                    </a:rPr>
                                  </m:ctrlPr>
                                </m:mPr>
                                <m:mr>
                                  <m:e>
                                    <m:r>
                                      <m:rPr>
                                        <m:brk m:alnAt="7"/>
                                      </m:rPr>
                                      <a:rPr lang="en-US" altLang="zh-CN" sz="2800" b="0" i="1" dirty="0" smtClean="0">
                                        <a:solidFill>
                                          <a:prstClr val="black"/>
                                        </a:solidFill>
                                        <a:latin typeface="Cambria Math" panose="02040503050406030204" pitchFamily="18" charset="0"/>
                                      </a:rPr>
                                      <m:t>6</m:t>
                                    </m:r>
                                  </m:e>
                                </m:mr>
                                <m:mr>
                                  <m:e>
                                    <m:r>
                                      <a:rPr lang="en-US" altLang="zh-CN" sz="2800" b="0" i="1" dirty="0" smtClean="0">
                                        <a:solidFill>
                                          <a:prstClr val="black"/>
                                        </a:solidFill>
                                        <a:latin typeface="Cambria Math" panose="02040503050406030204" pitchFamily="18" charset="0"/>
                                      </a:rPr>
                                      <m:t>3</m:t>
                                    </m:r>
                                  </m:e>
                                </m:mr>
                              </m:m>
                            </m:e>
                          </m:d>
                          <m:d>
                            <m:dPr>
                              <m:ctrlPr>
                                <a:rPr lang="en-US" altLang="zh-CN" sz="2800" b="0" i="1" dirty="0" smtClean="0">
                                  <a:solidFill>
                                    <a:prstClr val="black"/>
                                  </a:solidFill>
                                  <a:latin typeface="Cambria Math" panose="02040503050406030204" pitchFamily="18" charset="0"/>
                                </a:rPr>
                              </m:ctrlPr>
                            </m:dPr>
                            <m:e>
                              <m:m>
                                <m:mPr>
                                  <m:mcs>
                                    <m:mc>
                                      <m:mcPr>
                                        <m:count m:val="1"/>
                                        <m:mcJc m:val="center"/>
                                      </m:mcPr>
                                    </m:mc>
                                  </m:mcs>
                                  <m:ctrlPr>
                                    <a:rPr lang="en-US" altLang="zh-CN" sz="2800" b="0" i="1" dirty="0" smtClean="0">
                                      <a:solidFill>
                                        <a:prstClr val="black"/>
                                      </a:solidFill>
                                      <a:latin typeface="Cambria Math" panose="02040503050406030204" pitchFamily="18" charset="0"/>
                                    </a:rPr>
                                  </m:ctrlPr>
                                </m:mPr>
                                <m:mr>
                                  <m:e>
                                    <m:r>
                                      <m:rPr>
                                        <m:brk m:alnAt="7"/>
                                      </m:rPr>
                                      <a:rPr lang="en-US" altLang="zh-CN" sz="2800" b="0" i="1" dirty="0" smtClean="0">
                                        <a:solidFill>
                                          <a:prstClr val="black"/>
                                        </a:solidFill>
                                        <a:latin typeface="Cambria Math" panose="02040503050406030204" pitchFamily="18" charset="0"/>
                                      </a:rPr>
                                      <m:t>9</m:t>
                                    </m:r>
                                  </m:e>
                                </m:mr>
                                <m:mr>
                                  <m:e>
                                    <m:r>
                                      <a:rPr lang="en-US" altLang="zh-CN" sz="2800" b="0" i="1" dirty="0" smtClean="0">
                                        <a:solidFill>
                                          <a:prstClr val="black"/>
                                        </a:solidFill>
                                        <a:latin typeface="Cambria Math" panose="02040503050406030204" pitchFamily="18" charset="0"/>
                                      </a:rPr>
                                      <m:t>2</m:t>
                                    </m:r>
                                  </m:e>
                                </m:mr>
                              </m:m>
                            </m:e>
                          </m:d>
                        </m:num>
                        <m:den>
                          <m:d>
                            <m:dPr>
                              <m:ctrlPr>
                                <a:rPr lang="en-US" altLang="zh-CN" sz="2800" i="1" dirty="0">
                                  <a:solidFill>
                                    <a:prstClr val="black"/>
                                  </a:solidFill>
                                  <a:latin typeface="Cambria Math" panose="02040503050406030204" pitchFamily="18" charset="0"/>
                                </a:rPr>
                              </m:ctrlPr>
                            </m:dPr>
                            <m:e>
                              <m:m>
                                <m:mPr>
                                  <m:mcs>
                                    <m:mc>
                                      <m:mcPr>
                                        <m:count m:val="1"/>
                                        <m:mcJc m:val="center"/>
                                      </m:mcPr>
                                    </m:mc>
                                  </m:mcs>
                                  <m:ctrlPr>
                                    <a:rPr lang="en-US" altLang="zh-CN" sz="2800" i="1" dirty="0">
                                      <a:solidFill>
                                        <a:prstClr val="black"/>
                                      </a:solidFill>
                                      <a:latin typeface="Cambria Math" panose="02040503050406030204" pitchFamily="18" charset="0"/>
                                    </a:rPr>
                                  </m:ctrlPr>
                                </m:mPr>
                                <m:mr>
                                  <m:e>
                                    <m:r>
                                      <a:rPr lang="en-US" altLang="zh-CN" sz="2800" b="0" i="1" dirty="0" smtClean="0">
                                        <a:solidFill>
                                          <a:prstClr val="black"/>
                                        </a:solidFill>
                                        <a:latin typeface="Cambria Math" panose="02040503050406030204" pitchFamily="18" charset="0"/>
                                      </a:rPr>
                                      <m:t>15</m:t>
                                    </m:r>
                                  </m:e>
                                </m:mr>
                                <m:mr>
                                  <m:e>
                                    <m:r>
                                      <a:rPr lang="en-US" altLang="zh-CN" sz="2800" b="0" i="1" dirty="0" smtClean="0">
                                        <a:solidFill>
                                          <a:prstClr val="black"/>
                                        </a:solidFill>
                                        <a:latin typeface="Cambria Math" panose="02040503050406030204" pitchFamily="18" charset="0"/>
                                      </a:rPr>
                                      <m:t>5</m:t>
                                    </m:r>
                                  </m:e>
                                </m:mr>
                              </m:m>
                            </m:e>
                          </m:d>
                        </m:den>
                      </m:f>
                      <m:r>
                        <a:rPr lang="en-US" altLang="zh-CN" sz="2800" b="0" i="1" dirty="0" smtClean="0">
                          <a:solidFill>
                            <a:prstClr val="black"/>
                          </a:solidFill>
                          <a:latin typeface="Cambria Math" panose="02040503050406030204" pitchFamily="18" charset="0"/>
                        </a:rPr>
                        <m:t>=</m:t>
                      </m:r>
                      <m:f>
                        <m:fPr>
                          <m:ctrlPr>
                            <a:rPr lang="en-US" altLang="zh-CN" sz="2800" b="0" i="1" dirty="0" smtClean="0">
                              <a:solidFill>
                                <a:prstClr val="black"/>
                              </a:solidFill>
                              <a:latin typeface="Cambria Math" panose="02040503050406030204" pitchFamily="18" charset="0"/>
                            </a:rPr>
                          </m:ctrlPr>
                        </m:fPr>
                        <m:num>
                          <m:r>
                            <a:rPr lang="en-US" altLang="zh-CN" sz="2800" b="0" i="1" dirty="0" smtClean="0">
                              <a:solidFill>
                                <a:prstClr val="black"/>
                              </a:solidFill>
                              <a:latin typeface="Cambria Math" panose="02040503050406030204" pitchFamily="18" charset="0"/>
                            </a:rPr>
                            <m:t>240</m:t>
                          </m:r>
                        </m:num>
                        <m:den>
                          <m:r>
                            <a:rPr lang="en-US" altLang="zh-CN" sz="2800" b="0" i="1" dirty="0" smtClean="0">
                              <a:solidFill>
                                <a:prstClr val="black"/>
                              </a:solidFill>
                              <a:latin typeface="Cambria Math" panose="02040503050406030204" pitchFamily="18" charset="0"/>
                            </a:rPr>
                            <m:t>1001</m:t>
                          </m:r>
                        </m:den>
                      </m:f>
                    </m:oMath>
                  </m:oMathPara>
                </a14:m>
                <a:endParaRPr lang="en-US" altLang="zh-CN" sz="2800" dirty="0"/>
              </a:p>
              <a:p>
                <a:pPr algn="l"/>
                <a:endParaRPr lang="en-US" altLang="zh-CN" sz="3200" dirty="0"/>
              </a:p>
              <a:p>
                <a:pPr algn="l"/>
                <a:endParaRPr lang="en-US" altLang="zh-CN" sz="3200" dirty="0"/>
              </a:p>
              <a:p>
                <a:pPr algn="l"/>
                <a:endParaRPr lang="en-US" altLang="zh-CN" sz="3200" dirty="0"/>
              </a:p>
              <a:p>
                <a:pPr algn="l"/>
                <a:endParaRPr lang="en-US" altLang="zh-CN" dirty="0"/>
              </a:p>
              <a:p>
                <a:pPr algn="l"/>
                <a:endParaRPr lang="en-US" altLang="zh-CN" dirty="0"/>
              </a:p>
              <a:p>
                <a:pPr algn="l"/>
                <a:endParaRPr lang="en-US" altLang="zh-CN" dirty="0"/>
              </a:p>
              <a:p>
                <a:pPr algn="l"/>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1022" y="1198881"/>
                <a:ext cx="11649915" cy="5610240"/>
              </a:xfrm>
              <a:blipFill>
                <a:blip r:embed="rId3"/>
                <a:stretch>
                  <a:fillRect l="-1047" t="-1196" r="-1518"/>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426679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1022" y="1198881"/>
                <a:ext cx="11945784" cy="5610240"/>
              </a:xfrm>
            </p:spPr>
            <p:txBody>
              <a:bodyPr>
                <a:normAutofit lnSpcReduction="10000"/>
              </a:bodyPr>
              <a:lstStyle/>
              <a:p>
                <a:pPr algn="l">
                  <a:lnSpc>
                    <a:spcPct val="100000"/>
                  </a:lnSpc>
                </a:pPr>
                <a:r>
                  <a:rPr lang="en-US" altLang="zh-CN" sz="2800" dirty="0">
                    <a:solidFill>
                      <a:srgbClr val="0070C0"/>
                    </a:solidFill>
                    <a:latin typeface="Arial Black" panose="020B0A04020102020204" pitchFamily="34" charset="0"/>
                  </a:rPr>
                  <a:t>Example 2.6 </a:t>
                </a:r>
              </a:p>
              <a:p>
                <a:pPr algn="l">
                  <a:lnSpc>
                    <a:spcPct val="100000"/>
                  </a:lnSpc>
                </a:pPr>
                <a:r>
                  <a:rPr lang="en-US" altLang="zh-CN" sz="2800" dirty="0"/>
                  <a:t>An urn contains </a:t>
                </a:r>
                <a14:m>
                  <m:oMath xmlns:m="http://schemas.openxmlformats.org/officeDocument/2006/math">
                    <m:r>
                      <a:rPr lang="en-US" altLang="zh-CN" sz="2800" i="1" dirty="0" smtClean="0">
                        <a:latin typeface="Cambria Math" panose="02040503050406030204" pitchFamily="18" charset="0"/>
                      </a:rPr>
                      <m:t>𝑛</m:t>
                    </m:r>
                  </m:oMath>
                </a14:m>
                <a:r>
                  <a:rPr lang="en-US" altLang="zh-CN" sz="2800" dirty="0"/>
                  <a:t> balls, one of which is special. If </a:t>
                </a:r>
                <a14:m>
                  <m:oMath xmlns:m="http://schemas.openxmlformats.org/officeDocument/2006/math">
                    <m:r>
                      <a:rPr lang="en-US" altLang="zh-CN" sz="2800" i="1" dirty="0" smtClean="0">
                        <a:latin typeface="Cambria Math" panose="02040503050406030204" pitchFamily="18" charset="0"/>
                      </a:rPr>
                      <m:t>𝑘</m:t>
                    </m:r>
                  </m:oMath>
                </a14:m>
                <a:r>
                  <a:rPr lang="en-US" altLang="zh-CN" sz="2800" dirty="0"/>
                  <a:t> of these balls are withdrawn one at a time, with each selection being equally likely to be any of the balls that remain at the time, what is the probability that the special ball is chosen?</a:t>
                </a:r>
              </a:p>
              <a:p>
                <a:pPr algn="l">
                  <a:lnSpc>
                    <a:spcPct val="100000"/>
                  </a:lnSpc>
                </a:pPr>
                <a14:m>
                  <m:oMath xmlns:m="http://schemas.openxmlformats.org/officeDocument/2006/math">
                    <m:r>
                      <a:rPr lang="en-US" altLang="zh-CN" sz="2800" i="1" dirty="0" smtClean="0">
                        <a:latin typeface="Cambria Math" panose="02040503050406030204" pitchFamily="18" charset="0"/>
                      </a:rPr>
                      <m:t>𝐴</m:t>
                    </m:r>
                    <m:r>
                      <a:rPr lang="en-US" altLang="zh-CN" sz="2800" b="0" i="1" dirty="0" smtClean="0">
                        <a:latin typeface="Cambria Math" panose="02040503050406030204" pitchFamily="18" charset="0"/>
                      </a:rPr>
                      <m:t>=</m:t>
                    </m:r>
                  </m:oMath>
                </a14:m>
                <a:r>
                  <a:rPr lang="en-US" altLang="zh-CN" sz="2800" dirty="0"/>
                  <a:t> {special ball is selected}, so</a:t>
                </a:r>
              </a:p>
              <a:p>
                <a:pPr algn="l">
                  <a:lnSpc>
                    <a:spcPct val="100000"/>
                  </a:lnSpc>
                </a:pPr>
                <a14:m>
                  <m:oMathPara xmlns:m="http://schemas.openxmlformats.org/officeDocument/2006/math">
                    <m:oMathParaPr>
                      <m:jc m:val="centerGroup"/>
                    </m:oMathParaPr>
                    <m:oMath xmlns:m="http://schemas.openxmlformats.org/officeDocument/2006/math">
                      <m:r>
                        <a:rPr lang="en-US" altLang="zh-CN" sz="2800" i="1">
                          <a:solidFill>
                            <a:prstClr val="black"/>
                          </a:solidFill>
                          <a:latin typeface="Cambria Math" panose="02040503050406030204" pitchFamily="18" charset="0"/>
                        </a:rPr>
                        <m:t>𝑃</m:t>
                      </m:r>
                      <m:d>
                        <m:dPr>
                          <m:ctrlPr>
                            <a:rPr lang="en-US" altLang="zh-CN" sz="2800" i="1">
                              <a:solidFill>
                                <a:prstClr val="black"/>
                              </a:solidFill>
                              <a:latin typeface="Cambria Math" panose="02040503050406030204" pitchFamily="18" charset="0"/>
                            </a:rPr>
                          </m:ctrlPr>
                        </m:dPr>
                        <m:e>
                          <m:r>
                            <a:rPr lang="en-US" altLang="zh-CN" sz="2800" i="1">
                              <a:solidFill>
                                <a:prstClr val="black"/>
                              </a:solidFill>
                              <a:latin typeface="Cambria Math" panose="02040503050406030204" pitchFamily="18" charset="0"/>
                            </a:rPr>
                            <m:t>𝐴</m:t>
                          </m:r>
                        </m:e>
                      </m:d>
                      <m:r>
                        <a:rPr lang="en-US" altLang="zh-CN" sz="2800" i="1">
                          <a:solidFill>
                            <a:prstClr val="black"/>
                          </a:solidFill>
                          <a:latin typeface="Cambria Math" panose="02040503050406030204" pitchFamily="18" charset="0"/>
                        </a:rPr>
                        <m:t>=</m:t>
                      </m:r>
                      <m:f>
                        <m:fPr>
                          <m:ctrlPr>
                            <a:rPr lang="en-US" altLang="zh-CN" sz="2800" i="1" dirty="0">
                              <a:solidFill>
                                <a:prstClr val="black"/>
                              </a:solidFill>
                              <a:latin typeface="Cambria Math" panose="02040503050406030204" pitchFamily="18" charset="0"/>
                            </a:rPr>
                          </m:ctrlPr>
                        </m:fPr>
                        <m:num>
                          <m:r>
                            <a:rPr lang="en-US" altLang="zh-CN" sz="2800" i="1">
                              <a:solidFill>
                                <a:prstClr val="black"/>
                              </a:solidFill>
                              <a:latin typeface="Cambria Math" panose="02040503050406030204" pitchFamily="18" charset="0"/>
                            </a:rPr>
                            <m:t>𝑁</m:t>
                          </m:r>
                          <m:d>
                            <m:dPr>
                              <m:ctrlPr>
                                <a:rPr lang="en-US" altLang="zh-CN" sz="2800" i="1">
                                  <a:solidFill>
                                    <a:prstClr val="black"/>
                                  </a:solidFill>
                                  <a:latin typeface="Cambria Math" panose="02040503050406030204" pitchFamily="18" charset="0"/>
                                </a:rPr>
                              </m:ctrlPr>
                            </m:dPr>
                            <m:e>
                              <m:r>
                                <a:rPr lang="en-US" altLang="zh-CN" sz="2800" i="1">
                                  <a:solidFill>
                                    <a:prstClr val="black"/>
                                  </a:solidFill>
                                  <a:latin typeface="Cambria Math" panose="02040503050406030204" pitchFamily="18" charset="0"/>
                                </a:rPr>
                                <m:t>𝐴</m:t>
                              </m:r>
                            </m:e>
                          </m:d>
                        </m:num>
                        <m:den>
                          <m:r>
                            <a:rPr lang="en-US" altLang="zh-CN" sz="2800" i="1" dirty="0">
                              <a:solidFill>
                                <a:prstClr val="black"/>
                              </a:solidFill>
                              <a:latin typeface="Cambria Math" panose="02040503050406030204" pitchFamily="18" charset="0"/>
                            </a:rPr>
                            <m:t>𝑁</m:t>
                          </m:r>
                        </m:den>
                      </m:f>
                      <m:r>
                        <a:rPr lang="en-US" altLang="zh-CN" sz="2800" b="0" i="1" dirty="0" smtClean="0">
                          <a:solidFill>
                            <a:prstClr val="black"/>
                          </a:solidFill>
                          <a:latin typeface="Cambria Math" panose="02040503050406030204" pitchFamily="18" charset="0"/>
                        </a:rPr>
                        <m:t>=</m:t>
                      </m:r>
                      <m:f>
                        <m:fPr>
                          <m:ctrlPr>
                            <a:rPr lang="en-US" altLang="zh-CN" sz="2800" b="0" i="1" dirty="0" smtClean="0">
                              <a:solidFill>
                                <a:prstClr val="black"/>
                              </a:solidFill>
                              <a:latin typeface="Cambria Math" panose="02040503050406030204" pitchFamily="18" charset="0"/>
                            </a:rPr>
                          </m:ctrlPr>
                        </m:fPr>
                        <m:num>
                          <m:d>
                            <m:dPr>
                              <m:ctrlPr>
                                <a:rPr lang="en-US" altLang="zh-CN" sz="2800" b="0" i="1" dirty="0" smtClean="0">
                                  <a:solidFill>
                                    <a:prstClr val="black"/>
                                  </a:solidFill>
                                  <a:latin typeface="Cambria Math" panose="02040503050406030204" pitchFamily="18" charset="0"/>
                                </a:rPr>
                              </m:ctrlPr>
                            </m:dPr>
                            <m:e>
                              <m:m>
                                <m:mPr>
                                  <m:mcs>
                                    <m:mc>
                                      <m:mcPr>
                                        <m:count m:val="1"/>
                                        <m:mcJc m:val="center"/>
                                      </m:mcPr>
                                    </m:mc>
                                  </m:mcs>
                                  <m:ctrlPr>
                                    <a:rPr lang="en-US" altLang="zh-CN" sz="2800" b="0" i="1" dirty="0" smtClean="0">
                                      <a:solidFill>
                                        <a:prstClr val="black"/>
                                      </a:solidFill>
                                      <a:latin typeface="Cambria Math" panose="02040503050406030204" pitchFamily="18" charset="0"/>
                                    </a:rPr>
                                  </m:ctrlPr>
                                </m:mPr>
                                <m:mr>
                                  <m:e>
                                    <m:r>
                                      <a:rPr lang="en-US" altLang="zh-CN" sz="2800" b="0" i="1" dirty="0" smtClean="0">
                                        <a:solidFill>
                                          <a:prstClr val="black"/>
                                        </a:solidFill>
                                        <a:latin typeface="Cambria Math" panose="02040503050406030204" pitchFamily="18" charset="0"/>
                                      </a:rPr>
                                      <m:t>1</m:t>
                                    </m:r>
                                  </m:e>
                                </m:mr>
                                <m:mr>
                                  <m:e>
                                    <m:r>
                                      <a:rPr lang="en-US" altLang="zh-CN" sz="2800" b="0" i="1" dirty="0" smtClean="0">
                                        <a:solidFill>
                                          <a:prstClr val="black"/>
                                        </a:solidFill>
                                        <a:latin typeface="Cambria Math" panose="02040503050406030204" pitchFamily="18" charset="0"/>
                                      </a:rPr>
                                      <m:t>1</m:t>
                                    </m:r>
                                  </m:e>
                                </m:mr>
                              </m:m>
                            </m:e>
                          </m:d>
                          <m:d>
                            <m:dPr>
                              <m:ctrlPr>
                                <a:rPr lang="en-US" altLang="zh-CN" sz="2800" b="0" i="1" dirty="0" smtClean="0">
                                  <a:solidFill>
                                    <a:prstClr val="black"/>
                                  </a:solidFill>
                                  <a:latin typeface="Cambria Math" panose="02040503050406030204" pitchFamily="18" charset="0"/>
                                </a:rPr>
                              </m:ctrlPr>
                            </m:dPr>
                            <m:e>
                              <m:m>
                                <m:mPr>
                                  <m:mcs>
                                    <m:mc>
                                      <m:mcPr>
                                        <m:count m:val="1"/>
                                        <m:mcJc m:val="center"/>
                                      </m:mcPr>
                                    </m:mc>
                                  </m:mcs>
                                  <m:ctrlPr>
                                    <a:rPr lang="en-US" altLang="zh-CN" sz="2800" b="0" i="1" dirty="0" smtClean="0">
                                      <a:solidFill>
                                        <a:prstClr val="black"/>
                                      </a:solidFill>
                                      <a:latin typeface="Cambria Math" panose="02040503050406030204" pitchFamily="18" charset="0"/>
                                    </a:rPr>
                                  </m:ctrlPr>
                                </m:mPr>
                                <m:mr>
                                  <m:e>
                                    <m:r>
                                      <a:rPr lang="en-US" altLang="zh-CN" sz="2800" b="0" i="1" dirty="0" smtClean="0">
                                        <a:solidFill>
                                          <a:prstClr val="black"/>
                                        </a:solidFill>
                                        <a:latin typeface="Cambria Math" panose="02040503050406030204" pitchFamily="18" charset="0"/>
                                      </a:rPr>
                                      <m:t>𝑛</m:t>
                                    </m:r>
                                    <m:r>
                                      <a:rPr lang="en-US" altLang="zh-CN" sz="2800" b="0" i="1" dirty="0" smtClean="0">
                                        <a:solidFill>
                                          <a:prstClr val="black"/>
                                        </a:solidFill>
                                        <a:latin typeface="Cambria Math" panose="02040503050406030204" pitchFamily="18" charset="0"/>
                                      </a:rPr>
                                      <m:t>−1</m:t>
                                    </m:r>
                                  </m:e>
                                </m:mr>
                                <m:mr>
                                  <m:e>
                                    <m:r>
                                      <a:rPr lang="en-US" altLang="zh-CN" sz="2800" b="0" i="1" dirty="0" smtClean="0">
                                        <a:solidFill>
                                          <a:prstClr val="black"/>
                                        </a:solidFill>
                                        <a:latin typeface="Cambria Math" panose="02040503050406030204" pitchFamily="18" charset="0"/>
                                      </a:rPr>
                                      <m:t>𝑘</m:t>
                                    </m:r>
                                    <m:r>
                                      <a:rPr lang="en-US" altLang="zh-CN" sz="2800" b="0" i="1" dirty="0" smtClean="0">
                                        <a:solidFill>
                                          <a:prstClr val="black"/>
                                        </a:solidFill>
                                        <a:latin typeface="Cambria Math" panose="02040503050406030204" pitchFamily="18" charset="0"/>
                                      </a:rPr>
                                      <m:t>−1</m:t>
                                    </m:r>
                                  </m:e>
                                </m:mr>
                              </m:m>
                            </m:e>
                          </m:d>
                        </m:num>
                        <m:den>
                          <m:d>
                            <m:dPr>
                              <m:ctrlPr>
                                <a:rPr lang="en-US" altLang="zh-CN" sz="2800" i="1" dirty="0">
                                  <a:solidFill>
                                    <a:prstClr val="black"/>
                                  </a:solidFill>
                                  <a:latin typeface="Cambria Math" panose="02040503050406030204" pitchFamily="18" charset="0"/>
                                </a:rPr>
                              </m:ctrlPr>
                            </m:dPr>
                            <m:e>
                              <m:m>
                                <m:mPr>
                                  <m:mcs>
                                    <m:mc>
                                      <m:mcPr>
                                        <m:count m:val="1"/>
                                        <m:mcJc m:val="center"/>
                                      </m:mcPr>
                                    </m:mc>
                                  </m:mcs>
                                  <m:ctrlPr>
                                    <a:rPr lang="en-US" altLang="zh-CN" sz="2800" i="1" dirty="0">
                                      <a:solidFill>
                                        <a:prstClr val="black"/>
                                      </a:solidFill>
                                      <a:latin typeface="Cambria Math" panose="02040503050406030204" pitchFamily="18" charset="0"/>
                                    </a:rPr>
                                  </m:ctrlPr>
                                </m:mPr>
                                <m:mr>
                                  <m:e>
                                    <m:r>
                                      <a:rPr lang="en-US" altLang="zh-CN" sz="2800" b="0" i="1" dirty="0" smtClean="0">
                                        <a:solidFill>
                                          <a:prstClr val="black"/>
                                        </a:solidFill>
                                        <a:latin typeface="Cambria Math" panose="02040503050406030204" pitchFamily="18" charset="0"/>
                                      </a:rPr>
                                      <m:t>𝑛</m:t>
                                    </m:r>
                                  </m:e>
                                </m:mr>
                                <m:mr>
                                  <m:e>
                                    <m:r>
                                      <a:rPr lang="en-US" altLang="zh-CN" sz="2800" b="0" i="1" dirty="0" smtClean="0">
                                        <a:solidFill>
                                          <a:prstClr val="black"/>
                                        </a:solidFill>
                                        <a:latin typeface="Cambria Math" panose="02040503050406030204" pitchFamily="18" charset="0"/>
                                      </a:rPr>
                                      <m:t>𝑘</m:t>
                                    </m:r>
                                  </m:e>
                                </m:mr>
                              </m:m>
                            </m:e>
                          </m:d>
                        </m:den>
                      </m:f>
                      <m:r>
                        <a:rPr lang="en-US" altLang="zh-CN" sz="2800" b="0" i="1" dirty="0" smtClean="0">
                          <a:solidFill>
                            <a:prstClr val="black"/>
                          </a:solidFill>
                          <a:latin typeface="Cambria Math" panose="02040503050406030204" pitchFamily="18" charset="0"/>
                        </a:rPr>
                        <m:t>=</m:t>
                      </m:r>
                      <m:f>
                        <m:fPr>
                          <m:ctrlPr>
                            <a:rPr lang="en-US" altLang="zh-CN" sz="2800" b="0" i="1" dirty="0" smtClean="0">
                              <a:solidFill>
                                <a:prstClr val="black"/>
                              </a:solidFill>
                              <a:latin typeface="Cambria Math" panose="02040503050406030204" pitchFamily="18" charset="0"/>
                            </a:rPr>
                          </m:ctrlPr>
                        </m:fPr>
                        <m:num>
                          <m:r>
                            <a:rPr lang="en-US" altLang="zh-CN" sz="2800" b="0" i="1" dirty="0" smtClean="0">
                              <a:solidFill>
                                <a:prstClr val="black"/>
                              </a:solidFill>
                              <a:latin typeface="Cambria Math" panose="02040503050406030204" pitchFamily="18" charset="0"/>
                            </a:rPr>
                            <m:t>𝑘</m:t>
                          </m:r>
                        </m:num>
                        <m:den>
                          <m:r>
                            <a:rPr lang="en-US" altLang="zh-CN" sz="2800" b="0" i="1" dirty="0" smtClean="0">
                              <a:solidFill>
                                <a:prstClr val="black"/>
                              </a:solidFill>
                              <a:latin typeface="Cambria Math" panose="02040503050406030204" pitchFamily="18" charset="0"/>
                            </a:rPr>
                            <m:t>𝑛</m:t>
                          </m:r>
                        </m:den>
                      </m:f>
                    </m:oMath>
                  </m:oMathPara>
                </a14:m>
                <a:endParaRPr lang="en-US" altLang="zh-CN" sz="2800" dirty="0"/>
              </a:p>
              <a:p>
                <a:pPr algn="l"/>
                <a:r>
                  <a:rPr lang="en-US" altLang="zh-CN" sz="2800" dirty="0"/>
                  <a:t>Let </a:t>
                </a:r>
                <a14:m>
                  <m:oMath xmlns:m="http://schemas.openxmlformats.org/officeDocument/2006/math">
                    <m:sSub>
                      <m:sSubPr>
                        <m:ctrlPr>
                          <a:rPr lang="en-US" altLang="zh-CN" sz="2800" b="0" i="1" dirty="0" smtClean="0">
                            <a:latin typeface="Cambria Math" panose="02040503050406030204" pitchFamily="18" charset="0"/>
                          </a:rPr>
                        </m:ctrlPr>
                      </m:sSubPr>
                      <m:e>
                        <m:r>
                          <a:rPr lang="en-US" altLang="zh-CN" sz="2800" i="1" dirty="0">
                            <a:latin typeface="Cambria Math" panose="02040503050406030204" pitchFamily="18" charset="0"/>
                          </a:rPr>
                          <m:t>𝐴</m:t>
                        </m:r>
                      </m:e>
                      <m:sub>
                        <m:r>
                          <a:rPr lang="en-US" altLang="zh-CN" sz="2800" b="0" i="1" dirty="0" smtClean="0">
                            <a:latin typeface="Cambria Math" panose="02040503050406030204" pitchFamily="18" charset="0"/>
                          </a:rPr>
                          <m:t>𝑖</m:t>
                        </m:r>
                      </m:sub>
                    </m:sSub>
                    <m:r>
                      <a:rPr lang="en-US" altLang="zh-CN" sz="2800" b="0" i="1" dirty="0" smtClean="0">
                        <a:latin typeface="Cambria Math" panose="02040503050406030204" pitchFamily="18" charset="0"/>
                      </a:rPr>
                      <m:t>={</m:t>
                    </m:r>
                    <m:r>
                      <m:rPr>
                        <m:nor/>
                      </m:rPr>
                      <a:rPr lang="en-US" altLang="zh-CN" sz="2800" dirty="0"/>
                      <m:t>the</m:t>
                    </m:r>
                    <m:r>
                      <m:rPr>
                        <m:nor/>
                      </m:rPr>
                      <a:rPr lang="en-US" altLang="zh-CN" sz="2800" dirty="0"/>
                      <m:t> </m:t>
                    </m:r>
                    <m:r>
                      <m:rPr>
                        <m:nor/>
                      </m:rPr>
                      <a:rPr lang="en-US" altLang="zh-CN" sz="2800" dirty="0"/>
                      <m:t>special</m:t>
                    </m:r>
                    <m:r>
                      <m:rPr>
                        <m:nor/>
                      </m:rPr>
                      <a:rPr lang="en-US" altLang="zh-CN" sz="2800" dirty="0"/>
                      <m:t> </m:t>
                    </m:r>
                    <m:r>
                      <m:rPr>
                        <m:nor/>
                      </m:rPr>
                      <a:rPr lang="en-US" altLang="zh-CN" sz="2800" dirty="0"/>
                      <m:t>ball</m:t>
                    </m:r>
                    <m:r>
                      <m:rPr>
                        <m:nor/>
                      </m:rPr>
                      <a:rPr lang="en-US" altLang="zh-CN" sz="2800" dirty="0"/>
                      <m:t> </m:t>
                    </m:r>
                    <m:r>
                      <m:rPr>
                        <m:nor/>
                      </m:rPr>
                      <a:rPr lang="en-US" altLang="zh-CN" sz="2800" dirty="0"/>
                      <m:t>is</m:t>
                    </m:r>
                    <m:r>
                      <m:rPr>
                        <m:nor/>
                      </m:rPr>
                      <a:rPr lang="en-US" altLang="zh-CN" sz="2800" dirty="0"/>
                      <m:t> </m:t>
                    </m:r>
                    <m:r>
                      <m:rPr>
                        <m:nor/>
                      </m:rPr>
                      <a:rPr lang="en-US" altLang="zh-CN" sz="2800" dirty="0"/>
                      <m:t>the</m:t>
                    </m:r>
                    <m:r>
                      <m:rPr>
                        <m:nor/>
                      </m:rPr>
                      <a:rPr lang="en-US" altLang="zh-CN" sz="2800" dirty="0"/>
                      <m:t> </m:t>
                    </m:r>
                    <m:r>
                      <a:rPr lang="en-US" altLang="zh-CN" sz="2800" i="1" dirty="0">
                        <a:latin typeface="Cambria Math" panose="02040503050406030204" pitchFamily="18" charset="0"/>
                      </a:rPr>
                      <m:t>𝑖</m:t>
                    </m:r>
                    <m:r>
                      <m:rPr>
                        <m:nor/>
                      </m:rPr>
                      <a:rPr lang="en-US" altLang="zh-CN" sz="2800" dirty="0" err="1"/>
                      <m:t>th</m:t>
                    </m:r>
                    <m:r>
                      <m:rPr>
                        <m:nor/>
                      </m:rPr>
                      <a:rPr lang="en-US" altLang="zh-CN" sz="2800" dirty="0"/>
                      <m:t> </m:t>
                    </m:r>
                    <m:r>
                      <m:rPr>
                        <m:nor/>
                      </m:rPr>
                      <a:rPr lang="en-US" altLang="zh-CN" sz="2800" dirty="0"/>
                      <m:t>ball</m:t>
                    </m:r>
                    <m:r>
                      <m:rPr>
                        <m:nor/>
                      </m:rPr>
                      <a:rPr lang="en-US" altLang="zh-CN" sz="2800" dirty="0"/>
                      <m:t> </m:t>
                    </m:r>
                    <m:r>
                      <m:rPr>
                        <m:nor/>
                      </m:rPr>
                      <a:rPr lang="en-US" altLang="zh-CN" sz="2800" dirty="0"/>
                      <m:t>to</m:t>
                    </m:r>
                    <m:r>
                      <m:rPr>
                        <m:nor/>
                      </m:rPr>
                      <a:rPr lang="en-US" altLang="zh-CN" sz="2800" dirty="0"/>
                      <m:t> </m:t>
                    </m:r>
                    <m:r>
                      <m:rPr>
                        <m:nor/>
                      </m:rPr>
                      <a:rPr lang="en-US" altLang="zh-CN" sz="2800" dirty="0"/>
                      <m:t>be</m:t>
                    </m:r>
                    <m:r>
                      <m:rPr>
                        <m:nor/>
                      </m:rPr>
                      <a:rPr lang="en-US" altLang="zh-CN" sz="2800" dirty="0"/>
                      <m:t> </m:t>
                    </m:r>
                    <m:r>
                      <m:rPr>
                        <m:nor/>
                      </m:rPr>
                      <a:rPr lang="en-US" altLang="zh-CN" sz="2800" dirty="0"/>
                      <m:t>chosen</m:t>
                    </m:r>
                    <m:r>
                      <a:rPr lang="en-US" altLang="zh-CN" sz="2800" b="0" i="1" dirty="0" smtClean="0">
                        <a:latin typeface="Cambria Math" panose="02040503050406030204" pitchFamily="18" charset="0"/>
                      </a:rPr>
                      <m:t>}</m:t>
                    </m:r>
                  </m:oMath>
                </a14:m>
                <a:r>
                  <a:rPr lang="en-US" altLang="zh-CN" sz="2800" dirty="0"/>
                  <a:t>, </a:t>
                </a:r>
                <a14:m>
                  <m:oMath xmlns:m="http://schemas.openxmlformats.org/officeDocument/2006/math">
                    <m:r>
                      <a:rPr lang="en-US" altLang="zh-CN" sz="2800" i="1" dirty="0" smtClean="0">
                        <a:latin typeface="Cambria Math" panose="02040503050406030204" pitchFamily="18" charset="0"/>
                      </a:rPr>
                      <m:t>𝑖</m:t>
                    </m:r>
                    <m:r>
                      <a:rPr lang="en-US" altLang="zh-CN" sz="2800" i="1" dirty="0">
                        <a:latin typeface="Cambria Math" panose="02040503050406030204" pitchFamily="18" charset="0"/>
                      </a:rPr>
                      <m:t>=1, …, </m:t>
                    </m:r>
                    <m:r>
                      <a:rPr lang="en-US" altLang="zh-CN" sz="2800" i="1" dirty="0">
                        <a:latin typeface="Cambria Math" panose="02040503050406030204" pitchFamily="18" charset="0"/>
                      </a:rPr>
                      <m:t>𝑘</m:t>
                    </m:r>
                    <m:r>
                      <a:rPr lang="en-US" altLang="zh-CN" sz="2800" i="1" dirty="0">
                        <a:latin typeface="Cambria Math" panose="02040503050406030204" pitchFamily="18" charset="0"/>
                      </a:rPr>
                      <m:t>.</m:t>
                    </m:r>
                  </m:oMath>
                </a14:m>
                <a:r>
                  <a:rPr lang="en-US" altLang="zh-CN" sz="2800" dirty="0"/>
                  <a:t>     </a:t>
                </a:r>
                <a14:m>
                  <m:oMath xmlns:m="http://schemas.openxmlformats.org/officeDocument/2006/math">
                    <m:r>
                      <a:rPr lang="en-US" altLang="zh-CN" sz="2800" i="1" dirty="0">
                        <a:solidFill>
                          <a:prstClr val="black"/>
                        </a:solidFill>
                        <a:latin typeface="Cambria Math" panose="02040503050406030204" pitchFamily="18" charset="0"/>
                      </a:rPr>
                      <m:t>𝑃</m:t>
                    </m:r>
                    <m:d>
                      <m:dPr>
                        <m:ctrlPr>
                          <a:rPr lang="en-US" altLang="zh-CN" sz="2800" i="1" dirty="0">
                            <a:solidFill>
                              <a:prstClr val="black"/>
                            </a:solidFill>
                            <a:latin typeface="Cambria Math" panose="02040503050406030204" pitchFamily="18" charset="0"/>
                          </a:rPr>
                        </m:ctrlPr>
                      </m:dPr>
                      <m:e>
                        <m:sSub>
                          <m:sSubPr>
                            <m:ctrlPr>
                              <a:rPr lang="en-US" altLang="zh-CN" sz="2800" i="1" dirty="0">
                                <a:solidFill>
                                  <a:prstClr val="black"/>
                                </a:solidFill>
                                <a:latin typeface="Cambria Math" panose="02040503050406030204" pitchFamily="18" charset="0"/>
                              </a:rPr>
                            </m:ctrlPr>
                          </m:sSubPr>
                          <m:e>
                            <m:r>
                              <a:rPr lang="en-US" altLang="zh-CN" sz="2800" i="1" dirty="0">
                                <a:solidFill>
                                  <a:prstClr val="black"/>
                                </a:solidFill>
                                <a:latin typeface="Cambria Math" panose="02040503050406030204" pitchFamily="18" charset="0"/>
                              </a:rPr>
                              <m:t>𝐴</m:t>
                            </m:r>
                          </m:e>
                          <m:sub>
                            <m:r>
                              <a:rPr lang="en-US" altLang="zh-CN" sz="2800" i="1" dirty="0">
                                <a:solidFill>
                                  <a:prstClr val="black"/>
                                </a:solidFill>
                                <a:latin typeface="Cambria Math" panose="02040503050406030204" pitchFamily="18" charset="0"/>
                              </a:rPr>
                              <m:t>𝑖</m:t>
                            </m:r>
                          </m:sub>
                        </m:sSub>
                      </m:e>
                    </m:d>
                    <m:r>
                      <a:rPr lang="en-US" altLang="zh-CN" sz="2800" b="0" i="1" dirty="0" smtClean="0">
                        <a:solidFill>
                          <a:prstClr val="black"/>
                        </a:solidFill>
                        <a:latin typeface="Cambria Math" panose="02040503050406030204" pitchFamily="18" charset="0"/>
                      </a:rPr>
                      <m:t>=</m:t>
                    </m:r>
                    <m:f>
                      <m:fPr>
                        <m:ctrlPr>
                          <a:rPr lang="en-US" altLang="zh-CN" sz="2800" b="0" i="1" dirty="0" smtClean="0">
                            <a:solidFill>
                              <a:prstClr val="black"/>
                            </a:solidFill>
                            <a:latin typeface="Cambria Math" panose="02040503050406030204" pitchFamily="18" charset="0"/>
                          </a:rPr>
                        </m:ctrlPr>
                      </m:fPr>
                      <m:num>
                        <m:r>
                          <a:rPr lang="en-US" altLang="zh-CN" sz="2800" b="0" i="1" dirty="0" smtClean="0">
                            <a:solidFill>
                              <a:prstClr val="black"/>
                            </a:solidFill>
                            <a:latin typeface="Cambria Math" panose="02040503050406030204" pitchFamily="18" charset="0"/>
                          </a:rPr>
                          <m:t>1</m:t>
                        </m:r>
                      </m:num>
                      <m:den>
                        <m:r>
                          <a:rPr lang="en-US" altLang="zh-CN" sz="2800" b="0" i="1" dirty="0" smtClean="0">
                            <a:solidFill>
                              <a:prstClr val="black"/>
                            </a:solidFill>
                            <a:latin typeface="Cambria Math" panose="02040503050406030204" pitchFamily="18" charset="0"/>
                          </a:rPr>
                          <m:t>𝑛</m:t>
                        </m:r>
                      </m:den>
                    </m:f>
                  </m:oMath>
                </a14:m>
                <a:endParaRPr lang="en-US" altLang="zh-CN" sz="2800" dirty="0"/>
              </a:p>
              <a:p>
                <a:pPr algn="l"/>
                <a14:m>
                  <m:oMathPara xmlns:m="http://schemas.openxmlformats.org/officeDocument/2006/math">
                    <m:oMathParaPr>
                      <m:jc m:val="centerGroup"/>
                    </m:oMathParaPr>
                    <m:oMath xmlns:m="http://schemas.openxmlformats.org/officeDocument/2006/math">
                      <m:r>
                        <a:rPr lang="en-US" altLang="zh-CN" sz="2800" i="1">
                          <a:solidFill>
                            <a:prstClr val="black"/>
                          </a:solidFill>
                          <a:latin typeface="Cambria Math" panose="02040503050406030204" pitchFamily="18" charset="0"/>
                        </a:rPr>
                        <m:t>𝑃</m:t>
                      </m:r>
                      <m:d>
                        <m:dPr>
                          <m:ctrlPr>
                            <a:rPr lang="en-US" altLang="zh-CN" sz="2800" i="1">
                              <a:solidFill>
                                <a:prstClr val="black"/>
                              </a:solidFill>
                              <a:latin typeface="Cambria Math" panose="02040503050406030204" pitchFamily="18" charset="0"/>
                            </a:rPr>
                          </m:ctrlPr>
                        </m:dPr>
                        <m:e>
                          <m:r>
                            <a:rPr lang="en-US" altLang="zh-CN" sz="2800" i="1">
                              <a:solidFill>
                                <a:prstClr val="black"/>
                              </a:solidFill>
                              <a:latin typeface="Cambria Math" panose="02040503050406030204" pitchFamily="18" charset="0"/>
                            </a:rPr>
                            <m:t>𝐴</m:t>
                          </m:r>
                        </m:e>
                      </m:d>
                      <m:r>
                        <a:rPr lang="en-US" altLang="zh-CN" sz="2800" i="1">
                          <a:solidFill>
                            <a:prstClr val="black"/>
                          </a:solidFill>
                          <a:latin typeface="Cambria Math" panose="02040503050406030204" pitchFamily="18" charset="0"/>
                        </a:rPr>
                        <m:t>=</m:t>
                      </m:r>
                      <m:r>
                        <a:rPr lang="en-US" altLang="zh-CN" sz="2800" b="0" i="1" smtClean="0">
                          <a:solidFill>
                            <a:prstClr val="black"/>
                          </a:solidFill>
                          <a:latin typeface="Cambria Math" panose="02040503050406030204" pitchFamily="18" charset="0"/>
                        </a:rPr>
                        <m:t>𝑃</m:t>
                      </m:r>
                      <m:d>
                        <m:dPr>
                          <m:ctrlPr>
                            <a:rPr lang="en-US" altLang="zh-CN" sz="2800" b="0" i="1" smtClean="0">
                              <a:solidFill>
                                <a:prstClr val="black"/>
                              </a:solidFill>
                              <a:latin typeface="Cambria Math" panose="02040503050406030204" pitchFamily="18" charset="0"/>
                            </a:rPr>
                          </m:ctrlPr>
                        </m:dPr>
                        <m:e>
                          <m:nary>
                            <m:naryPr>
                              <m:chr m:val="⋃"/>
                              <m:ctrlPr>
                                <a:rPr lang="en-US" altLang="zh-CN" sz="2800" i="1" dirty="0">
                                  <a:latin typeface="Cambria Math" panose="02040503050406030204" pitchFamily="18" charset="0"/>
                                </a:rPr>
                              </m:ctrlPr>
                            </m:naryPr>
                            <m:sub>
                              <m:r>
                                <m:rPr>
                                  <m:brk m:alnAt="23"/>
                                </m:rPr>
                                <a:rPr lang="en-US" altLang="zh-CN" sz="2800" i="1" dirty="0">
                                  <a:latin typeface="Cambria Math" panose="02040503050406030204" pitchFamily="18" charset="0"/>
                                </a:rPr>
                                <m:t>𝑖</m:t>
                              </m:r>
                              <m:r>
                                <a:rPr lang="en-US" altLang="zh-CN" sz="2800" i="1" dirty="0">
                                  <a:latin typeface="Cambria Math" panose="02040503050406030204" pitchFamily="18" charset="0"/>
                                </a:rPr>
                                <m:t>=1</m:t>
                              </m:r>
                            </m:sub>
                            <m:sup>
                              <m:r>
                                <a:rPr lang="en-US" altLang="zh-CN" sz="2800" i="1" dirty="0">
                                  <a:latin typeface="Cambria Math" panose="02040503050406030204" pitchFamily="18" charset="0"/>
                                </a:rPr>
                                <m:t>𝑘</m:t>
                              </m:r>
                            </m:sup>
                            <m:e>
                              <m:sSub>
                                <m:sSubPr>
                                  <m:ctrlPr>
                                    <a:rPr lang="en-US" altLang="zh-CN" sz="2800" i="1" dirty="0">
                                      <a:latin typeface="Cambria Math" panose="02040503050406030204" pitchFamily="18" charset="0"/>
                                    </a:rPr>
                                  </m:ctrlPr>
                                </m:sSubPr>
                                <m:e>
                                  <m:r>
                                    <a:rPr lang="en-US" altLang="zh-CN" sz="2800" i="1" dirty="0">
                                      <a:latin typeface="Cambria Math" panose="02040503050406030204" pitchFamily="18" charset="0"/>
                                    </a:rPr>
                                    <m:t>𝐴</m:t>
                                  </m:r>
                                </m:e>
                                <m:sub>
                                  <m:r>
                                    <a:rPr lang="en-US" altLang="zh-CN" sz="2800" i="1" dirty="0">
                                      <a:latin typeface="Cambria Math" panose="02040503050406030204" pitchFamily="18" charset="0"/>
                                    </a:rPr>
                                    <m:t>𝑖</m:t>
                                  </m:r>
                                </m:sub>
                              </m:sSub>
                            </m:e>
                          </m:nary>
                        </m:e>
                      </m:d>
                      <m:r>
                        <a:rPr lang="en-US" altLang="zh-CN" sz="2800" i="1" dirty="0">
                          <a:solidFill>
                            <a:prstClr val="black"/>
                          </a:solidFill>
                          <a:latin typeface="Cambria Math" panose="02040503050406030204" pitchFamily="18" charset="0"/>
                        </a:rPr>
                        <m:t>=</m:t>
                      </m:r>
                      <m:nary>
                        <m:naryPr>
                          <m:chr m:val="∑"/>
                          <m:ctrlPr>
                            <a:rPr lang="en-US" altLang="zh-CN" sz="2800" i="1" dirty="0" smtClean="0">
                              <a:solidFill>
                                <a:prstClr val="black"/>
                              </a:solidFill>
                              <a:latin typeface="Cambria Math" panose="02040503050406030204" pitchFamily="18" charset="0"/>
                            </a:rPr>
                          </m:ctrlPr>
                        </m:naryPr>
                        <m:sub>
                          <m:r>
                            <m:rPr>
                              <m:brk m:alnAt="23"/>
                            </m:rPr>
                            <a:rPr lang="en-US" altLang="zh-CN" sz="2800" b="0" i="1" dirty="0" smtClean="0">
                              <a:solidFill>
                                <a:prstClr val="black"/>
                              </a:solidFill>
                              <a:latin typeface="Cambria Math" panose="02040503050406030204" pitchFamily="18" charset="0"/>
                            </a:rPr>
                            <m:t>𝑖</m:t>
                          </m:r>
                          <m:r>
                            <a:rPr lang="en-US" altLang="zh-CN" sz="2800" b="0" i="1" dirty="0" smtClean="0">
                              <a:solidFill>
                                <a:prstClr val="black"/>
                              </a:solidFill>
                              <a:latin typeface="Cambria Math" panose="02040503050406030204" pitchFamily="18" charset="0"/>
                            </a:rPr>
                            <m:t>=1</m:t>
                          </m:r>
                        </m:sub>
                        <m:sup>
                          <m:r>
                            <a:rPr lang="en-US" altLang="zh-CN" sz="2800" b="0" i="1" dirty="0" smtClean="0">
                              <a:solidFill>
                                <a:prstClr val="black"/>
                              </a:solidFill>
                              <a:latin typeface="Cambria Math" panose="02040503050406030204" pitchFamily="18" charset="0"/>
                            </a:rPr>
                            <m:t>𝑘</m:t>
                          </m:r>
                        </m:sup>
                        <m:e>
                          <m:r>
                            <a:rPr lang="en-US" altLang="zh-CN" sz="2800" b="0" i="1" dirty="0" smtClean="0">
                              <a:solidFill>
                                <a:prstClr val="black"/>
                              </a:solidFill>
                              <a:latin typeface="Cambria Math" panose="02040503050406030204" pitchFamily="18" charset="0"/>
                            </a:rPr>
                            <m:t>𝑃</m:t>
                          </m:r>
                          <m:r>
                            <a:rPr lang="en-US" altLang="zh-CN" sz="2800" b="0" i="1" dirty="0" smtClean="0">
                              <a:solidFill>
                                <a:prstClr val="black"/>
                              </a:solidFill>
                              <a:latin typeface="Cambria Math" panose="02040503050406030204" pitchFamily="18" charset="0"/>
                            </a:rPr>
                            <m:t>(</m:t>
                          </m:r>
                          <m:sSub>
                            <m:sSubPr>
                              <m:ctrlPr>
                                <a:rPr lang="en-US" altLang="zh-CN" sz="2800" b="0" i="1" dirty="0" smtClean="0">
                                  <a:solidFill>
                                    <a:prstClr val="black"/>
                                  </a:solidFill>
                                  <a:latin typeface="Cambria Math" panose="02040503050406030204" pitchFamily="18" charset="0"/>
                                </a:rPr>
                              </m:ctrlPr>
                            </m:sSubPr>
                            <m:e>
                              <m:r>
                                <a:rPr lang="en-US" altLang="zh-CN" sz="2800" b="0" i="1" dirty="0" smtClean="0">
                                  <a:solidFill>
                                    <a:prstClr val="black"/>
                                  </a:solidFill>
                                  <a:latin typeface="Cambria Math" panose="02040503050406030204" pitchFamily="18" charset="0"/>
                                </a:rPr>
                                <m:t>𝐴</m:t>
                              </m:r>
                            </m:e>
                            <m:sub>
                              <m:r>
                                <a:rPr lang="en-US" altLang="zh-CN" sz="2800" b="0" i="1" dirty="0" smtClean="0">
                                  <a:solidFill>
                                    <a:prstClr val="black"/>
                                  </a:solidFill>
                                  <a:latin typeface="Cambria Math" panose="02040503050406030204" pitchFamily="18" charset="0"/>
                                </a:rPr>
                                <m:t>𝑖</m:t>
                              </m:r>
                            </m:sub>
                          </m:sSub>
                          <m:r>
                            <a:rPr lang="en-US" altLang="zh-CN" sz="2800" b="0" i="1" dirty="0" smtClean="0">
                              <a:solidFill>
                                <a:prstClr val="black"/>
                              </a:solidFill>
                              <a:latin typeface="Cambria Math" panose="02040503050406030204" pitchFamily="18" charset="0"/>
                            </a:rPr>
                            <m:t>)</m:t>
                          </m:r>
                        </m:e>
                      </m:nary>
                      <m:r>
                        <a:rPr lang="en-US" altLang="zh-CN" sz="2800" i="1" dirty="0">
                          <a:solidFill>
                            <a:prstClr val="black"/>
                          </a:solidFill>
                          <a:latin typeface="Cambria Math" panose="02040503050406030204" pitchFamily="18" charset="0"/>
                        </a:rPr>
                        <m:t>=</m:t>
                      </m:r>
                      <m:f>
                        <m:fPr>
                          <m:ctrlPr>
                            <a:rPr lang="en-US" altLang="zh-CN" sz="2800" i="1" dirty="0">
                              <a:solidFill>
                                <a:prstClr val="black"/>
                              </a:solidFill>
                              <a:latin typeface="Cambria Math" panose="02040503050406030204" pitchFamily="18" charset="0"/>
                            </a:rPr>
                          </m:ctrlPr>
                        </m:fPr>
                        <m:num>
                          <m:r>
                            <a:rPr lang="en-US" altLang="zh-CN" sz="2800" i="1" dirty="0">
                              <a:solidFill>
                                <a:prstClr val="black"/>
                              </a:solidFill>
                              <a:latin typeface="Cambria Math" panose="02040503050406030204" pitchFamily="18" charset="0"/>
                            </a:rPr>
                            <m:t>𝑘</m:t>
                          </m:r>
                        </m:num>
                        <m:den>
                          <m:r>
                            <a:rPr lang="en-US" altLang="zh-CN" sz="2800" i="1" dirty="0">
                              <a:solidFill>
                                <a:prstClr val="black"/>
                              </a:solidFill>
                              <a:latin typeface="Cambria Math" panose="02040503050406030204" pitchFamily="18" charset="0"/>
                            </a:rPr>
                            <m:t>𝑛</m:t>
                          </m:r>
                        </m:den>
                      </m:f>
                    </m:oMath>
                  </m:oMathPara>
                </a14:m>
                <a:endParaRPr lang="en-US" altLang="zh-CN" sz="2800" dirty="0"/>
              </a:p>
              <a:p>
                <a:pPr algn="l"/>
                <a:endParaRPr lang="en-US" altLang="zh-CN" sz="3200" dirty="0"/>
              </a:p>
              <a:p>
                <a:pPr algn="l"/>
                <a:endParaRPr lang="en-US" altLang="zh-CN" dirty="0"/>
              </a:p>
              <a:p>
                <a:pPr algn="l"/>
                <a:endParaRPr lang="en-US" altLang="zh-CN" dirty="0"/>
              </a:p>
              <a:p>
                <a:pPr algn="l"/>
                <a:endParaRPr lang="en-US" altLang="zh-CN" dirty="0"/>
              </a:p>
              <a:p>
                <a:pPr algn="l"/>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1022" y="1198881"/>
                <a:ext cx="11945784" cy="5610240"/>
              </a:xfrm>
              <a:blipFill>
                <a:blip r:embed="rId3"/>
                <a:stretch>
                  <a:fillRect l="-1020" t="-1957"/>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115921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1022" y="1198881"/>
                <a:ext cx="11945784" cy="5543825"/>
              </a:xfrm>
            </p:spPr>
            <p:txBody>
              <a:bodyPr>
                <a:normAutofit fontScale="92500"/>
              </a:bodyPr>
              <a:lstStyle/>
              <a:p>
                <a:pPr algn="l">
                  <a:lnSpc>
                    <a:spcPct val="100000"/>
                  </a:lnSpc>
                </a:pPr>
                <a:r>
                  <a:rPr lang="en-US" altLang="zh-CN" sz="3000" dirty="0">
                    <a:solidFill>
                      <a:srgbClr val="0070C0"/>
                    </a:solidFill>
                    <a:latin typeface="Arial Black" panose="020B0A04020102020204" pitchFamily="34" charset="0"/>
                  </a:rPr>
                  <a:t>Example 2.7 </a:t>
                </a:r>
              </a:p>
              <a:p>
                <a:pPr algn="l">
                  <a:lnSpc>
                    <a:spcPct val="100000"/>
                  </a:lnSpc>
                </a:pPr>
                <a:r>
                  <a:rPr lang="en-US" altLang="zh-CN" sz="3000" dirty="0"/>
                  <a:t>Suppose that each of </a:t>
                </a:r>
                <a14:m>
                  <m:oMath xmlns:m="http://schemas.openxmlformats.org/officeDocument/2006/math">
                    <m:r>
                      <a:rPr lang="en-US" altLang="zh-CN" sz="3000" i="1" dirty="0" smtClean="0">
                        <a:latin typeface="Cambria Math" panose="02040503050406030204" pitchFamily="18" charset="0"/>
                      </a:rPr>
                      <m:t>𝑁</m:t>
                    </m:r>
                  </m:oMath>
                </a14:m>
                <a:r>
                  <a:rPr lang="en-US" altLang="zh-CN" sz="3000" dirty="0"/>
                  <a:t> men at a party throws his hat into the center of the room. The hats are first mixed up, and then each man randomly selects a hat. What is the probability that none of the men selects his own hat? </a:t>
                </a:r>
              </a:p>
              <a:p>
                <a:pPr algn="l">
                  <a:lnSpc>
                    <a:spcPct val="100000"/>
                  </a:lnSpc>
                </a:pPr>
                <a:r>
                  <a:rPr lang="en-US" altLang="zh-CN" sz="3000" b="1" dirty="0"/>
                  <a:t>Solution</a:t>
                </a:r>
                <a:r>
                  <a:rPr lang="zh-CN" altLang="en-US" sz="3000" b="1" dirty="0"/>
                  <a:t>：</a:t>
                </a:r>
                <a:r>
                  <a:rPr lang="en-US" altLang="zh-CN" sz="3000" dirty="0"/>
                  <a:t> We first calculate the complementary probability of at least one man selecting his own hat. Let us denote by </a:t>
                </a:r>
                <a14:m>
                  <m:oMath xmlns:m="http://schemas.openxmlformats.org/officeDocument/2006/math">
                    <m:sSub>
                      <m:sSubPr>
                        <m:ctrlPr>
                          <a:rPr lang="en-US" altLang="zh-CN" sz="3000" b="0" i="1" dirty="0" smtClean="0">
                            <a:latin typeface="Cambria Math" panose="02040503050406030204" pitchFamily="18" charset="0"/>
                          </a:rPr>
                        </m:ctrlPr>
                      </m:sSubPr>
                      <m:e>
                        <m:r>
                          <a:rPr lang="en-US" altLang="zh-CN" sz="3000" i="1" dirty="0" smtClean="0">
                            <a:latin typeface="Cambria Math" panose="02040503050406030204" pitchFamily="18" charset="0"/>
                          </a:rPr>
                          <m:t>𝐸</m:t>
                        </m:r>
                      </m:e>
                      <m:sub>
                        <m:r>
                          <a:rPr lang="en-US" altLang="zh-CN" sz="3000" i="1" dirty="0" smtClean="0">
                            <a:latin typeface="Cambria Math" panose="02040503050406030204" pitchFamily="18" charset="0"/>
                          </a:rPr>
                          <m:t>𝑖</m:t>
                        </m:r>
                      </m:sub>
                    </m:sSub>
                    <m:r>
                      <a:rPr lang="en-US" altLang="zh-CN" sz="3000" i="1" dirty="0">
                        <a:latin typeface="Cambria Math" panose="02040503050406030204" pitchFamily="18" charset="0"/>
                      </a:rPr>
                      <m:t>, </m:t>
                    </m:r>
                    <m:r>
                      <a:rPr lang="en-US" altLang="zh-CN" sz="3000" i="1" dirty="0" err="1">
                        <a:latin typeface="Cambria Math" panose="02040503050406030204" pitchFamily="18" charset="0"/>
                      </a:rPr>
                      <m:t>𝑖</m:t>
                    </m:r>
                    <m:r>
                      <a:rPr lang="en-US" altLang="zh-CN" sz="3000" i="1" dirty="0">
                        <a:latin typeface="Cambria Math" panose="02040503050406030204" pitchFamily="18" charset="0"/>
                      </a:rPr>
                      <m:t>=1, 2, …, </m:t>
                    </m:r>
                    <m:r>
                      <a:rPr lang="en-US" altLang="zh-CN" sz="3000" i="1" dirty="0">
                        <a:latin typeface="Cambria Math" panose="02040503050406030204" pitchFamily="18" charset="0"/>
                      </a:rPr>
                      <m:t>𝑁</m:t>
                    </m:r>
                    <m:r>
                      <a:rPr lang="en-US" altLang="zh-CN" sz="3000" i="1" dirty="0">
                        <a:latin typeface="Cambria Math" panose="02040503050406030204" pitchFamily="18" charset="0"/>
                      </a:rPr>
                      <m:t> </m:t>
                    </m:r>
                  </m:oMath>
                </a14:m>
                <a:r>
                  <a:rPr lang="en-US" altLang="zh-CN" sz="3000" dirty="0"/>
                  <a:t>the event that the </a:t>
                </a:r>
                <a14:m>
                  <m:oMath xmlns:m="http://schemas.openxmlformats.org/officeDocument/2006/math">
                    <m:r>
                      <a:rPr lang="en-US" altLang="zh-CN" sz="3000" i="1" dirty="0" smtClean="0">
                        <a:latin typeface="Cambria Math" panose="02040503050406030204" pitchFamily="18" charset="0"/>
                      </a:rPr>
                      <m:t>𝑖</m:t>
                    </m:r>
                  </m:oMath>
                </a14:m>
                <a:r>
                  <a:rPr lang="en-US" altLang="zh-CN" sz="3000" dirty="0" err="1"/>
                  <a:t>th</a:t>
                </a:r>
                <a:r>
                  <a:rPr lang="en-US" altLang="zh-CN" sz="3000" dirty="0"/>
                  <a:t> man selects his own hat. Now the probability that at least one of the men selects his own hat is given by</a:t>
                </a:r>
              </a:p>
              <a:p>
                <a:pPr/>
                <a14:m>
                  <m:oMathPara xmlns:m="http://schemas.openxmlformats.org/officeDocument/2006/math">
                    <m:oMathParaPr>
                      <m:jc m:val="centerGroup"/>
                    </m:oMathParaPr>
                    <m:oMath xmlns:m="http://schemas.openxmlformats.org/officeDocument/2006/math">
                      <m:r>
                        <a:rPr lang="en-US" altLang="zh-CN" sz="2800" i="1" dirty="0">
                          <a:solidFill>
                            <a:prstClr val="black"/>
                          </a:solidFill>
                          <a:latin typeface="Cambria Math" panose="02040503050406030204" pitchFamily="18" charset="0"/>
                        </a:rPr>
                        <m:t>𝑃</m:t>
                      </m:r>
                      <m:d>
                        <m:dPr>
                          <m:ctrlPr>
                            <a:rPr lang="en-US" altLang="zh-CN" sz="2800" i="1" dirty="0">
                              <a:solidFill>
                                <a:prstClr val="black"/>
                              </a:solidFill>
                              <a:latin typeface="Cambria Math" panose="02040503050406030204" pitchFamily="18" charset="0"/>
                            </a:rPr>
                          </m:ctrlPr>
                        </m:dPr>
                        <m:e>
                          <m:nary>
                            <m:naryPr>
                              <m:chr m:val="⋃"/>
                              <m:ctrlPr>
                                <a:rPr lang="en-US" altLang="zh-CN" sz="2800" i="1" dirty="0">
                                  <a:solidFill>
                                    <a:prstClr val="black"/>
                                  </a:solidFill>
                                  <a:latin typeface="Cambria Math" panose="02040503050406030204" pitchFamily="18" charset="0"/>
                                </a:rPr>
                              </m:ctrlPr>
                            </m:naryPr>
                            <m:sub>
                              <m:r>
                                <m:rPr>
                                  <m:brk m:alnAt="23"/>
                                </m:rPr>
                                <a:rPr lang="en-US" altLang="zh-CN" sz="2800" i="1" dirty="0">
                                  <a:solidFill>
                                    <a:prstClr val="black"/>
                                  </a:solidFill>
                                  <a:latin typeface="Cambria Math" panose="02040503050406030204" pitchFamily="18" charset="0"/>
                                </a:rPr>
                                <m:t>𝑖</m:t>
                              </m:r>
                              <m:r>
                                <a:rPr lang="en-US" altLang="zh-CN" sz="2800" i="1" dirty="0">
                                  <a:solidFill>
                                    <a:prstClr val="black"/>
                                  </a:solidFill>
                                  <a:latin typeface="Cambria Math" panose="02040503050406030204" pitchFamily="18" charset="0"/>
                                </a:rPr>
                                <m:t>=1</m:t>
                              </m:r>
                            </m:sub>
                            <m:sup>
                              <m:r>
                                <a:rPr lang="en-US" altLang="zh-CN" sz="2800" b="0" i="1" dirty="0" smtClean="0">
                                  <a:solidFill>
                                    <a:prstClr val="black"/>
                                  </a:solidFill>
                                  <a:latin typeface="Cambria Math" panose="02040503050406030204" pitchFamily="18" charset="0"/>
                                </a:rPr>
                                <m:t>𝑁</m:t>
                              </m:r>
                            </m:sup>
                            <m:e>
                              <m:sSub>
                                <m:sSubPr>
                                  <m:ctrlPr>
                                    <a:rPr lang="en-US" altLang="zh-CN" sz="2800" i="1" dirty="0">
                                      <a:solidFill>
                                        <a:prstClr val="black"/>
                                      </a:solidFill>
                                      <a:latin typeface="Cambria Math" panose="02040503050406030204" pitchFamily="18" charset="0"/>
                                    </a:rPr>
                                  </m:ctrlPr>
                                </m:sSubPr>
                                <m:e>
                                  <m:r>
                                    <a:rPr lang="en-US" altLang="zh-CN" sz="2800" b="0" i="1" dirty="0" smtClean="0">
                                      <a:solidFill>
                                        <a:prstClr val="black"/>
                                      </a:solidFill>
                                      <a:latin typeface="Cambria Math" panose="02040503050406030204" pitchFamily="18" charset="0"/>
                                    </a:rPr>
                                    <m:t>𝐸</m:t>
                                  </m:r>
                                </m:e>
                                <m:sub>
                                  <m:r>
                                    <a:rPr lang="en-US" altLang="zh-CN" sz="2800" i="1" dirty="0">
                                      <a:solidFill>
                                        <a:prstClr val="black"/>
                                      </a:solidFill>
                                      <a:latin typeface="Cambria Math" panose="02040503050406030204" pitchFamily="18" charset="0"/>
                                    </a:rPr>
                                    <m:t>𝑖</m:t>
                                  </m:r>
                                </m:sub>
                              </m:sSub>
                            </m:e>
                          </m:nary>
                        </m:e>
                      </m:d>
                      <m:r>
                        <a:rPr lang="en-US" altLang="zh-CN" sz="2800" b="0" i="1" dirty="0" smtClean="0">
                          <a:solidFill>
                            <a:prstClr val="black"/>
                          </a:solidFill>
                          <a:latin typeface="Cambria Math" panose="02040503050406030204" pitchFamily="18" charset="0"/>
                        </a:rPr>
                        <m:t>=</m:t>
                      </m:r>
                      <m:nary>
                        <m:naryPr>
                          <m:chr m:val="∑"/>
                          <m:ctrlPr>
                            <a:rPr lang="en-US" altLang="zh-CN" sz="2800" i="1" dirty="0">
                              <a:solidFill>
                                <a:prstClr val="black"/>
                              </a:solidFill>
                              <a:latin typeface="Cambria Math" panose="02040503050406030204" pitchFamily="18" charset="0"/>
                            </a:rPr>
                          </m:ctrlPr>
                        </m:naryPr>
                        <m:sub>
                          <m:r>
                            <m:rPr>
                              <m:brk m:alnAt="23"/>
                            </m:rPr>
                            <a:rPr lang="en-US" altLang="zh-CN" sz="2800" i="1" dirty="0">
                              <a:solidFill>
                                <a:prstClr val="black"/>
                              </a:solidFill>
                              <a:latin typeface="Cambria Math" panose="02040503050406030204" pitchFamily="18" charset="0"/>
                            </a:rPr>
                            <m:t>𝑖</m:t>
                          </m:r>
                          <m:r>
                            <a:rPr lang="en-US" altLang="zh-CN" sz="2800" i="1" dirty="0">
                              <a:solidFill>
                                <a:prstClr val="black"/>
                              </a:solidFill>
                              <a:latin typeface="Cambria Math" panose="02040503050406030204" pitchFamily="18" charset="0"/>
                            </a:rPr>
                            <m:t>=1</m:t>
                          </m:r>
                        </m:sub>
                        <m:sup>
                          <m:r>
                            <a:rPr lang="en-US" altLang="zh-CN" sz="2800" b="0" i="1" dirty="0" smtClean="0">
                              <a:solidFill>
                                <a:prstClr val="black"/>
                              </a:solidFill>
                              <a:latin typeface="Cambria Math" panose="02040503050406030204" pitchFamily="18" charset="0"/>
                            </a:rPr>
                            <m:t>𝑁</m:t>
                          </m:r>
                        </m:sup>
                        <m:e>
                          <m:r>
                            <a:rPr lang="en-US" altLang="zh-CN" sz="2800" i="1" dirty="0">
                              <a:solidFill>
                                <a:prstClr val="black"/>
                              </a:solidFill>
                              <a:latin typeface="Cambria Math" panose="02040503050406030204" pitchFamily="18" charset="0"/>
                            </a:rPr>
                            <m:t>𝑃</m:t>
                          </m:r>
                          <m:d>
                            <m:dPr>
                              <m:ctrlPr>
                                <a:rPr lang="en-US" altLang="zh-CN" sz="2800" i="1" dirty="0">
                                  <a:solidFill>
                                    <a:prstClr val="black"/>
                                  </a:solidFill>
                                  <a:latin typeface="Cambria Math" panose="02040503050406030204" pitchFamily="18" charset="0"/>
                                </a:rPr>
                              </m:ctrlPr>
                            </m:dPr>
                            <m:e>
                              <m:sSub>
                                <m:sSubPr>
                                  <m:ctrlPr>
                                    <a:rPr lang="en-US" altLang="zh-CN" sz="2800" i="1" dirty="0">
                                      <a:solidFill>
                                        <a:prstClr val="black"/>
                                      </a:solidFill>
                                      <a:latin typeface="Cambria Math" panose="02040503050406030204" pitchFamily="18" charset="0"/>
                                    </a:rPr>
                                  </m:ctrlPr>
                                </m:sSubPr>
                                <m:e>
                                  <m:r>
                                    <a:rPr lang="en-US" altLang="zh-CN" sz="2800" b="0" i="1" dirty="0" smtClean="0">
                                      <a:solidFill>
                                        <a:prstClr val="black"/>
                                      </a:solidFill>
                                      <a:latin typeface="Cambria Math" panose="02040503050406030204" pitchFamily="18" charset="0"/>
                                    </a:rPr>
                                    <m:t>𝐸</m:t>
                                  </m:r>
                                </m:e>
                                <m:sub>
                                  <m:r>
                                    <a:rPr lang="en-US" altLang="zh-CN" sz="2800" i="1" dirty="0">
                                      <a:solidFill>
                                        <a:prstClr val="black"/>
                                      </a:solidFill>
                                      <a:latin typeface="Cambria Math" panose="02040503050406030204" pitchFamily="18" charset="0"/>
                                    </a:rPr>
                                    <m:t>𝑖</m:t>
                                  </m:r>
                                </m:sub>
                              </m:sSub>
                            </m:e>
                          </m:d>
                        </m:e>
                      </m:nary>
                      <m:r>
                        <a:rPr lang="en-US" altLang="zh-CN" sz="2800" i="1" dirty="0">
                          <a:solidFill>
                            <a:prstClr val="black"/>
                          </a:solidFill>
                          <a:latin typeface="Cambria Math" panose="02040503050406030204" pitchFamily="18" charset="0"/>
                        </a:rPr>
                        <m:t>−</m:t>
                      </m:r>
                      <m:nary>
                        <m:naryPr>
                          <m:chr m:val="∑"/>
                          <m:supHide m:val="on"/>
                          <m:ctrlPr>
                            <a:rPr lang="en-US" altLang="zh-CN" sz="2800" i="1" dirty="0">
                              <a:solidFill>
                                <a:prstClr val="black"/>
                              </a:solidFill>
                              <a:latin typeface="Cambria Math" panose="02040503050406030204" pitchFamily="18" charset="0"/>
                            </a:rPr>
                          </m:ctrlPr>
                        </m:naryPr>
                        <m:sub>
                          <m:sSub>
                            <m:sSubPr>
                              <m:ctrlPr>
                                <a:rPr lang="en-US" altLang="zh-CN" sz="2800" i="1" dirty="0">
                                  <a:solidFill>
                                    <a:prstClr val="black"/>
                                  </a:solidFill>
                                  <a:latin typeface="Cambria Math" panose="02040503050406030204" pitchFamily="18" charset="0"/>
                                </a:rPr>
                              </m:ctrlPr>
                            </m:sSubPr>
                            <m:e>
                              <m:r>
                                <m:rPr>
                                  <m:brk m:alnAt="7"/>
                                </m:rPr>
                                <a:rPr lang="en-US" altLang="zh-CN" sz="2800" i="1" dirty="0">
                                  <a:solidFill>
                                    <a:prstClr val="black"/>
                                  </a:solidFill>
                                  <a:latin typeface="Cambria Math" panose="02040503050406030204" pitchFamily="18" charset="0"/>
                                </a:rPr>
                                <m:t>𝑖</m:t>
                              </m:r>
                            </m:e>
                            <m:sub>
                              <m:r>
                                <m:rPr>
                                  <m:brk m:alnAt="7"/>
                                </m:rPr>
                                <a:rPr lang="en-US" altLang="zh-CN" sz="2800" i="1" dirty="0">
                                  <a:solidFill>
                                    <a:prstClr val="black"/>
                                  </a:solidFill>
                                  <a:latin typeface="Cambria Math" panose="02040503050406030204" pitchFamily="18" charset="0"/>
                                </a:rPr>
                                <m:t>1</m:t>
                              </m:r>
                            </m:sub>
                          </m:sSub>
                          <m:r>
                            <m:rPr>
                              <m:brk m:alnAt="7"/>
                            </m:rPr>
                            <a:rPr lang="en-US" altLang="zh-CN" sz="2800" i="1" dirty="0">
                              <a:solidFill>
                                <a:prstClr val="black"/>
                              </a:solidFill>
                              <a:latin typeface="Cambria Math" panose="02040503050406030204" pitchFamily="18" charset="0"/>
                              <a:ea typeface="Cambria Math" panose="02040503050406030204" pitchFamily="18" charset="0"/>
                            </a:rPr>
                            <m:t>&lt;</m:t>
                          </m:r>
                          <m:sSub>
                            <m:sSubPr>
                              <m:ctrlPr>
                                <a:rPr lang="en-US" altLang="zh-CN" sz="2800" i="1" dirty="0">
                                  <a:solidFill>
                                    <a:prstClr val="black"/>
                                  </a:solidFill>
                                  <a:latin typeface="Cambria Math" panose="02040503050406030204" pitchFamily="18" charset="0"/>
                                  <a:ea typeface="Cambria Math" panose="02040503050406030204" pitchFamily="18" charset="0"/>
                                </a:rPr>
                              </m:ctrlPr>
                            </m:sSubPr>
                            <m:e>
                              <m:r>
                                <m:rPr>
                                  <m:brk m:alnAt="7"/>
                                </m:rPr>
                                <a:rPr lang="en-US" altLang="zh-CN" sz="2800" i="1" dirty="0">
                                  <a:solidFill>
                                    <a:prstClr val="black"/>
                                  </a:solidFill>
                                  <a:latin typeface="Cambria Math" panose="02040503050406030204" pitchFamily="18" charset="0"/>
                                  <a:ea typeface="Cambria Math" panose="02040503050406030204" pitchFamily="18" charset="0"/>
                                </a:rPr>
                                <m:t>𝑖</m:t>
                              </m:r>
                            </m:e>
                            <m:sub>
                              <m:r>
                                <m:rPr>
                                  <m:brk m:alnAt="7"/>
                                </m:rPr>
                                <a:rPr lang="en-US" altLang="zh-CN" sz="2800" i="1" dirty="0">
                                  <a:solidFill>
                                    <a:prstClr val="black"/>
                                  </a:solidFill>
                                  <a:latin typeface="Cambria Math" panose="02040503050406030204" pitchFamily="18" charset="0"/>
                                  <a:ea typeface="Cambria Math" panose="02040503050406030204" pitchFamily="18" charset="0"/>
                                </a:rPr>
                                <m:t>2</m:t>
                              </m:r>
                            </m:sub>
                          </m:sSub>
                        </m:sub>
                        <m:sup/>
                        <m:e>
                          <m:r>
                            <a:rPr lang="en-US" altLang="zh-CN" sz="2800" i="1" dirty="0">
                              <a:solidFill>
                                <a:prstClr val="black"/>
                              </a:solidFill>
                              <a:latin typeface="Cambria Math" panose="02040503050406030204" pitchFamily="18" charset="0"/>
                            </a:rPr>
                            <m:t>𝑃</m:t>
                          </m:r>
                          <m:d>
                            <m:dPr>
                              <m:ctrlPr>
                                <a:rPr lang="en-US" altLang="zh-CN" sz="2800" i="1" dirty="0">
                                  <a:solidFill>
                                    <a:prstClr val="black"/>
                                  </a:solidFill>
                                  <a:latin typeface="Cambria Math" panose="02040503050406030204" pitchFamily="18" charset="0"/>
                                </a:rPr>
                              </m:ctrlPr>
                            </m:dPr>
                            <m:e>
                              <m:sSub>
                                <m:sSubPr>
                                  <m:ctrlPr>
                                    <a:rPr lang="en-US" altLang="zh-CN" sz="2800" i="1" dirty="0">
                                      <a:solidFill>
                                        <a:prstClr val="black"/>
                                      </a:solidFill>
                                      <a:latin typeface="Cambria Math" panose="02040503050406030204" pitchFamily="18" charset="0"/>
                                    </a:rPr>
                                  </m:ctrlPr>
                                </m:sSubPr>
                                <m:e>
                                  <m:r>
                                    <a:rPr lang="en-US" altLang="zh-CN" sz="2800" b="0" i="1" dirty="0" smtClean="0">
                                      <a:solidFill>
                                        <a:prstClr val="black"/>
                                      </a:solidFill>
                                      <a:latin typeface="Cambria Math" panose="02040503050406030204" pitchFamily="18" charset="0"/>
                                    </a:rPr>
                                    <m:t>𝐸</m:t>
                                  </m:r>
                                </m:e>
                                <m:sub>
                                  <m:sSub>
                                    <m:sSubPr>
                                      <m:ctrlPr>
                                        <a:rPr lang="en-US" altLang="zh-CN" sz="2800" i="1" dirty="0">
                                          <a:solidFill>
                                            <a:prstClr val="black"/>
                                          </a:solidFill>
                                          <a:latin typeface="Cambria Math" panose="02040503050406030204" pitchFamily="18" charset="0"/>
                                        </a:rPr>
                                      </m:ctrlPr>
                                    </m:sSubPr>
                                    <m:e>
                                      <m:r>
                                        <a:rPr lang="en-US" altLang="zh-CN" sz="2800" i="1" dirty="0">
                                          <a:solidFill>
                                            <a:prstClr val="black"/>
                                          </a:solidFill>
                                          <a:latin typeface="Cambria Math" panose="02040503050406030204" pitchFamily="18" charset="0"/>
                                        </a:rPr>
                                        <m:t>𝑖</m:t>
                                      </m:r>
                                    </m:e>
                                    <m:sub>
                                      <m:r>
                                        <a:rPr lang="en-US" altLang="zh-CN" sz="2800" i="1" dirty="0">
                                          <a:solidFill>
                                            <a:prstClr val="black"/>
                                          </a:solidFill>
                                          <a:latin typeface="Cambria Math" panose="02040503050406030204" pitchFamily="18" charset="0"/>
                                        </a:rPr>
                                        <m:t>1</m:t>
                                      </m:r>
                                    </m:sub>
                                  </m:sSub>
                                </m:sub>
                              </m:sSub>
                              <m:sSub>
                                <m:sSubPr>
                                  <m:ctrlPr>
                                    <a:rPr lang="en-US" altLang="zh-CN" sz="2800" i="1" dirty="0">
                                      <a:solidFill>
                                        <a:prstClr val="black"/>
                                      </a:solidFill>
                                      <a:latin typeface="Cambria Math" panose="02040503050406030204" pitchFamily="18" charset="0"/>
                                    </a:rPr>
                                  </m:ctrlPr>
                                </m:sSubPr>
                                <m:e>
                                  <m:r>
                                    <a:rPr lang="en-US" altLang="zh-CN" sz="2800" b="0" i="1" dirty="0" smtClean="0">
                                      <a:solidFill>
                                        <a:prstClr val="black"/>
                                      </a:solidFill>
                                      <a:latin typeface="Cambria Math" panose="02040503050406030204" pitchFamily="18" charset="0"/>
                                    </a:rPr>
                                    <m:t>𝐸</m:t>
                                  </m:r>
                                </m:e>
                                <m:sub>
                                  <m:sSub>
                                    <m:sSubPr>
                                      <m:ctrlPr>
                                        <a:rPr lang="en-US" altLang="zh-CN" sz="2800" i="1" dirty="0">
                                          <a:solidFill>
                                            <a:prstClr val="black"/>
                                          </a:solidFill>
                                          <a:latin typeface="Cambria Math" panose="02040503050406030204" pitchFamily="18" charset="0"/>
                                        </a:rPr>
                                      </m:ctrlPr>
                                    </m:sSubPr>
                                    <m:e>
                                      <m:r>
                                        <a:rPr lang="en-US" altLang="zh-CN" sz="2800" i="1" dirty="0">
                                          <a:solidFill>
                                            <a:prstClr val="black"/>
                                          </a:solidFill>
                                          <a:latin typeface="Cambria Math" panose="02040503050406030204" pitchFamily="18" charset="0"/>
                                        </a:rPr>
                                        <m:t>𝑖</m:t>
                                      </m:r>
                                    </m:e>
                                    <m:sub>
                                      <m:r>
                                        <a:rPr lang="en-US" altLang="zh-CN" sz="2800" i="1" dirty="0">
                                          <a:solidFill>
                                            <a:prstClr val="black"/>
                                          </a:solidFill>
                                          <a:latin typeface="Cambria Math" panose="02040503050406030204" pitchFamily="18" charset="0"/>
                                        </a:rPr>
                                        <m:t>2</m:t>
                                      </m:r>
                                    </m:sub>
                                  </m:sSub>
                                </m:sub>
                              </m:sSub>
                            </m:e>
                          </m:d>
                        </m:e>
                      </m:nary>
                      <m:r>
                        <a:rPr lang="en-US" altLang="zh-CN" sz="2800" i="1" dirty="0">
                          <a:solidFill>
                            <a:prstClr val="black"/>
                          </a:solidFill>
                          <a:latin typeface="Cambria Math" panose="02040503050406030204" pitchFamily="18" charset="0"/>
                        </a:rPr>
                        <m:t> +</m:t>
                      </m:r>
                      <m:r>
                        <a:rPr lang="en-US" altLang="zh-CN" sz="2800" i="1" dirty="0">
                          <a:solidFill>
                            <a:prstClr val="black"/>
                          </a:solidFill>
                          <a:latin typeface="Cambria Math" panose="02040503050406030204" pitchFamily="18" charset="0"/>
                          <a:ea typeface="Cambria Math" panose="02040503050406030204" pitchFamily="18" charset="0"/>
                        </a:rPr>
                        <m:t>⋯+</m:t>
                      </m:r>
                      <m:sSup>
                        <m:sSupPr>
                          <m:ctrlPr>
                            <a:rPr lang="en-US" altLang="zh-CN" sz="2800" i="1" dirty="0">
                              <a:solidFill>
                                <a:prstClr val="black"/>
                              </a:solidFill>
                              <a:latin typeface="Cambria Math" panose="02040503050406030204" pitchFamily="18" charset="0"/>
                              <a:ea typeface="Cambria Math" panose="02040503050406030204" pitchFamily="18" charset="0"/>
                            </a:rPr>
                          </m:ctrlPr>
                        </m:sSupPr>
                        <m:e>
                          <m:d>
                            <m:dPr>
                              <m:ctrlPr>
                                <a:rPr lang="en-US" altLang="zh-CN" sz="2800" i="1" dirty="0">
                                  <a:solidFill>
                                    <a:prstClr val="black"/>
                                  </a:solidFill>
                                  <a:latin typeface="Cambria Math" panose="02040503050406030204" pitchFamily="18" charset="0"/>
                                  <a:ea typeface="Cambria Math" panose="02040503050406030204" pitchFamily="18" charset="0"/>
                                </a:rPr>
                              </m:ctrlPr>
                            </m:dPr>
                            <m:e>
                              <m:r>
                                <a:rPr lang="en-US" altLang="zh-CN" sz="2800" i="1" dirty="0">
                                  <a:solidFill>
                                    <a:prstClr val="black"/>
                                  </a:solidFill>
                                  <a:latin typeface="Cambria Math" panose="02040503050406030204" pitchFamily="18" charset="0"/>
                                  <a:ea typeface="Cambria Math" panose="02040503050406030204" pitchFamily="18" charset="0"/>
                                </a:rPr>
                                <m:t>−1</m:t>
                              </m:r>
                            </m:e>
                          </m:d>
                        </m:e>
                        <m:sup>
                          <m:r>
                            <a:rPr lang="en-US" altLang="zh-CN" sz="2800" i="1" dirty="0">
                              <a:solidFill>
                                <a:prstClr val="black"/>
                              </a:solidFill>
                              <a:latin typeface="Cambria Math" panose="02040503050406030204" pitchFamily="18" charset="0"/>
                              <a:ea typeface="Cambria Math" panose="02040503050406030204" pitchFamily="18" charset="0"/>
                            </a:rPr>
                            <m:t>𝑟</m:t>
                          </m:r>
                          <m:r>
                            <a:rPr lang="en-US" altLang="zh-CN" sz="2800" i="1" dirty="0">
                              <a:solidFill>
                                <a:prstClr val="black"/>
                              </a:solidFill>
                              <a:latin typeface="Cambria Math" panose="02040503050406030204" pitchFamily="18" charset="0"/>
                              <a:ea typeface="Cambria Math" panose="02040503050406030204" pitchFamily="18" charset="0"/>
                            </a:rPr>
                            <m:t>+1</m:t>
                          </m:r>
                        </m:sup>
                      </m:sSup>
                      <m:nary>
                        <m:naryPr>
                          <m:chr m:val="∑"/>
                          <m:supHide m:val="on"/>
                          <m:ctrlPr>
                            <a:rPr lang="en-US" altLang="zh-CN" sz="2800" i="1" dirty="0">
                              <a:solidFill>
                                <a:prstClr val="black"/>
                              </a:solidFill>
                              <a:latin typeface="Cambria Math" panose="02040503050406030204" pitchFamily="18" charset="0"/>
                            </a:rPr>
                          </m:ctrlPr>
                        </m:naryPr>
                        <m:sub>
                          <m:sSub>
                            <m:sSubPr>
                              <m:ctrlPr>
                                <a:rPr lang="en-US" altLang="zh-CN" sz="2800" i="1" dirty="0">
                                  <a:solidFill>
                                    <a:prstClr val="black"/>
                                  </a:solidFill>
                                  <a:latin typeface="Cambria Math" panose="02040503050406030204" pitchFamily="18" charset="0"/>
                                </a:rPr>
                              </m:ctrlPr>
                            </m:sSubPr>
                            <m:e>
                              <m:r>
                                <m:rPr>
                                  <m:brk m:alnAt="7"/>
                                </m:rPr>
                                <a:rPr lang="en-US" altLang="zh-CN" sz="2800" i="1" dirty="0">
                                  <a:solidFill>
                                    <a:prstClr val="black"/>
                                  </a:solidFill>
                                  <a:latin typeface="Cambria Math" panose="02040503050406030204" pitchFamily="18" charset="0"/>
                                </a:rPr>
                                <m:t>𝑖</m:t>
                              </m:r>
                            </m:e>
                            <m:sub>
                              <m:r>
                                <m:rPr>
                                  <m:brk m:alnAt="7"/>
                                </m:rPr>
                                <a:rPr lang="en-US" altLang="zh-CN" sz="2800" i="1" dirty="0">
                                  <a:solidFill>
                                    <a:prstClr val="black"/>
                                  </a:solidFill>
                                  <a:latin typeface="Cambria Math" panose="02040503050406030204" pitchFamily="18" charset="0"/>
                                </a:rPr>
                                <m:t>1</m:t>
                              </m:r>
                            </m:sub>
                          </m:sSub>
                          <m:r>
                            <m:rPr>
                              <m:brk m:alnAt="7"/>
                            </m:rPr>
                            <a:rPr lang="en-US" altLang="zh-CN" sz="2800" i="1" dirty="0">
                              <a:solidFill>
                                <a:prstClr val="black"/>
                              </a:solidFill>
                              <a:latin typeface="Cambria Math" panose="02040503050406030204" pitchFamily="18" charset="0"/>
                              <a:ea typeface="Cambria Math" panose="02040503050406030204" pitchFamily="18" charset="0"/>
                            </a:rPr>
                            <m:t>&lt;</m:t>
                          </m:r>
                          <m:sSub>
                            <m:sSubPr>
                              <m:ctrlPr>
                                <a:rPr lang="en-US" altLang="zh-CN" sz="2800" i="1" dirty="0">
                                  <a:solidFill>
                                    <a:prstClr val="black"/>
                                  </a:solidFill>
                                  <a:latin typeface="Cambria Math" panose="02040503050406030204" pitchFamily="18" charset="0"/>
                                  <a:ea typeface="Cambria Math" panose="02040503050406030204" pitchFamily="18" charset="0"/>
                                </a:rPr>
                              </m:ctrlPr>
                            </m:sSubPr>
                            <m:e>
                              <m:r>
                                <m:rPr>
                                  <m:brk m:alnAt="7"/>
                                </m:rPr>
                                <a:rPr lang="en-US" altLang="zh-CN" sz="2800" i="1" dirty="0">
                                  <a:solidFill>
                                    <a:prstClr val="black"/>
                                  </a:solidFill>
                                  <a:latin typeface="Cambria Math" panose="02040503050406030204" pitchFamily="18" charset="0"/>
                                  <a:ea typeface="Cambria Math" panose="02040503050406030204" pitchFamily="18" charset="0"/>
                                </a:rPr>
                                <m:t>𝑖</m:t>
                              </m:r>
                            </m:e>
                            <m:sub>
                              <m:r>
                                <m:rPr>
                                  <m:brk m:alnAt="7"/>
                                </m:rPr>
                                <a:rPr lang="en-US" altLang="zh-CN" sz="2800" i="1" dirty="0">
                                  <a:solidFill>
                                    <a:prstClr val="black"/>
                                  </a:solidFill>
                                  <a:latin typeface="Cambria Math" panose="02040503050406030204" pitchFamily="18" charset="0"/>
                                  <a:ea typeface="Cambria Math" panose="02040503050406030204" pitchFamily="18" charset="0"/>
                                </a:rPr>
                                <m:t>2</m:t>
                              </m:r>
                            </m:sub>
                          </m:sSub>
                          <m:r>
                            <a:rPr lang="en-US" altLang="zh-CN" sz="2800" i="1" dirty="0">
                              <a:solidFill>
                                <a:prstClr val="black"/>
                              </a:solidFill>
                              <a:latin typeface="Cambria Math" panose="02040503050406030204" pitchFamily="18" charset="0"/>
                              <a:ea typeface="Cambria Math" panose="02040503050406030204" pitchFamily="18" charset="0"/>
                            </a:rPr>
                            <m:t>&lt;⋯&lt;</m:t>
                          </m:r>
                          <m:sSub>
                            <m:sSubPr>
                              <m:ctrlPr>
                                <a:rPr lang="en-US" altLang="zh-CN" sz="2800" i="1" dirty="0">
                                  <a:solidFill>
                                    <a:prstClr val="black"/>
                                  </a:solidFill>
                                  <a:latin typeface="Cambria Math" panose="02040503050406030204" pitchFamily="18" charset="0"/>
                                  <a:ea typeface="Cambria Math" panose="02040503050406030204" pitchFamily="18" charset="0"/>
                                </a:rPr>
                              </m:ctrlPr>
                            </m:sSubPr>
                            <m:e>
                              <m:r>
                                <a:rPr lang="en-US" altLang="zh-CN" sz="2800" i="1" dirty="0">
                                  <a:solidFill>
                                    <a:prstClr val="black"/>
                                  </a:solidFill>
                                  <a:latin typeface="Cambria Math" panose="02040503050406030204" pitchFamily="18" charset="0"/>
                                  <a:ea typeface="Cambria Math" panose="02040503050406030204" pitchFamily="18" charset="0"/>
                                </a:rPr>
                                <m:t>𝑖</m:t>
                              </m:r>
                            </m:e>
                            <m:sub>
                              <m:r>
                                <a:rPr lang="en-US" altLang="zh-CN" sz="2800" i="1" dirty="0">
                                  <a:solidFill>
                                    <a:prstClr val="black"/>
                                  </a:solidFill>
                                  <a:latin typeface="Cambria Math" panose="02040503050406030204" pitchFamily="18" charset="0"/>
                                  <a:ea typeface="Cambria Math" panose="02040503050406030204" pitchFamily="18" charset="0"/>
                                </a:rPr>
                                <m:t>𝑟</m:t>
                              </m:r>
                            </m:sub>
                          </m:sSub>
                        </m:sub>
                        <m:sup/>
                        <m:e>
                          <m:r>
                            <a:rPr lang="en-US" altLang="zh-CN" sz="2800" i="1" dirty="0">
                              <a:solidFill>
                                <a:prstClr val="black"/>
                              </a:solidFill>
                              <a:latin typeface="Cambria Math" panose="02040503050406030204" pitchFamily="18" charset="0"/>
                            </a:rPr>
                            <m:t>𝑃</m:t>
                          </m:r>
                          <m:d>
                            <m:dPr>
                              <m:ctrlPr>
                                <a:rPr lang="en-US" altLang="zh-CN" sz="2800" i="1" dirty="0">
                                  <a:solidFill>
                                    <a:prstClr val="black"/>
                                  </a:solidFill>
                                  <a:latin typeface="Cambria Math" panose="02040503050406030204" pitchFamily="18" charset="0"/>
                                </a:rPr>
                              </m:ctrlPr>
                            </m:dPr>
                            <m:e>
                              <m:sSub>
                                <m:sSubPr>
                                  <m:ctrlPr>
                                    <a:rPr lang="en-US" altLang="zh-CN" sz="2800" i="1" dirty="0">
                                      <a:solidFill>
                                        <a:prstClr val="black"/>
                                      </a:solidFill>
                                      <a:latin typeface="Cambria Math" panose="02040503050406030204" pitchFamily="18" charset="0"/>
                                    </a:rPr>
                                  </m:ctrlPr>
                                </m:sSubPr>
                                <m:e>
                                  <m:r>
                                    <a:rPr lang="en-US" altLang="zh-CN" sz="2800" b="0" i="1" dirty="0" smtClean="0">
                                      <a:solidFill>
                                        <a:prstClr val="black"/>
                                      </a:solidFill>
                                      <a:latin typeface="Cambria Math" panose="02040503050406030204" pitchFamily="18" charset="0"/>
                                    </a:rPr>
                                    <m:t>𝐸</m:t>
                                  </m:r>
                                </m:e>
                                <m:sub>
                                  <m:sSub>
                                    <m:sSubPr>
                                      <m:ctrlPr>
                                        <a:rPr lang="en-US" altLang="zh-CN" sz="2800" i="1" dirty="0">
                                          <a:solidFill>
                                            <a:prstClr val="black"/>
                                          </a:solidFill>
                                          <a:latin typeface="Cambria Math" panose="02040503050406030204" pitchFamily="18" charset="0"/>
                                        </a:rPr>
                                      </m:ctrlPr>
                                    </m:sSubPr>
                                    <m:e>
                                      <m:r>
                                        <a:rPr lang="en-US" altLang="zh-CN" sz="2800" i="1" dirty="0">
                                          <a:solidFill>
                                            <a:prstClr val="black"/>
                                          </a:solidFill>
                                          <a:latin typeface="Cambria Math" panose="02040503050406030204" pitchFamily="18" charset="0"/>
                                        </a:rPr>
                                        <m:t>𝑖</m:t>
                                      </m:r>
                                    </m:e>
                                    <m:sub>
                                      <m:r>
                                        <a:rPr lang="en-US" altLang="zh-CN" sz="2800" i="1" dirty="0">
                                          <a:solidFill>
                                            <a:prstClr val="black"/>
                                          </a:solidFill>
                                          <a:latin typeface="Cambria Math" panose="02040503050406030204" pitchFamily="18" charset="0"/>
                                        </a:rPr>
                                        <m:t>1</m:t>
                                      </m:r>
                                    </m:sub>
                                  </m:sSub>
                                </m:sub>
                              </m:sSub>
                              <m:sSub>
                                <m:sSubPr>
                                  <m:ctrlPr>
                                    <a:rPr lang="en-US" altLang="zh-CN" sz="2800" i="1" dirty="0">
                                      <a:solidFill>
                                        <a:prstClr val="black"/>
                                      </a:solidFill>
                                      <a:latin typeface="Cambria Math" panose="02040503050406030204" pitchFamily="18" charset="0"/>
                                    </a:rPr>
                                  </m:ctrlPr>
                                </m:sSubPr>
                                <m:e>
                                  <m:r>
                                    <a:rPr lang="en-US" altLang="zh-CN" sz="2800" b="0" i="1" dirty="0" smtClean="0">
                                      <a:solidFill>
                                        <a:prstClr val="black"/>
                                      </a:solidFill>
                                      <a:latin typeface="Cambria Math" panose="02040503050406030204" pitchFamily="18" charset="0"/>
                                    </a:rPr>
                                    <m:t>𝐸</m:t>
                                  </m:r>
                                </m:e>
                                <m:sub>
                                  <m:sSub>
                                    <m:sSubPr>
                                      <m:ctrlPr>
                                        <a:rPr lang="en-US" altLang="zh-CN" sz="2800" i="1" dirty="0">
                                          <a:solidFill>
                                            <a:prstClr val="black"/>
                                          </a:solidFill>
                                          <a:latin typeface="Cambria Math" panose="02040503050406030204" pitchFamily="18" charset="0"/>
                                        </a:rPr>
                                      </m:ctrlPr>
                                    </m:sSubPr>
                                    <m:e>
                                      <m:r>
                                        <a:rPr lang="en-US" altLang="zh-CN" sz="2800" i="1" dirty="0">
                                          <a:solidFill>
                                            <a:prstClr val="black"/>
                                          </a:solidFill>
                                          <a:latin typeface="Cambria Math" panose="02040503050406030204" pitchFamily="18" charset="0"/>
                                        </a:rPr>
                                        <m:t>𝑖</m:t>
                                      </m:r>
                                    </m:e>
                                    <m:sub>
                                      <m:r>
                                        <a:rPr lang="en-US" altLang="zh-CN" sz="2800" i="1" dirty="0">
                                          <a:solidFill>
                                            <a:prstClr val="black"/>
                                          </a:solidFill>
                                          <a:latin typeface="Cambria Math" panose="02040503050406030204" pitchFamily="18" charset="0"/>
                                        </a:rPr>
                                        <m:t>2</m:t>
                                      </m:r>
                                    </m:sub>
                                  </m:sSub>
                                </m:sub>
                              </m:sSub>
                              <m:r>
                                <a:rPr lang="en-US" altLang="zh-CN" sz="2800" i="1" dirty="0">
                                  <a:solidFill>
                                    <a:prstClr val="black"/>
                                  </a:solidFill>
                                  <a:latin typeface="Cambria Math" panose="02040503050406030204" pitchFamily="18" charset="0"/>
                                  <a:ea typeface="Cambria Math" panose="02040503050406030204" pitchFamily="18" charset="0"/>
                                </a:rPr>
                                <m:t>⋯</m:t>
                              </m:r>
                              <m:sSub>
                                <m:sSubPr>
                                  <m:ctrlPr>
                                    <a:rPr lang="en-US" altLang="zh-CN" sz="2800" i="1" dirty="0">
                                      <a:solidFill>
                                        <a:prstClr val="black"/>
                                      </a:solidFill>
                                      <a:latin typeface="Cambria Math" panose="02040503050406030204" pitchFamily="18" charset="0"/>
                                    </a:rPr>
                                  </m:ctrlPr>
                                </m:sSubPr>
                                <m:e>
                                  <m:r>
                                    <a:rPr lang="en-US" altLang="zh-CN" sz="2800" b="0" i="1" dirty="0" smtClean="0">
                                      <a:solidFill>
                                        <a:prstClr val="black"/>
                                      </a:solidFill>
                                      <a:latin typeface="Cambria Math" panose="02040503050406030204" pitchFamily="18" charset="0"/>
                                    </a:rPr>
                                    <m:t>𝐸</m:t>
                                  </m:r>
                                </m:e>
                                <m:sub>
                                  <m:sSub>
                                    <m:sSubPr>
                                      <m:ctrlPr>
                                        <a:rPr lang="en-US" altLang="zh-CN" sz="2800" i="1" dirty="0">
                                          <a:solidFill>
                                            <a:prstClr val="black"/>
                                          </a:solidFill>
                                          <a:latin typeface="Cambria Math" panose="02040503050406030204" pitchFamily="18" charset="0"/>
                                        </a:rPr>
                                      </m:ctrlPr>
                                    </m:sSubPr>
                                    <m:e>
                                      <m:r>
                                        <a:rPr lang="en-US" altLang="zh-CN" sz="2800" i="1" dirty="0">
                                          <a:solidFill>
                                            <a:prstClr val="black"/>
                                          </a:solidFill>
                                          <a:latin typeface="Cambria Math" panose="02040503050406030204" pitchFamily="18" charset="0"/>
                                        </a:rPr>
                                        <m:t>𝑖</m:t>
                                      </m:r>
                                    </m:e>
                                    <m:sub>
                                      <m:r>
                                        <a:rPr lang="en-US" altLang="zh-CN" sz="2800" i="1" dirty="0">
                                          <a:solidFill>
                                            <a:prstClr val="black"/>
                                          </a:solidFill>
                                          <a:latin typeface="Cambria Math" panose="02040503050406030204" pitchFamily="18" charset="0"/>
                                        </a:rPr>
                                        <m:t>𝑟</m:t>
                                      </m:r>
                                    </m:sub>
                                  </m:sSub>
                                </m:sub>
                              </m:sSub>
                            </m:e>
                          </m:d>
                        </m:e>
                      </m:nary>
                    </m:oMath>
                  </m:oMathPara>
                </a14:m>
                <a:endParaRPr lang="en-US" altLang="zh-CN" sz="2800" i="1" dirty="0">
                  <a:solidFill>
                    <a:prstClr val="black"/>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800" i="1" dirty="0">
                          <a:solidFill>
                            <a:prstClr val="black"/>
                          </a:solidFill>
                          <a:latin typeface="Cambria Math" panose="02040503050406030204" pitchFamily="18" charset="0"/>
                        </a:rPr>
                        <m:t>+</m:t>
                      </m:r>
                      <m:r>
                        <a:rPr lang="en-US" altLang="zh-CN" sz="2800" i="1" dirty="0">
                          <a:solidFill>
                            <a:prstClr val="black"/>
                          </a:solidFill>
                          <a:latin typeface="Cambria Math" panose="02040503050406030204" pitchFamily="18" charset="0"/>
                          <a:ea typeface="Cambria Math" panose="02040503050406030204" pitchFamily="18" charset="0"/>
                        </a:rPr>
                        <m:t>⋯+</m:t>
                      </m:r>
                      <m:sSup>
                        <m:sSupPr>
                          <m:ctrlPr>
                            <a:rPr lang="en-US" altLang="zh-CN" sz="2800" i="1" dirty="0">
                              <a:solidFill>
                                <a:prstClr val="black"/>
                              </a:solidFill>
                              <a:latin typeface="Cambria Math" panose="02040503050406030204" pitchFamily="18" charset="0"/>
                              <a:ea typeface="Cambria Math" panose="02040503050406030204" pitchFamily="18" charset="0"/>
                            </a:rPr>
                          </m:ctrlPr>
                        </m:sSupPr>
                        <m:e>
                          <m:d>
                            <m:dPr>
                              <m:ctrlPr>
                                <a:rPr lang="en-US" altLang="zh-CN" sz="2800" i="1" dirty="0">
                                  <a:solidFill>
                                    <a:prstClr val="black"/>
                                  </a:solidFill>
                                  <a:latin typeface="Cambria Math" panose="02040503050406030204" pitchFamily="18" charset="0"/>
                                  <a:ea typeface="Cambria Math" panose="02040503050406030204" pitchFamily="18" charset="0"/>
                                </a:rPr>
                              </m:ctrlPr>
                            </m:dPr>
                            <m:e>
                              <m:r>
                                <a:rPr lang="en-US" altLang="zh-CN" sz="2800" i="1" dirty="0">
                                  <a:solidFill>
                                    <a:prstClr val="black"/>
                                  </a:solidFill>
                                  <a:latin typeface="Cambria Math" panose="02040503050406030204" pitchFamily="18" charset="0"/>
                                  <a:ea typeface="Cambria Math" panose="02040503050406030204" pitchFamily="18" charset="0"/>
                                </a:rPr>
                                <m:t>−1</m:t>
                              </m:r>
                            </m:e>
                          </m:d>
                        </m:e>
                        <m:sup>
                          <m:r>
                            <a:rPr lang="en-US" altLang="zh-CN" sz="2800" b="0" i="1" dirty="0" smtClean="0">
                              <a:solidFill>
                                <a:prstClr val="black"/>
                              </a:solidFill>
                              <a:latin typeface="Cambria Math" panose="02040503050406030204" pitchFamily="18" charset="0"/>
                              <a:ea typeface="Cambria Math" panose="02040503050406030204" pitchFamily="18" charset="0"/>
                            </a:rPr>
                            <m:t>𝑁</m:t>
                          </m:r>
                          <m:r>
                            <a:rPr lang="en-US" altLang="zh-CN" sz="2800" i="1" dirty="0">
                              <a:solidFill>
                                <a:prstClr val="black"/>
                              </a:solidFill>
                              <a:latin typeface="Cambria Math" panose="02040503050406030204" pitchFamily="18" charset="0"/>
                              <a:ea typeface="Cambria Math" panose="02040503050406030204" pitchFamily="18" charset="0"/>
                            </a:rPr>
                            <m:t>+1</m:t>
                          </m:r>
                        </m:sup>
                      </m:sSup>
                      <m:r>
                        <a:rPr lang="en-US" altLang="zh-CN" sz="2800" i="1" dirty="0">
                          <a:solidFill>
                            <a:prstClr val="black"/>
                          </a:solidFill>
                          <a:latin typeface="Cambria Math" panose="02040503050406030204" pitchFamily="18" charset="0"/>
                        </a:rPr>
                        <m:t>𝑃</m:t>
                      </m:r>
                      <m:d>
                        <m:dPr>
                          <m:ctrlPr>
                            <a:rPr lang="en-US" altLang="zh-CN" sz="2800" i="1" dirty="0">
                              <a:solidFill>
                                <a:prstClr val="black"/>
                              </a:solidFill>
                              <a:latin typeface="Cambria Math" panose="02040503050406030204" pitchFamily="18" charset="0"/>
                            </a:rPr>
                          </m:ctrlPr>
                        </m:dPr>
                        <m:e>
                          <m:sSub>
                            <m:sSubPr>
                              <m:ctrlPr>
                                <a:rPr lang="en-US" altLang="zh-CN" sz="2800" i="1" dirty="0">
                                  <a:solidFill>
                                    <a:prstClr val="black"/>
                                  </a:solidFill>
                                  <a:latin typeface="Cambria Math" panose="02040503050406030204" pitchFamily="18" charset="0"/>
                                </a:rPr>
                              </m:ctrlPr>
                            </m:sSubPr>
                            <m:e>
                              <m:r>
                                <a:rPr lang="en-US" altLang="zh-CN" sz="2800" b="0" i="1" dirty="0" smtClean="0">
                                  <a:solidFill>
                                    <a:prstClr val="black"/>
                                  </a:solidFill>
                                  <a:latin typeface="Cambria Math" panose="02040503050406030204" pitchFamily="18" charset="0"/>
                                </a:rPr>
                                <m:t>𝐸</m:t>
                              </m:r>
                            </m:e>
                            <m:sub>
                              <m:r>
                                <a:rPr lang="en-US" altLang="zh-CN" sz="2800" i="1" dirty="0">
                                  <a:solidFill>
                                    <a:prstClr val="black"/>
                                  </a:solidFill>
                                  <a:latin typeface="Cambria Math" panose="02040503050406030204" pitchFamily="18" charset="0"/>
                                </a:rPr>
                                <m:t>1</m:t>
                              </m:r>
                            </m:sub>
                          </m:sSub>
                          <m:sSub>
                            <m:sSubPr>
                              <m:ctrlPr>
                                <a:rPr lang="en-US" altLang="zh-CN" sz="2800" i="1" dirty="0">
                                  <a:solidFill>
                                    <a:prstClr val="black"/>
                                  </a:solidFill>
                                  <a:latin typeface="Cambria Math" panose="02040503050406030204" pitchFamily="18" charset="0"/>
                                </a:rPr>
                              </m:ctrlPr>
                            </m:sSubPr>
                            <m:e>
                              <m:r>
                                <a:rPr lang="en-US" altLang="zh-CN" sz="2800" b="0" i="1" dirty="0" smtClean="0">
                                  <a:solidFill>
                                    <a:prstClr val="black"/>
                                  </a:solidFill>
                                  <a:latin typeface="Cambria Math" panose="02040503050406030204" pitchFamily="18" charset="0"/>
                                </a:rPr>
                                <m:t>𝐸</m:t>
                              </m:r>
                            </m:e>
                            <m:sub>
                              <m:r>
                                <a:rPr lang="en-US" altLang="zh-CN" sz="2800" i="1" dirty="0">
                                  <a:solidFill>
                                    <a:prstClr val="black"/>
                                  </a:solidFill>
                                  <a:latin typeface="Cambria Math" panose="02040503050406030204" pitchFamily="18" charset="0"/>
                                </a:rPr>
                                <m:t>2</m:t>
                              </m:r>
                            </m:sub>
                          </m:sSub>
                          <m:r>
                            <a:rPr lang="en-US" altLang="zh-CN" sz="2800" i="1" dirty="0">
                              <a:solidFill>
                                <a:prstClr val="black"/>
                              </a:solidFill>
                              <a:latin typeface="Cambria Math" panose="02040503050406030204" pitchFamily="18" charset="0"/>
                              <a:ea typeface="Cambria Math" panose="02040503050406030204" pitchFamily="18" charset="0"/>
                            </a:rPr>
                            <m:t>⋯</m:t>
                          </m:r>
                          <m:sSub>
                            <m:sSubPr>
                              <m:ctrlPr>
                                <a:rPr lang="en-US" altLang="zh-CN" sz="2800" i="1" dirty="0">
                                  <a:solidFill>
                                    <a:prstClr val="black"/>
                                  </a:solidFill>
                                  <a:latin typeface="Cambria Math" panose="02040503050406030204" pitchFamily="18" charset="0"/>
                                </a:rPr>
                              </m:ctrlPr>
                            </m:sSubPr>
                            <m:e>
                              <m:r>
                                <a:rPr lang="en-US" altLang="zh-CN" sz="2800" b="0" i="1" dirty="0" smtClean="0">
                                  <a:solidFill>
                                    <a:prstClr val="black"/>
                                  </a:solidFill>
                                  <a:latin typeface="Cambria Math" panose="02040503050406030204" pitchFamily="18" charset="0"/>
                                </a:rPr>
                                <m:t>𝐸</m:t>
                              </m:r>
                            </m:e>
                            <m:sub>
                              <m:r>
                                <a:rPr lang="en-US" altLang="zh-CN" sz="2800" b="0" i="1" dirty="0" smtClean="0">
                                  <a:solidFill>
                                    <a:prstClr val="black"/>
                                  </a:solidFill>
                                  <a:latin typeface="Cambria Math" panose="02040503050406030204" pitchFamily="18" charset="0"/>
                                </a:rPr>
                                <m:t>𝑁</m:t>
                              </m:r>
                            </m:sub>
                          </m:sSub>
                        </m:e>
                      </m:d>
                    </m:oMath>
                  </m:oMathPara>
                </a14:m>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1022" y="1198881"/>
                <a:ext cx="11945784" cy="5543825"/>
              </a:xfrm>
              <a:blipFill>
                <a:blip r:embed="rId3"/>
                <a:stretch>
                  <a:fillRect l="-1020" t="-1210" r="-250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575189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1022" y="1198881"/>
                <a:ext cx="11945784" cy="5610240"/>
              </a:xfrm>
            </p:spPr>
            <p:txBody>
              <a:bodyPr>
                <a:normAutofit lnSpcReduction="10000"/>
              </a:bodyPr>
              <a:lstStyle/>
              <a:p>
                <a:pPr algn="l">
                  <a:lnSpc>
                    <a:spcPct val="100000"/>
                  </a:lnSpc>
                </a:pPr>
                <a:r>
                  <a:rPr lang="en-US" altLang="zh-CN" sz="2800" dirty="0"/>
                  <a:t>If we regard the outcome of this experiment as a vector of </a:t>
                </a:r>
                <a14:m>
                  <m:oMath xmlns:m="http://schemas.openxmlformats.org/officeDocument/2006/math">
                    <m:r>
                      <a:rPr lang="en-US" altLang="zh-CN" sz="2800" i="1" dirty="0" smtClean="0">
                        <a:latin typeface="Cambria Math" panose="02040503050406030204" pitchFamily="18" charset="0"/>
                      </a:rPr>
                      <m:t>𝑁</m:t>
                    </m:r>
                  </m:oMath>
                </a14:m>
                <a:r>
                  <a:rPr lang="en-US" altLang="zh-CN" sz="2800" dirty="0"/>
                  <a:t> numbers, where the </a:t>
                </a:r>
                <a14:m>
                  <m:oMath xmlns:m="http://schemas.openxmlformats.org/officeDocument/2006/math">
                    <m:r>
                      <a:rPr lang="en-US" altLang="zh-CN" sz="2800" i="1" dirty="0" smtClean="0">
                        <a:latin typeface="Cambria Math" panose="02040503050406030204" pitchFamily="18" charset="0"/>
                      </a:rPr>
                      <m:t>𝑖</m:t>
                    </m:r>
                  </m:oMath>
                </a14:m>
                <a:r>
                  <a:rPr lang="en-US" altLang="zh-CN" sz="2800" dirty="0" err="1"/>
                  <a:t>th</a:t>
                </a:r>
                <a:r>
                  <a:rPr lang="en-US" altLang="zh-CN" sz="2800" dirty="0"/>
                  <a:t> element is the number of the hat drawn by the </a:t>
                </a:r>
                <a14:m>
                  <m:oMath xmlns:m="http://schemas.openxmlformats.org/officeDocument/2006/math">
                    <m:r>
                      <a:rPr lang="en-US" altLang="zh-CN" sz="2800" i="1" dirty="0" smtClean="0">
                        <a:latin typeface="Cambria Math" panose="02040503050406030204" pitchFamily="18" charset="0"/>
                      </a:rPr>
                      <m:t>𝑖</m:t>
                    </m:r>
                  </m:oMath>
                </a14:m>
                <a:r>
                  <a:rPr lang="en-US" altLang="zh-CN" sz="2800" dirty="0"/>
                  <a:t>th man, then there are </a:t>
                </a:r>
                <a14:m>
                  <m:oMath xmlns:m="http://schemas.openxmlformats.org/officeDocument/2006/math">
                    <m:r>
                      <a:rPr lang="en-US" altLang="zh-CN" sz="2800" i="1" dirty="0" smtClean="0">
                        <a:latin typeface="Cambria Math" panose="02040503050406030204" pitchFamily="18" charset="0"/>
                      </a:rPr>
                      <m:t>𝑁</m:t>
                    </m:r>
                    <m:r>
                      <a:rPr lang="en-US" altLang="zh-CN" sz="2800" i="1" dirty="0" smtClean="0">
                        <a:latin typeface="Cambria Math" panose="02040503050406030204" pitchFamily="18" charset="0"/>
                      </a:rPr>
                      <m:t>!</m:t>
                    </m:r>
                  </m:oMath>
                </a14:m>
                <a:r>
                  <a:rPr lang="en-US" altLang="zh-CN" sz="2800" dirty="0"/>
                  <a:t> possible outcomes. Furthermore, </a:t>
                </a:r>
                <a14:m>
                  <m:oMath xmlns:m="http://schemas.openxmlformats.org/officeDocument/2006/math">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𝐸</m:t>
                        </m:r>
                      </m:e>
                      <m: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i="1" dirty="0">
                                <a:solidFill>
                                  <a:prstClr val="black"/>
                                </a:solidFill>
                                <a:latin typeface="Cambria Math" panose="02040503050406030204" pitchFamily="18" charset="0"/>
                              </a:rPr>
                              <m:t>1</m:t>
                            </m:r>
                          </m:sub>
                        </m:sSub>
                      </m:sub>
                    </m:s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𝐸</m:t>
                        </m:r>
                      </m:e>
                      <m: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i="1" dirty="0">
                                <a:solidFill>
                                  <a:prstClr val="black"/>
                                </a:solidFill>
                                <a:latin typeface="Cambria Math" panose="02040503050406030204" pitchFamily="18" charset="0"/>
                              </a:rPr>
                              <m:t>2</m:t>
                            </m:r>
                          </m:sub>
                        </m:sSub>
                      </m:sub>
                    </m:sSub>
                    <m:r>
                      <a:rPr lang="en-US" altLang="zh-CN" sz="2600" i="1" dirty="0">
                        <a:solidFill>
                          <a:prstClr val="black"/>
                        </a:solidFill>
                        <a:latin typeface="Cambria Math" panose="02040503050406030204" pitchFamily="18" charset="0"/>
                        <a:ea typeface="Cambria Math" panose="02040503050406030204" pitchFamily="18" charset="0"/>
                      </a:rPr>
                      <m:t>⋯</m:t>
                    </m:r>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𝐸</m:t>
                        </m:r>
                      </m:e>
                      <m: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b="0" i="1" dirty="0" smtClean="0">
                                <a:solidFill>
                                  <a:prstClr val="black"/>
                                </a:solidFill>
                                <a:latin typeface="Cambria Math" panose="02040503050406030204" pitchFamily="18" charset="0"/>
                              </a:rPr>
                              <m:t>𝑛</m:t>
                            </m:r>
                          </m:sub>
                        </m:sSub>
                      </m:sub>
                    </m:sSub>
                  </m:oMath>
                </a14:m>
                <a:r>
                  <a:rPr lang="en-US" altLang="zh-CN" sz="2800" dirty="0"/>
                  <a:t>the event that each of then men </a:t>
                </a:r>
                <a14:m>
                  <m:oMath xmlns:m="http://schemas.openxmlformats.org/officeDocument/2006/math">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i="1" dirty="0">
                            <a:solidFill>
                              <a:prstClr val="black"/>
                            </a:solidFill>
                            <a:latin typeface="Cambria Math" panose="02040503050406030204" pitchFamily="18" charset="0"/>
                          </a:rPr>
                          <m:t>1</m:t>
                        </m:r>
                      </m:sub>
                    </m:sSub>
                  </m:oMath>
                </a14:m>
                <a:r>
                  <a:rPr lang="en-US" altLang="zh-CN" sz="2800" dirty="0"/>
                  <a:t>, </a:t>
                </a:r>
                <a14:m>
                  <m:oMath xmlns:m="http://schemas.openxmlformats.org/officeDocument/2006/math">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b="0" i="1" dirty="0" smtClean="0">
                            <a:solidFill>
                              <a:prstClr val="black"/>
                            </a:solidFill>
                            <a:latin typeface="Cambria Math" panose="02040503050406030204" pitchFamily="18" charset="0"/>
                          </a:rPr>
                          <m:t>2</m:t>
                        </m:r>
                      </m:sub>
                    </m:sSub>
                  </m:oMath>
                </a14:m>
                <a:r>
                  <a:rPr lang="en-US" altLang="zh-CN" sz="2800" dirty="0"/>
                  <a:t>, ... , </a:t>
                </a:r>
                <a14:m>
                  <m:oMath xmlns:m="http://schemas.openxmlformats.org/officeDocument/2006/math">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b="0" i="1" dirty="0" smtClean="0">
                            <a:solidFill>
                              <a:prstClr val="black"/>
                            </a:solidFill>
                            <a:latin typeface="Cambria Math" panose="02040503050406030204" pitchFamily="18" charset="0"/>
                          </a:rPr>
                          <m:t>𝑛</m:t>
                        </m:r>
                      </m:sub>
                    </m:sSub>
                  </m:oMath>
                </a14:m>
                <a:r>
                  <a:rPr lang="en-US" altLang="zh-CN" sz="2800" dirty="0"/>
                  <a:t> selects his own hat, can occur in any of </a:t>
                </a:r>
                <a14:m>
                  <m:oMath xmlns:m="http://schemas.openxmlformats.org/officeDocument/2006/math">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𝑁</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𝑛</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𝑁</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𝑛</m:t>
                    </m:r>
                    <m:r>
                      <a:rPr lang="en-US" altLang="zh-CN" sz="2800" i="1" dirty="0" smtClean="0">
                        <a:latin typeface="Cambria Math" panose="02040503050406030204" pitchFamily="18" charset="0"/>
                      </a:rPr>
                      <m:t>−1)···3·2·1=(</m:t>
                    </m:r>
                    <m:r>
                      <a:rPr lang="en-US" altLang="zh-CN" sz="2800" i="1" dirty="0" smtClean="0">
                        <a:latin typeface="Cambria Math" panose="02040503050406030204" pitchFamily="18" charset="0"/>
                      </a:rPr>
                      <m:t>𝑁</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𝑛</m:t>
                    </m:r>
                    <m:r>
                      <a:rPr lang="en-US" altLang="zh-CN" sz="2800" i="1" dirty="0" smtClean="0">
                        <a:latin typeface="Cambria Math" panose="02040503050406030204" pitchFamily="18" charset="0"/>
                      </a:rPr>
                      <m:t>)! </m:t>
                    </m:r>
                  </m:oMath>
                </a14:m>
                <a:r>
                  <a:rPr lang="en-US" altLang="zh-CN" sz="2800" dirty="0"/>
                  <a:t>possible ways; for, of the remaining </a:t>
                </a:r>
                <a14:m>
                  <m:oMath xmlns:m="http://schemas.openxmlformats.org/officeDocument/2006/math">
                    <m:r>
                      <a:rPr lang="en-US" altLang="zh-CN" sz="2800" i="1" dirty="0" smtClean="0">
                        <a:latin typeface="Cambria Math" panose="02040503050406030204" pitchFamily="18" charset="0"/>
                      </a:rPr>
                      <m:t>𝑁</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𝑛</m:t>
                    </m:r>
                    <m:r>
                      <a:rPr lang="en-US" altLang="zh-CN" sz="2800" i="1" dirty="0" smtClean="0">
                        <a:latin typeface="Cambria Math" panose="02040503050406030204" pitchFamily="18" charset="0"/>
                      </a:rPr>
                      <m:t> </m:t>
                    </m:r>
                  </m:oMath>
                </a14:m>
                <a:r>
                  <a:rPr lang="en-US" altLang="zh-CN" sz="2800" dirty="0"/>
                  <a:t>men, the first can select any of </a:t>
                </a:r>
                <a14:m>
                  <m:oMath xmlns:m="http://schemas.openxmlformats.org/officeDocument/2006/math">
                    <m:r>
                      <a:rPr lang="en-US" altLang="zh-CN" sz="2800" i="1" dirty="0">
                        <a:latin typeface="Cambria Math" panose="02040503050406030204" pitchFamily="18" charset="0"/>
                      </a:rPr>
                      <m:t>𝑁</m:t>
                    </m:r>
                    <m:r>
                      <a:rPr lang="en-US" altLang="zh-CN" sz="2800" i="1" dirty="0">
                        <a:latin typeface="Cambria Math" panose="02040503050406030204" pitchFamily="18" charset="0"/>
                      </a:rPr>
                      <m:t>−</m:t>
                    </m:r>
                    <m:r>
                      <a:rPr lang="en-US" altLang="zh-CN" sz="2800" i="1" dirty="0">
                        <a:latin typeface="Cambria Math" panose="02040503050406030204" pitchFamily="18" charset="0"/>
                      </a:rPr>
                      <m:t>𝑛</m:t>
                    </m:r>
                    <m:r>
                      <a:rPr lang="en-US" altLang="zh-CN" sz="2800" i="1" dirty="0">
                        <a:latin typeface="Cambria Math" panose="02040503050406030204" pitchFamily="18" charset="0"/>
                      </a:rPr>
                      <m:t> </m:t>
                    </m:r>
                  </m:oMath>
                </a14:m>
                <a:r>
                  <a:rPr lang="en-US" altLang="zh-CN" sz="2800" dirty="0"/>
                  <a:t>hats, the second can then select any of </a:t>
                </a:r>
                <a14:m>
                  <m:oMath xmlns:m="http://schemas.openxmlformats.org/officeDocument/2006/math">
                    <m:r>
                      <a:rPr lang="en-US" altLang="zh-CN" sz="2800" i="1" dirty="0">
                        <a:latin typeface="Cambria Math" panose="02040503050406030204" pitchFamily="18" charset="0"/>
                      </a:rPr>
                      <m:t>𝑁</m:t>
                    </m:r>
                    <m:r>
                      <a:rPr lang="en-US" altLang="zh-CN" sz="2800" i="1" dirty="0">
                        <a:latin typeface="Cambria Math" panose="02040503050406030204" pitchFamily="18" charset="0"/>
                      </a:rPr>
                      <m:t>−</m:t>
                    </m:r>
                    <m:r>
                      <a:rPr lang="en-US" altLang="zh-CN" sz="2800" i="1" dirty="0">
                        <a:latin typeface="Cambria Math" panose="02040503050406030204" pitchFamily="18" charset="0"/>
                      </a:rPr>
                      <m:t>𝑛</m:t>
                    </m:r>
                    <m:r>
                      <a:rPr lang="en-US" altLang="zh-CN" sz="2800" b="0" i="1" dirty="0" smtClean="0">
                        <a:latin typeface="Cambria Math" panose="02040503050406030204" pitchFamily="18" charset="0"/>
                      </a:rPr>
                      <m:t>−1</m:t>
                    </m:r>
                    <m:r>
                      <a:rPr lang="en-US" altLang="zh-CN" sz="2800" i="1" dirty="0">
                        <a:latin typeface="Cambria Math" panose="02040503050406030204" pitchFamily="18" charset="0"/>
                      </a:rPr>
                      <m:t> </m:t>
                    </m:r>
                  </m:oMath>
                </a14:m>
                <a:r>
                  <a:rPr lang="en-US" altLang="zh-CN" sz="2800" dirty="0"/>
                  <a:t>hats, and so on. Hence, assuming that all </a:t>
                </a:r>
                <a14:m>
                  <m:oMath xmlns:m="http://schemas.openxmlformats.org/officeDocument/2006/math">
                    <m:r>
                      <a:rPr lang="en-US" altLang="zh-CN" sz="2800" i="1" dirty="0" smtClean="0">
                        <a:latin typeface="Cambria Math" panose="02040503050406030204" pitchFamily="18" charset="0"/>
                      </a:rPr>
                      <m:t>𝑁</m:t>
                    </m:r>
                    <m:r>
                      <a:rPr lang="en-US" altLang="zh-CN" sz="2800" i="1" dirty="0" smtClean="0">
                        <a:latin typeface="Cambria Math" panose="02040503050406030204" pitchFamily="18" charset="0"/>
                      </a:rPr>
                      <m:t>! </m:t>
                    </m:r>
                  </m:oMath>
                </a14:m>
                <a:r>
                  <a:rPr lang="en-US" altLang="zh-CN" sz="2800" dirty="0"/>
                  <a:t>possible outcomes are equally likely, we see that</a:t>
                </a:r>
                <a:endParaRPr lang="en-US" altLang="zh-CN" sz="2800" i="1" dirty="0">
                  <a:solidFill>
                    <a:prstClr val="black"/>
                  </a:solidFill>
                  <a:latin typeface="Cambria Math" panose="02040503050406030204" pitchFamily="18" charset="0"/>
                </a:endParaRPr>
              </a:p>
              <a:p>
                <a:pPr algn="l">
                  <a:lnSpc>
                    <a:spcPct val="100000"/>
                  </a:lnSpc>
                </a:pPr>
                <a14:m>
                  <m:oMathPara xmlns:m="http://schemas.openxmlformats.org/officeDocument/2006/math">
                    <m:oMathParaPr>
                      <m:jc m:val="centerGroup"/>
                    </m:oMathParaPr>
                    <m:oMath xmlns:m="http://schemas.openxmlformats.org/officeDocument/2006/math">
                      <m:r>
                        <a:rPr lang="en-US" altLang="zh-CN" sz="2600" i="1" dirty="0">
                          <a:solidFill>
                            <a:prstClr val="black"/>
                          </a:solidFill>
                          <a:latin typeface="Cambria Math" panose="02040503050406030204" pitchFamily="18" charset="0"/>
                        </a:rPr>
                        <m:t>𝑃</m:t>
                      </m:r>
                      <m:d>
                        <m:dPr>
                          <m:ctrlPr>
                            <a:rPr lang="en-US" altLang="zh-CN" sz="2600" i="1" dirty="0">
                              <a:solidFill>
                                <a:prstClr val="black"/>
                              </a:solidFill>
                              <a:latin typeface="Cambria Math" panose="02040503050406030204" pitchFamily="18" charset="0"/>
                            </a:rPr>
                          </m:ctrlPr>
                        </m:dPr>
                        <m:e>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𝐸</m:t>
                              </m:r>
                            </m:e>
                            <m: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i="1" dirty="0">
                                      <a:solidFill>
                                        <a:prstClr val="black"/>
                                      </a:solidFill>
                                      <a:latin typeface="Cambria Math" panose="02040503050406030204" pitchFamily="18" charset="0"/>
                                    </a:rPr>
                                    <m:t>1</m:t>
                                  </m:r>
                                </m:sub>
                              </m:sSub>
                            </m:sub>
                          </m:s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𝐸</m:t>
                              </m:r>
                            </m:e>
                            <m: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i="1" dirty="0">
                                      <a:solidFill>
                                        <a:prstClr val="black"/>
                                      </a:solidFill>
                                      <a:latin typeface="Cambria Math" panose="02040503050406030204" pitchFamily="18" charset="0"/>
                                    </a:rPr>
                                    <m:t>2</m:t>
                                  </m:r>
                                </m:sub>
                              </m:sSub>
                            </m:sub>
                          </m:sSub>
                          <m:r>
                            <a:rPr lang="en-US" altLang="zh-CN" sz="2600" i="1" dirty="0">
                              <a:solidFill>
                                <a:prstClr val="black"/>
                              </a:solidFill>
                              <a:latin typeface="Cambria Math" panose="02040503050406030204" pitchFamily="18" charset="0"/>
                              <a:ea typeface="Cambria Math" panose="02040503050406030204" pitchFamily="18" charset="0"/>
                            </a:rPr>
                            <m:t>⋯</m:t>
                          </m:r>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𝐸</m:t>
                              </m:r>
                            </m:e>
                            <m: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b="0" i="1" dirty="0" smtClean="0">
                                      <a:solidFill>
                                        <a:prstClr val="black"/>
                                      </a:solidFill>
                                      <a:latin typeface="Cambria Math" panose="02040503050406030204" pitchFamily="18" charset="0"/>
                                    </a:rPr>
                                    <m:t>𝑛</m:t>
                                  </m:r>
                                </m:sub>
                              </m:sSub>
                            </m:sub>
                          </m:sSub>
                        </m:e>
                      </m:d>
                      <m:r>
                        <a:rPr lang="en-US" altLang="zh-CN" sz="2800" i="1">
                          <a:solidFill>
                            <a:prstClr val="black"/>
                          </a:solidFill>
                          <a:latin typeface="Cambria Math" panose="02040503050406030204" pitchFamily="18" charset="0"/>
                        </a:rPr>
                        <m:t>=</m:t>
                      </m:r>
                      <m:f>
                        <m:fPr>
                          <m:ctrlPr>
                            <a:rPr lang="en-US" altLang="zh-CN" sz="2800" i="1" dirty="0">
                              <a:solidFill>
                                <a:prstClr val="black"/>
                              </a:solidFill>
                              <a:latin typeface="Cambria Math" panose="02040503050406030204" pitchFamily="18" charset="0"/>
                            </a:rPr>
                          </m:ctrlPr>
                        </m:fPr>
                        <m:num>
                          <m:r>
                            <a:rPr lang="en-US" altLang="zh-CN" sz="2800" i="1" dirty="0">
                              <a:solidFill>
                                <a:prstClr val="black"/>
                              </a:solidFill>
                              <a:latin typeface="Cambria Math" panose="02040503050406030204" pitchFamily="18" charset="0"/>
                            </a:rPr>
                            <m:t>(</m:t>
                          </m:r>
                          <m:r>
                            <a:rPr lang="en-US" altLang="zh-CN" sz="2800" i="1" dirty="0">
                              <a:solidFill>
                                <a:prstClr val="black"/>
                              </a:solidFill>
                              <a:latin typeface="Cambria Math" panose="02040503050406030204" pitchFamily="18" charset="0"/>
                            </a:rPr>
                            <m:t>𝑁</m:t>
                          </m:r>
                          <m:r>
                            <a:rPr lang="en-US" altLang="zh-CN" sz="2800" i="1" dirty="0">
                              <a:solidFill>
                                <a:prstClr val="black"/>
                              </a:solidFill>
                              <a:latin typeface="Cambria Math" panose="02040503050406030204" pitchFamily="18" charset="0"/>
                            </a:rPr>
                            <m:t>−</m:t>
                          </m:r>
                          <m:r>
                            <a:rPr lang="en-US" altLang="zh-CN" sz="2800" i="1" dirty="0">
                              <a:solidFill>
                                <a:prstClr val="black"/>
                              </a:solidFill>
                              <a:latin typeface="Cambria Math" panose="02040503050406030204" pitchFamily="18" charset="0"/>
                            </a:rPr>
                            <m:t>𝑛</m:t>
                          </m:r>
                          <m:r>
                            <a:rPr lang="en-US" altLang="zh-CN" sz="2800" i="1" dirty="0">
                              <a:solidFill>
                                <a:prstClr val="black"/>
                              </a:solidFill>
                              <a:latin typeface="Cambria Math" panose="02040503050406030204" pitchFamily="18" charset="0"/>
                            </a:rPr>
                            <m:t>)!</m:t>
                          </m:r>
                        </m:num>
                        <m:den>
                          <m:r>
                            <a:rPr lang="en-US" altLang="zh-CN" sz="2800" i="1" dirty="0">
                              <a:solidFill>
                                <a:prstClr val="black"/>
                              </a:solidFill>
                              <a:latin typeface="Cambria Math" panose="02040503050406030204" pitchFamily="18" charset="0"/>
                            </a:rPr>
                            <m:t>𝑁</m:t>
                          </m:r>
                          <m:r>
                            <a:rPr lang="en-US" altLang="zh-CN" sz="2800" b="0" i="1" dirty="0" smtClean="0">
                              <a:solidFill>
                                <a:prstClr val="black"/>
                              </a:solidFill>
                              <a:latin typeface="Cambria Math" panose="02040503050406030204" pitchFamily="18" charset="0"/>
                            </a:rPr>
                            <m:t>!</m:t>
                          </m:r>
                        </m:den>
                      </m:f>
                    </m:oMath>
                  </m:oMathPara>
                </a14:m>
                <a:endParaRPr lang="en-US" altLang="zh-CN" sz="2800" dirty="0"/>
              </a:p>
              <a:p>
                <a:pPr algn="l">
                  <a:lnSpc>
                    <a:spcPct val="100000"/>
                  </a:lnSpc>
                </a:pPr>
                <a:r>
                  <a:rPr lang="en-US" altLang="zh-CN" sz="2800" dirty="0">
                    <a:latin typeface="Times New Roman" panose="02020603050405020304" pitchFamily="18" charset="0"/>
                  </a:rPr>
                  <a:t>Also, as there are</a:t>
                </a:r>
                <a14:m>
                  <m:oMath xmlns:m="http://schemas.openxmlformats.org/officeDocument/2006/math">
                    <m:r>
                      <a:rPr lang="en-US" altLang="zh-CN" sz="2800" b="0" i="0" dirty="0" smtClean="0">
                        <a:solidFill>
                          <a:prstClr val="black"/>
                        </a:solidFill>
                        <a:latin typeface="Cambria Math" panose="02040503050406030204" pitchFamily="18" charset="0"/>
                      </a:rPr>
                      <m:t> </m:t>
                    </m:r>
                    <m:d>
                      <m:dPr>
                        <m:ctrlPr>
                          <a:rPr lang="en-US" altLang="zh-CN" sz="2800" i="1" dirty="0">
                            <a:solidFill>
                              <a:prstClr val="black"/>
                            </a:solidFill>
                            <a:latin typeface="Cambria Math" panose="02040503050406030204" pitchFamily="18" charset="0"/>
                          </a:rPr>
                        </m:ctrlPr>
                      </m:dPr>
                      <m:e>
                        <m:m>
                          <m:mPr>
                            <m:mcs>
                              <m:mc>
                                <m:mcPr>
                                  <m:count m:val="1"/>
                                  <m:mcJc m:val="center"/>
                                </m:mcPr>
                              </m:mc>
                            </m:mcs>
                            <m:ctrlPr>
                              <a:rPr lang="en-US" altLang="zh-CN" sz="2800" i="1" dirty="0">
                                <a:solidFill>
                                  <a:prstClr val="black"/>
                                </a:solidFill>
                                <a:latin typeface="Cambria Math" panose="02040503050406030204" pitchFamily="18" charset="0"/>
                              </a:rPr>
                            </m:ctrlPr>
                          </m:mPr>
                          <m:mr>
                            <m:e>
                              <m:r>
                                <a:rPr lang="en-US" altLang="zh-CN" sz="2800" b="0" i="1" dirty="0" smtClean="0">
                                  <a:solidFill>
                                    <a:prstClr val="black"/>
                                  </a:solidFill>
                                  <a:latin typeface="Cambria Math" panose="02040503050406030204" pitchFamily="18" charset="0"/>
                                </a:rPr>
                                <m:t>𝑁</m:t>
                              </m:r>
                            </m:e>
                          </m:mr>
                          <m:mr>
                            <m:e>
                              <m:r>
                                <a:rPr lang="en-US" altLang="zh-CN" sz="2800" b="0" i="1" dirty="0" smtClean="0">
                                  <a:solidFill>
                                    <a:prstClr val="black"/>
                                  </a:solidFill>
                                  <a:latin typeface="Cambria Math" panose="02040503050406030204" pitchFamily="18" charset="0"/>
                                </a:rPr>
                                <m:t>𝑛</m:t>
                              </m:r>
                            </m:e>
                          </m:mr>
                        </m:m>
                      </m:e>
                    </m:d>
                  </m:oMath>
                </a14:m>
                <a:r>
                  <a:rPr lang="en-US" altLang="zh-CN" sz="2800" dirty="0">
                    <a:latin typeface="Times New Roman" panose="02020603050405020304" pitchFamily="18" charset="0"/>
                  </a:rPr>
                  <a:t>  terms in </a:t>
                </a:r>
                <a14:m>
                  <m:oMath xmlns:m="http://schemas.openxmlformats.org/officeDocument/2006/math">
                    <m:nary>
                      <m:naryPr>
                        <m:chr m:val="∑"/>
                        <m:supHide m:val="on"/>
                        <m:ctrlPr>
                          <a:rPr lang="en-US" altLang="zh-CN" sz="2600" i="1" dirty="0">
                            <a:solidFill>
                              <a:prstClr val="black"/>
                            </a:solidFill>
                            <a:latin typeface="Cambria Math" panose="02040503050406030204" pitchFamily="18" charset="0"/>
                          </a:rPr>
                        </m:ctrlPr>
                      </m:naryPr>
                      <m:sub>
                        <m:sSub>
                          <m:sSubPr>
                            <m:ctrlPr>
                              <a:rPr lang="en-US" altLang="zh-CN" sz="2600" i="1" dirty="0">
                                <a:solidFill>
                                  <a:prstClr val="black"/>
                                </a:solidFill>
                                <a:latin typeface="Cambria Math" panose="02040503050406030204" pitchFamily="18" charset="0"/>
                              </a:rPr>
                            </m:ctrlPr>
                          </m:sSubPr>
                          <m:e>
                            <m:r>
                              <m:rPr>
                                <m:brk m:alnAt="7"/>
                              </m:rPr>
                              <a:rPr lang="en-US" altLang="zh-CN" sz="2600" i="1" dirty="0">
                                <a:solidFill>
                                  <a:prstClr val="black"/>
                                </a:solidFill>
                                <a:latin typeface="Cambria Math" panose="02040503050406030204" pitchFamily="18" charset="0"/>
                              </a:rPr>
                              <m:t>𝑖</m:t>
                            </m:r>
                          </m:e>
                          <m:sub>
                            <m:r>
                              <m:rPr>
                                <m:brk m:alnAt="7"/>
                              </m:rPr>
                              <a:rPr lang="en-US" altLang="zh-CN" sz="2600" i="1" dirty="0">
                                <a:solidFill>
                                  <a:prstClr val="black"/>
                                </a:solidFill>
                                <a:latin typeface="Cambria Math" panose="02040503050406030204" pitchFamily="18" charset="0"/>
                              </a:rPr>
                              <m:t>1</m:t>
                            </m:r>
                          </m:sub>
                        </m:sSub>
                        <m:r>
                          <m:rPr>
                            <m:brk m:alnAt="7"/>
                          </m:rPr>
                          <a:rPr lang="en-US" altLang="zh-CN" sz="2600" i="1" dirty="0">
                            <a:solidFill>
                              <a:prstClr val="black"/>
                            </a:solidFill>
                            <a:latin typeface="Cambria Math" panose="02040503050406030204" pitchFamily="18" charset="0"/>
                            <a:ea typeface="Cambria Math" panose="02040503050406030204" pitchFamily="18" charset="0"/>
                          </a:rPr>
                          <m:t>&lt;</m:t>
                        </m:r>
                        <m:sSub>
                          <m:sSubPr>
                            <m:ctrlPr>
                              <a:rPr lang="en-US" altLang="zh-CN" sz="2600" i="1" dirty="0">
                                <a:solidFill>
                                  <a:prstClr val="black"/>
                                </a:solidFill>
                                <a:latin typeface="Cambria Math" panose="02040503050406030204" pitchFamily="18" charset="0"/>
                                <a:ea typeface="Cambria Math" panose="02040503050406030204" pitchFamily="18" charset="0"/>
                              </a:rPr>
                            </m:ctrlPr>
                          </m:sSubPr>
                          <m:e>
                            <m:r>
                              <m:rPr>
                                <m:brk m:alnAt="7"/>
                              </m:rPr>
                              <a:rPr lang="en-US" altLang="zh-CN" sz="2600" i="1" dirty="0">
                                <a:solidFill>
                                  <a:prstClr val="black"/>
                                </a:solidFill>
                                <a:latin typeface="Cambria Math" panose="02040503050406030204" pitchFamily="18" charset="0"/>
                                <a:ea typeface="Cambria Math" panose="02040503050406030204" pitchFamily="18" charset="0"/>
                              </a:rPr>
                              <m:t>𝑖</m:t>
                            </m:r>
                          </m:e>
                          <m:sub>
                            <m:r>
                              <m:rPr>
                                <m:brk m:alnAt="7"/>
                              </m:rPr>
                              <a:rPr lang="en-US" altLang="zh-CN" sz="2600" i="1" dirty="0">
                                <a:solidFill>
                                  <a:prstClr val="black"/>
                                </a:solidFill>
                                <a:latin typeface="Cambria Math" panose="02040503050406030204" pitchFamily="18" charset="0"/>
                                <a:ea typeface="Cambria Math" panose="02040503050406030204" pitchFamily="18" charset="0"/>
                              </a:rPr>
                              <m:t>2</m:t>
                            </m:r>
                          </m:sub>
                        </m:sSub>
                        <m:r>
                          <a:rPr lang="en-US" altLang="zh-CN" sz="2600" i="1" dirty="0">
                            <a:solidFill>
                              <a:prstClr val="black"/>
                            </a:solidFill>
                            <a:latin typeface="Cambria Math" panose="02040503050406030204" pitchFamily="18" charset="0"/>
                            <a:ea typeface="Cambria Math" panose="02040503050406030204" pitchFamily="18" charset="0"/>
                          </a:rPr>
                          <m:t>&lt;⋯&lt;</m:t>
                        </m:r>
                        <m:sSub>
                          <m:sSubPr>
                            <m:ctrlPr>
                              <a:rPr lang="en-US" altLang="zh-CN" sz="2600" i="1" dirty="0">
                                <a:solidFill>
                                  <a:prstClr val="black"/>
                                </a:solidFill>
                                <a:latin typeface="Cambria Math" panose="02040503050406030204" pitchFamily="18" charset="0"/>
                                <a:ea typeface="Cambria Math" panose="02040503050406030204" pitchFamily="18" charset="0"/>
                              </a:rPr>
                            </m:ctrlPr>
                          </m:sSubPr>
                          <m:e>
                            <m:r>
                              <a:rPr lang="en-US" altLang="zh-CN" sz="2600" i="1" dirty="0">
                                <a:solidFill>
                                  <a:prstClr val="black"/>
                                </a:solidFill>
                                <a:latin typeface="Cambria Math" panose="02040503050406030204" pitchFamily="18" charset="0"/>
                                <a:ea typeface="Cambria Math" panose="02040503050406030204" pitchFamily="18" charset="0"/>
                              </a:rPr>
                              <m:t>𝑖</m:t>
                            </m:r>
                          </m:e>
                          <m:sub>
                            <m:r>
                              <a:rPr lang="en-US" altLang="zh-CN" sz="2600" b="0" i="1" dirty="0" smtClean="0">
                                <a:solidFill>
                                  <a:prstClr val="black"/>
                                </a:solidFill>
                                <a:latin typeface="Cambria Math" panose="02040503050406030204" pitchFamily="18" charset="0"/>
                                <a:ea typeface="Cambria Math" panose="02040503050406030204" pitchFamily="18" charset="0"/>
                              </a:rPr>
                              <m:t>𝑛</m:t>
                            </m:r>
                          </m:sub>
                        </m:sSub>
                      </m:sub>
                      <m:sup/>
                      <m:e>
                        <m:r>
                          <a:rPr lang="en-US" altLang="zh-CN" sz="2600" i="1" dirty="0">
                            <a:solidFill>
                              <a:prstClr val="black"/>
                            </a:solidFill>
                            <a:latin typeface="Cambria Math" panose="02040503050406030204" pitchFamily="18" charset="0"/>
                          </a:rPr>
                          <m:t>𝑃</m:t>
                        </m:r>
                        <m:d>
                          <m:dPr>
                            <m:ctrlPr>
                              <a:rPr lang="en-US" altLang="zh-CN" sz="2600" i="1" dirty="0">
                                <a:solidFill>
                                  <a:prstClr val="black"/>
                                </a:solidFill>
                                <a:latin typeface="Cambria Math" panose="02040503050406030204" pitchFamily="18" charset="0"/>
                              </a:rPr>
                            </m:ctrlPr>
                          </m:dPr>
                          <m:e>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𝐸</m:t>
                                </m:r>
                              </m:e>
                              <m: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i="1" dirty="0">
                                        <a:solidFill>
                                          <a:prstClr val="black"/>
                                        </a:solidFill>
                                        <a:latin typeface="Cambria Math" panose="02040503050406030204" pitchFamily="18" charset="0"/>
                                      </a:rPr>
                                      <m:t>1</m:t>
                                    </m:r>
                                  </m:sub>
                                </m:sSub>
                              </m:sub>
                            </m:s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𝐸</m:t>
                                </m:r>
                              </m:e>
                              <m: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i="1" dirty="0">
                                        <a:solidFill>
                                          <a:prstClr val="black"/>
                                        </a:solidFill>
                                        <a:latin typeface="Cambria Math" panose="02040503050406030204" pitchFamily="18" charset="0"/>
                                      </a:rPr>
                                      <m:t>2</m:t>
                                    </m:r>
                                  </m:sub>
                                </m:sSub>
                              </m:sub>
                            </m:sSub>
                            <m:r>
                              <a:rPr lang="en-US" altLang="zh-CN" sz="2600" i="1" dirty="0">
                                <a:solidFill>
                                  <a:prstClr val="black"/>
                                </a:solidFill>
                                <a:latin typeface="Cambria Math" panose="02040503050406030204" pitchFamily="18" charset="0"/>
                                <a:ea typeface="Cambria Math" panose="02040503050406030204" pitchFamily="18" charset="0"/>
                              </a:rPr>
                              <m:t>⋯</m:t>
                            </m:r>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𝐸</m:t>
                                </m:r>
                              </m:e>
                              <m: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b="0" i="1" dirty="0" smtClean="0">
                                        <a:solidFill>
                                          <a:prstClr val="black"/>
                                        </a:solidFill>
                                        <a:latin typeface="Cambria Math" panose="02040503050406030204" pitchFamily="18" charset="0"/>
                                      </a:rPr>
                                      <m:t>𝑛</m:t>
                                    </m:r>
                                  </m:sub>
                                </m:sSub>
                              </m:sub>
                            </m:sSub>
                          </m:e>
                        </m:d>
                      </m:e>
                    </m:nary>
                    <m:r>
                      <a:rPr lang="en-US" altLang="zh-CN" sz="2600" b="0" i="0" dirty="0" smtClean="0">
                        <a:solidFill>
                          <a:prstClr val="black"/>
                        </a:solidFill>
                        <a:latin typeface="Cambria Math" panose="02040503050406030204" pitchFamily="18" charset="0"/>
                      </a:rPr>
                      <m:t>,</m:t>
                    </m:r>
                  </m:oMath>
                </a14:m>
                <a:r>
                  <a:rPr lang="en-US" altLang="zh-CN" sz="2800" dirty="0">
                    <a:latin typeface="Times New Roman" panose="02020603050405020304" pitchFamily="18" charset="0"/>
                  </a:rPr>
                  <a:t> it follows that</a:t>
                </a:r>
                <a:endParaRPr lang="en-US" altLang="zh-CN" sz="2800" dirty="0"/>
              </a:p>
              <a:p>
                <a:pPr algn="l"/>
                <a14:m>
                  <m:oMathPara xmlns:m="http://schemas.openxmlformats.org/officeDocument/2006/math">
                    <m:oMathParaPr>
                      <m:jc m:val="centerGroup"/>
                    </m:oMathParaPr>
                    <m:oMath xmlns:m="http://schemas.openxmlformats.org/officeDocument/2006/math">
                      <m:nary>
                        <m:naryPr>
                          <m:chr m:val="∑"/>
                          <m:supHide m:val="on"/>
                          <m:ctrlPr>
                            <a:rPr lang="en-US" altLang="zh-CN" sz="2600" i="1" dirty="0">
                              <a:solidFill>
                                <a:prstClr val="black"/>
                              </a:solidFill>
                              <a:latin typeface="Cambria Math" panose="02040503050406030204" pitchFamily="18" charset="0"/>
                            </a:rPr>
                          </m:ctrlPr>
                        </m:naryPr>
                        <m:sub>
                          <m:sSub>
                            <m:sSubPr>
                              <m:ctrlPr>
                                <a:rPr lang="en-US" altLang="zh-CN" sz="2600" i="1" dirty="0">
                                  <a:solidFill>
                                    <a:prstClr val="black"/>
                                  </a:solidFill>
                                  <a:latin typeface="Cambria Math" panose="02040503050406030204" pitchFamily="18" charset="0"/>
                                </a:rPr>
                              </m:ctrlPr>
                            </m:sSubPr>
                            <m:e>
                              <m:r>
                                <m:rPr>
                                  <m:brk m:alnAt="7"/>
                                </m:rPr>
                                <a:rPr lang="en-US" altLang="zh-CN" sz="2600" i="1" dirty="0">
                                  <a:solidFill>
                                    <a:prstClr val="black"/>
                                  </a:solidFill>
                                  <a:latin typeface="Cambria Math" panose="02040503050406030204" pitchFamily="18" charset="0"/>
                                </a:rPr>
                                <m:t>𝑖</m:t>
                              </m:r>
                            </m:e>
                            <m:sub>
                              <m:r>
                                <m:rPr>
                                  <m:brk m:alnAt="7"/>
                                </m:rPr>
                                <a:rPr lang="en-US" altLang="zh-CN" sz="2600" i="1" dirty="0">
                                  <a:solidFill>
                                    <a:prstClr val="black"/>
                                  </a:solidFill>
                                  <a:latin typeface="Cambria Math" panose="02040503050406030204" pitchFamily="18" charset="0"/>
                                </a:rPr>
                                <m:t>1</m:t>
                              </m:r>
                            </m:sub>
                          </m:sSub>
                          <m:r>
                            <m:rPr>
                              <m:brk m:alnAt="7"/>
                            </m:rPr>
                            <a:rPr lang="en-US" altLang="zh-CN" sz="2600" i="1" dirty="0">
                              <a:solidFill>
                                <a:prstClr val="black"/>
                              </a:solidFill>
                              <a:latin typeface="Cambria Math" panose="02040503050406030204" pitchFamily="18" charset="0"/>
                              <a:ea typeface="Cambria Math" panose="02040503050406030204" pitchFamily="18" charset="0"/>
                            </a:rPr>
                            <m:t>&lt;</m:t>
                          </m:r>
                          <m:sSub>
                            <m:sSubPr>
                              <m:ctrlPr>
                                <a:rPr lang="en-US" altLang="zh-CN" sz="2600" i="1" dirty="0">
                                  <a:solidFill>
                                    <a:prstClr val="black"/>
                                  </a:solidFill>
                                  <a:latin typeface="Cambria Math" panose="02040503050406030204" pitchFamily="18" charset="0"/>
                                  <a:ea typeface="Cambria Math" panose="02040503050406030204" pitchFamily="18" charset="0"/>
                                </a:rPr>
                              </m:ctrlPr>
                            </m:sSubPr>
                            <m:e>
                              <m:r>
                                <m:rPr>
                                  <m:brk m:alnAt="7"/>
                                </m:rPr>
                                <a:rPr lang="en-US" altLang="zh-CN" sz="2600" i="1" dirty="0">
                                  <a:solidFill>
                                    <a:prstClr val="black"/>
                                  </a:solidFill>
                                  <a:latin typeface="Cambria Math" panose="02040503050406030204" pitchFamily="18" charset="0"/>
                                  <a:ea typeface="Cambria Math" panose="02040503050406030204" pitchFamily="18" charset="0"/>
                                </a:rPr>
                                <m:t>𝑖</m:t>
                              </m:r>
                            </m:e>
                            <m:sub>
                              <m:r>
                                <m:rPr>
                                  <m:brk m:alnAt="7"/>
                                </m:rPr>
                                <a:rPr lang="en-US" altLang="zh-CN" sz="2600" i="1" dirty="0">
                                  <a:solidFill>
                                    <a:prstClr val="black"/>
                                  </a:solidFill>
                                  <a:latin typeface="Cambria Math" panose="02040503050406030204" pitchFamily="18" charset="0"/>
                                  <a:ea typeface="Cambria Math" panose="02040503050406030204" pitchFamily="18" charset="0"/>
                                </a:rPr>
                                <m:t>2</m:t>
                              </m:r>
                            </m:sub>
                          </m:sSub>
                          <m:r>
                            <a:rPr lang="en-US" altLang="zh-CN" sz="2600" i="1" dirty="0">
                              <a:solidFill>
                                <a:prstClr val="black"/>
                              </a:solidFill>
                              <a:latin typeface="Cambria Math" panose="02040503050406030204" pitchFamily="18" charset="0"/>
                              <a:ea typeface="Cambria Math" panose="02040503050406030204" pitchFamily="18" charset="0"/>
                            </a:rPr>
                            <m:t>&lt;⋯&lt;</m:t>
                          </m:r>
                          <m:sSub>
                            <m:sSubPr>
                              <m:ctrlPr>
                                <a:rPr lang="en-US" altLang="zh-CN" sz="2600" i="1" dirty="0">
                                  <a:solidFill>
                                    <a:prstClr val="black"/>
                                  </a:solidFill>
                                  <a:latin typeface="Cambria Math" panose="02040503050406030204" pitchFamily="18" charset="0"/>
                                  <a:ea typeface="Cambria Math" panose="02040503050406030204" pitchFamily="18" charset="0"/>
                                </a:rPr>
                              </m:ctrlPr>
                            </m:sSubPr>
                            <m:e>
                              <m:r>
                                <a:rPr lang="en-US" altLang="zh-CN" sz="2600" i="1" dirty="0">
                                  <a:solidFill>
                                    <a:prstClr val="black"/>
                                  </a:solidFill>
                                  <a:latin typeface="Cambria Math" panose="02040503050406030204" pitchFamily="18" charset="0"/>
                                  <a:ea typeface="Cambria Math" panose="02040503050406030204" pitchFamily="18" charset="0"/>
                                </a:rPr>
                                <m:t>𝑖</m:t>
                              </m:r>
                            </m:e>
                            <m:sub>
                              <m:r>
                                <a:rPr lang="en-US" altLang="zh-CN" sz="2600" b="0" i="1" dirty="0" smtClean="0">
                                  <a:solidFill>
                                    <a:prstClr val="black"/>
                                  </a:solidFill>
                                  <a:latin typeface="Cambria Math" panose="02040503050406030204" pitchFamily="18" charset="0"/>
                                  <a:ea typeface="Cambria Math" panose="02040503050406030204" pitchFamily="18" charset="0"/>
                                </a:rPr>
                                <m:t>𝑛</m:t>
                              </m:r>
                            </m:sub>
                          </m:sSub>
                        </m:sub>
                        <m:sup/>
                        <m:e>
                          <m:r>
                            <a:rPr lang="en-US" altLang="zh-CN" sz="2600" i="1" dirty="0">
                              <a:solidFill>
                                <a:prstClr val="black"/>
                              </a:solidFill>
                              <a:latin typeface="Cambria Math" panose="02040503050406030204" pitchFamily="18" charset="0"/>
                            </a:rPr>
                            <m:t>𝑃</m:t>
                          </m:r>
                          <m:d>
                            <m:dPr>
                              <m:ctrlPr>
                                <a:rPr lang="en-US" altLang="zh-CN" sz="2600" i="1" dirty="0">
                                  <a:solidFill>
                                    <a:prstClr val="black"/>
                                  </a:solidFill>
                                  <a:latin typeface="Cambria Math" panose="02040503050406030204" pitchFamily="18" charset="0"/>
                                </a:rPr>
                              </m:ctrlPr>
                            </m:dPr>
                            <m:e>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𝐸</m:t>
                                  </m:r>
                                </m:e>
                                <m: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i="1" dirty="0">
                                          <a:solidFill>
                                            <a:prstClr val="black"/>
                                          </a:solidFill>
                                          <a:latin typeface="Cambria Math" panose="02040503050406030204" pitchFamily="18" charset="0"/>
                                        </a:rPr>
                                        <m:t>1</m:t>
                                      </m:r>
                                    </m:sub>
                                  </m:sSub>
                                </m:sub>
                              </m:s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𝐸</m:t>
                                  </m:r>
                                </m:e>
                                <m: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i="1" dirty="0">
                                          <a:solidFill>
                                            <a:prstClr val="black"/>
                                          </a:solidFill>
                                          <a:latin typeface="Cambria Math" panose="02040503050406030204" pitchFamily="18" charset="0"/>
                                        </a:rPr>
                                        <m:t>2</m:t>
                                      </m:r>
                                    </m:sub>
                                  </m:sSub>
                                </m:sub>
                              </m:sSub>
                              <m:r>
                                <a:rPr lang="en-US" altLang="zh-CN" sz="2600" i="1" dirty="0">
                                  <a:solidFill>
                                    <a:prstClr val="black"/>
                                  </a:solidFill>
                                  <a:latin typeface="Cambria Math" panose="02040503050406030204" pitchFamily="18" charset="0"/>
                                  <a:ea typeface="Cambria Math" panose="02040503050406030204" pitchFamily="18" charset="0"/>
                                </a:rPr>
                                <m:t>⋯</m:t>
                              </m:r>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𝐸</m:t>
                                  </m:r>
                                </m:e>
                                <m:sub>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𝑖</m:t>
                                      </m:r>
                                    </m:e>
                                    <m:sub>
                                      <m:r>
                                        <a:rPr lang="en-US" altLang="zh-CN" sz="2600" b="0" i="1" dirty="0" smtClean="0">
                                          <a:solidFill>
                                            <a:prstClr val="black"/>
                                          </a:solidFill>
                                          <a:latin typeface="Cambria Math" panose="02040503050406030204" pitchFamily="18" charset="0"/>
                                        </a:rPr>
                                        <m:t>𝑛</m:t>
                                      </m:r>
                                    </m:sub>
                                  </m:sSub>
                                </m:sub>
                              </m:sSub>
                            </m:e>
                          </m:d>
                        </m:e>
                      </m:nary>
                      <m:r>
                        <a:rPr lang="en-US" altLang="zh-CN" sz="2600" b="0" i="1" dirty="0" smtClean="0">
                          <a:solidFill>
                            <a:prstClr val="black"/>
                          </a:solidFill>
                          <a:latin typeface="Cambria Math" panose="02040503050406030204" pitchFamily="18" charset="0"/>
                        </a:rPr>
                        <m:t>=</m:t>
                      </m:r>
                      <m:d>
                        <m:dPr>
                          <m:ctrlPr>
                            <a:rPr lang="en-US" altLang="zh-CN" sz="2800" i="1" dirty="0">
                              <a:solidFill>
                                <a:prstClr val="black"/>
                              </a:solidFill>
                              <a:latin typeface="Cambria Math" panose="02040503050406030204" pitchFamily="18" charset="0"/>
                            </a:rPr>
                          </m:ctrlPr>
                        </m:dPr>
                        <m:e>
                          <m:m>
                            <m:mPr>
                              <m:mcs>
                                <m:mc>
                                  <m:mcPr>
                                    <m:count m:val="1"/>
                                    <m:mcJc m:val="center"/>
                                  </m:mcPr>
                                </m:mc>
                              </m:mcs>
                              <m:ctrlPr>
                                <a:rPr lang="en-US" altLang="zh-CN" sz="2800" i="1" dirty="0">
                                  <a:solidFill>
                                    <a:prstClr val="black"/>
                                  </a:solidFill>
                                  <a:latin typeface="Cambria Math" panose="02040503050406030204" pitchFamily="18" charset="0"/>
                                </a:rPr>
                              </m:ctrlPr>
                            </m:mPr>
                            <m:mr>
                              <m:e>
                                <m:r>
                                  <a:rPr lang="en-US" altLang="zh-CN" sz="2800" i="1" dirty="0">
                                    <a:solidFill>
                                      <a:prstClr val="black"/>
                                    </a:solidFill>
                                    <a:latin typeface="Cambria Math" panose="02040503050406030204" pitchFamily="18" charset="0"/>
                                  </a:rPr>
                                  <m:t>𝑁</m:t>
                                </m:r>
                              </m:e>
                            </m:mr>
                            <m:mr>
                              <m:e>
                                <m:r>
                                  <a:rPr lang="en-US" altLang="zh-CN" sz="2800" i="1" dirty="0">
                                    <a:solidFill>
                                      <a:prstClr val="black"/>
                                    </a:solidFill>
                                    <a:latin typeface="Cambria Math" panose="02040503050406030204" pitchFamily="18" charset="0"/>
                                  </a:rPr>
                                  <m:t>𝑛</m:t>
                                </m:r>
                              </m:e>
                            </m:mr>
                          </m:m>
                        </m:e>
                      </m:d>
                      <m:f>
                        <m:fPr>
                          <m:ctrlPr>
                            <a:rPr lang="en-US" altLang="zh-CN" sz="2800" i="1" dirty="0">
                              <a:solidFill>
                                <a:prstClr val="black"/>
                              </a:solidFill>
                              <a:latin typeface="Cambria Math" panose="02040503050406030204" pitchFamily="18" charset="0"/>
                            </a:rPr>
                          </m:ctrlPr>
                        </m:fPr>
                        <m:num>
                          <m:r>
                            <a:rPr lang="en-US" altLang="zh-CN" sz="2800" i="1" dirty="0">
                              <a:solidFill>
                                <a:prstClr val="black"/>
                              </a:solidFill>
                              <a:latin typeface="Cambria Math" panose="02040503050406030204" pitchFamily="18" charset="0"/>
                            </a:rPr>
                            <m:t>(</m:t>
                          </m:r>
                          <m:r>
                            <a:rPr lang="en-US" altLang="zh-CN" sz="2800" i="1" dirty="0">
                              <a:solidFill>
                                <a:prstClr val="black"/>
                              </a:solidFill>
                              <a:latin typeface="Cambria Math" panose="02040503050406030204" pitchFamily="18" charset="0"/>
                            </a:rPr>
                            <m:t>𝑁</m:t>
                          </m:r>
                          <m:r>
                            <a:rPr lang="en-US" altLang="zh-CN" sz="2800" i="1" dirty="0">
                              <a:solidFill>
                                <a:prstClr val="black"/>
                              </a:solidFill>
                              <a:latin typeface="Cambria Math" panose="02040503050406030204" pitchFamily="18" charset="0"/>
                            </a:rPr>
                            <m:t>−</m:t>
                          </m:r>
                          <m:r>
                            <a:rPr lang="en-US" altLang="zh-CN" sz="2800" i="1" dirty="0">
                              <a:solidFill>
                                <a:prstClr val="black"/>
                              </a:solidFill>
                              <a:latin typeface="Cambria Math" panose="02040503050406030204" pitchFamily="18" charset="0"/>
                            </a:rPr>
                            <m:t>𝑛</m:t>
                          </m:r>
                          <m:r>
                            <a:rPr lang="en-US" altLang="zh-CN" sz="2800" i="1" dirty="0">
                              <a:solidFill>
                                <a:prstClr val="black"/>
                              </a:solidFill>
                              <a:latin typeface="Cambria Math" panose="02040503050406030204" pitchFamily="18" charset="0"/>
                            </a:rPr>
                            <m:t>)!</m:t>
                          </m:r>
                        </m:num>
                        <m:den>
                          <m:r>
                            <a:rPr lang="en-US" altLang="zh-CN" sz="2800" i="1" dirty="0">
                              <a:solidFill>
                                <a:prstClr val="black"/>
                              </a:solidFill>
                              <a:latin typeface="Cambria Math" panose="02040503050406030204" pitchFamily="18" charset="0"/>
                            </a:rPr>
                            <m:t>𝑁</m:t>
                          </m:r>
                          <m:r>
                            <a:rPr lang="en-US" altLang="zh-CN" sz="2800" i="1" dirty="0">
                              <a:solidFill>
                                <a:prstClr val="black"/>
                              </a:solidFill>
                              <a:latin typeface="Cambria Math" panose="02040503050406030204" pitchFamily="18" charset="0"/>
                            </a:rPr>
                            <m:t>!</m:t>
                          </m:r>
                        </m:den>
                      </m:f>
                      <m:r>
                        <a:rPr lang="en-US" altLang="zh-CN" sz="2800" b="0" i="1" dirty="0" smtClean="0">
                          <a:solidFill>
                            <a:prstClr val="black"/>
                          </a:solidFill>
                          <a:latin typeface="Cambria Math" panose="02040503050406030204" pitchFamily="18" charset="0"/>
                        </a:rPr>
                        <m:t>=</m:t>
                      </m:r>
                      <m:f>
                        <m:fPr>
                          <m:ctrlPr>
                            <a:rPr lang="en-US" altLang="zh-CN" sz="2800" i="1" dirty="0">
                              <a:solidFill>
                                <a:prstClr val="black"/>
                              </a:solidFill>
                              <a:latin typeface="Cambria Math" panose="02040503050406030204" pitchFamily="18" charset="0"/>
                            </a:rPr>
                          </m:ctrlPr>
                        </m:fPr>
                        <m:num>
                          <m:r>
                            <a:rPr lang="en-US" altLang="zh-CN" sz="2800" i="1" dirty="0">
                              <a:solidFill>
                                <a:prstClr val="black"/>
                              </a:solidFill>
                              <a:latin typeface="Cambria Math" panose="02040503050406030204" pitchFamily="18" charset="0"/>
                            </a:rPr>
                            <m:t>𝑁</m:t>
                          </m:r>
                          <m:r>
                            <a:rPr lang="en-US" altLang="zh-CN" sz="2800" b="0" i="1" dirty="0" smtClean="0">
                              <a:solidFill>
                                <a:prstClr val="black"/>
                              </a:solidFill>
                              <a:latin typeface="Cambria Math" panose="02040503050406030204" pitchFamily="18" charset="0"/>
                            </a:rPr>
                            <m:t>!</m:t>
                          </m:r>
                        </m:num>
                        <m:den>
                          <m:r>
                            <a:rPr lang="en-US" altLang="zh-CN" sz="2800" i="1" dirty="0">
                              <a:solidFill>
                                <a:prstClr val="black"/>
                              </a:solidFill>
                              <a:latin typeface="Cambria Math" panose="02040503050406030204" pitchFamily="18" charset="0"/>
                            </a:rPr>
                            <m:t>(</m:t>
                          </m:r>
                          <m:r>
                            <a:rPr lang="en-US" altLang="zh-CN" sz="2800" i="1" dirty="0">
                              <a:solidFill>
                                <a:prstClr val="black"/>
                              </a:solidFill>
                              <a:latin typeface="Cambria Math" panose="02040503050406030204" pitchFamily="18" charset="0"/>
                            </a:rPr>
                            <m:t>𝑁</m:t>
                          </m:r>
                          <m:r>
                            <a:rPr lang="en-US" altLang="zh-CN" sz="2800" i="1" dirty="0">
                              <a:solidFill>
                                <a:prstClr val="black"/>
                              </a:solidFill>
                              <a:latin typeface="Cambria Math" panose="02040503050406030204" pitchFamily="18" charset="0"/>
                            </a:rPr>
                            <m:t>−</m:t>
                          </m:r>
                          <m:r>
                            <a:rPr lang="en-US" altLang="zh-CN" sz="2800" i="1" dirty="0">
                              <a:solidFill>
                                <a:prstClr val="black"/>
                              </a:solidFill>
                              <a:latin typeface="Cambria Math" panose="02040503050406030204" pitchFamily="18" charset="0"/>
                            </a:rPr>
                            <m:t>𝑛</m:t>
                          </m:r>
                          <m:r>
                            <a:rPr lang="en-US" altLang="zh-CN" sz="2800" i="1" dirty="0">
                              <a:solidFill>
                                <a:prstClr val="black"/>
                              </a:solidFill>
                              <a:latin typeface="Cambria Math" panose="02040503050406030204" pitchFamily="18" charset="0"/>
                            </a:rPr>
                            <m:t>)!</m:t>
                          </m:r>
                          <m:r>
                            <a:rPr lang="en-US" altLang="zh-CN" sz="2800" b="0" i="1" dirty="0" smtClean="0">
                              <a:solidFill>
                                <a:prstClr val="black"/>
                              </a:solidFill>
                              <a:latin typeface="Cambria Math" panose="02040503050406030204" pitchFamily="18" charset="0"/>
                            </a:rPr>
                            <m:t>𝑛</m:t>
                          </m:r>
                          <m:r>
                            <a:rPr lang="en-US" altLang="zh-CN" sz="2800" i="1" dirty="0">
                              <a:solidFill>
                                <a:prstClr val="black"/>
                              </a:solidFill>
                              <a:latin typeface="Cambria Math" panose="02040503050406030204" pitchFamily="18" charset="0"/>
                            </a:rPr>
                            <m:t>!</m:t>
                          </m:r>
                        </m:den>
                      </m:f>
                      <m:f>
                        <m:fPr>
                          <m:ctrlPr>
                            <a:rPr lang="en-US" altLang="zh-CN" sz="2800" i="1" dirty="0">
                              <a:solidFill>
                                <a:prstClr val="black"/>
                              </a:solidFill>
                              <a:latin typeface="Cambria Math" panose="02040503050406030204" pitchFamily="18" charset="0"/>
                            </a:rPr>
                          </m:ctrlPr>
                        </m:fPr>
                        <m:num>
                          <m:r>
                            <a:rPr lang="en-US" altLang="zh-CN" sz="2800" i="1" dirty="0">
                              <a:solidFill>
                                <a:prstClr val="black"/>
                              </a:solidFill>
                              <a:latin typeface="Cambria Math" panose="02040503050406030204" pitchFamily="18" charset="0"/>
                            </a:rPr>
                            <m:t>(</m:t>
                          </m:r>
                          <m:r>
                            <a:rPr lang="en-US" altLang="zh-CN" sz="2800" i="1" dirty="0">
                              <a:solidFill>
                                <a:prstClr val="black"/>
                              </a:solidFill>
                              <a:latin typeface="Cambria Math" panose="02040503050406030204" pitchFamily="18" charset="0"/>
                            </a:rPr>
                            <m:t>𝑁</m:t>
                          </m:r>
                          <m:r>
                            <a:rPr lang="en-US" altLang="zh-CN" sz="2800" i="1" dirty="0">
                              <a:solidFill>
                                <a:prstClr val="black"/>
                              </a:solidFill>
                              <a:latin typeface="Cambria Math" panose="02040503050406030204" pitchFamily="18" charset="0"/>
                            </a:rPr>
                            <m:t>−</m:t>
                          </m:r>
                          <m:r>
                            <a:rPr lang="en-US" altLang="zh-CN" sz="2800" i="1" dirty="0">
                              <a:solidFill>
                                <a:prstClr val="black"/>
                              </a:solidFill>
                              <a:latin typeface="Cambria Math" panose="02040503050406030204" pitchFamily="18" charset="0"/>
                            </a:rPr>
                            <m:t>𝑛</m:t>
                          </m:r>
                          <m:r>
                            <a:rPr lang="en-US" altLang="zh-CN" sz="2800" i="1" dirty="0">
                              <a:solidFill>
                                <a:prstClr val="black"/>
                              </a:solidFill>
                              <a:latin typeface="Cambria Math" panose="02040503050406030204" pitchFamily="18" charset="0"/>
                            </a:rPr>
                            <m:t>)!</m:t>
                          </m:r>
                        </m:num>
                        <m:den>
                          <m:r>
                            <a:rPr lang="en-US" altLang="zh-CN" sz="2800" i="1" dirty="0">
                              <a:solidFill>
                                <a:prstClr val="black"/>
                              </a:solidFill>
                              <a:latin typeface="Cambria Math" panose="02040503050406030204" pitchFamily="18" charset="0"/>
                            </a:rPr>
                            <m:t>𝑁</m:t>
                          </m:r>
                          <m:r>
                            <a:rPr lang="en-US" altLang="zh-CN" sz="2800" i="1" dirty="0">
                              <a:solidFill>
                                <a:prstClr val="black"/>
                              </a:solidFill>
                              <a:latin typeface="Cambria Math" panose="02040503050406030204" pitchFamily="18" charset="0"/>
                            </a:rPr>
                            <m:t>!</m:t>
                          </m:r>
                        </m:den>
                      </m:f>
                      <m:r>
                        <a:rPr lang="en-US" altLang="zh-CN" sz="2800" b="0" i="1" dirty="0" smtClean="0">
                          <a:solidFill>
                            <a:prstClr val="black"/>
                          </a:solidFill>
                          <a:latin typeface="Cambria Math" panose="02040503050406030204" pitchFamily="18" charset="0"/>
                        </a:rPr>
                        <m:t>=</m:t>
                      </m:r>
                      <m:f>
                        <m:fPr>
                          <m:ctrlPr>
                            <a:rPr lang="en-US" altLang="zh-CN" sz="2800" i="1" dirty="0">
                              <a:solidFill>
                                <a:prstClr val="black"/>
                              </a:solidFill>
                              <a:latin typeface="Cambria Math" panose="02040503050406030204" pitchFamily="18" charset="0"/>
                            </a:rPr>
                          </m:ctrlPr>
                        </m:fPr>
                        <m:num>
                          <m:r>
                            <a:rPr lang="en-US" altLang="zh-CN" sz="2800" b="0" i="1" dirty="0" smtClean="0">
                              <a:solidFill>
                                <a:prstClr val="black"/>
                              </a:solidFill>
                              <a:latin typeface="Cambria Math" panose="02040503050406030204" pitchFamily="18" charset="0"/>
                            </a:rPr>
                            <m:t>1</m:t>
                          </m:r>
                        </m:num>
                        <m:den>
                          <m:r>
                            <a:rPr lang="en-US" altLang="zh-CN" sz="2800" i="1" dirty="0">
                              <a:solidFill>
                                <a:prstClr val="black"/>
                              </a:solidFill>
                              <a:latin typeface="Cambria Math" panose="02040503050406030204" pitchFamily="18" charset="0"/>
                            </a:rPr>
                            <m:t>𝑛</m:t>
                          </m:r>
                          <m:r>
                            <a:rPr lang="en-US" altLang="zh-CN" sz="2800" i="1" dirty="0">
                              <a:solidFill>
                                <a:prstClr val="black"/>
                              </a:solidFill>
                              <a:latin typeface="Cambria Math" panose="02040503050406030204" pitchFamily="18" charset="0"/>
                            </a:rPr>
                            <m:t>!</m:t>
                          </m:r>
                        </m:den>
                      </m:f>
                    </m:oMath>
                  </m:oMathPara>
                </a14:m>
                <a:endParaRPr lang="en-US" altLang="zh-CN" sz="2800" dirty="0"/>
              </a:p>
              <a:p>
                <a:pPr algn="l"/>
                <a:endParaRPr lang="en-US" altLang="zh-CN" sz="3200" dirty="0"/>
              </a:p>
              <a:p>
                <a:pPr algn="l"/>
                <a:endParaRPr lang="en-US" altLang="zh-CN" dirty="0"/>
              </a:p>
              <a:p>
                <a:pPr algn="l"/>
                <a:endParaRPr lang="en-US" altLang="zh-CN" dirty="0"/>
              </a:p>
              <a:p>
                <a:pPr algn="l"/>
                <a:endParaRPr lang="en-US" altLang="zh-CN" dirty="0"/>
              </a:p>
              <a:p>
                <a:pPr algn="l"/>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1022" y="1198881"/>
                <a:ext cx="11945784" cy="5610240"/>
              </a:xfrm>
              <a:blipFill>
                <a:blip r:embed="rId3"/>
                <a:stretch>
                  <a:fillRect l="-1020" t="-1848" r="-148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281106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1022" y="1198881"/>
                <a:ext cx="11945784" cy="5610240"/>
              </a:xfrm>
            </p:spPr>
            <p:txBody>
              <a:bodyPr>
                <a:normAutofit/>
              </a:bodyPr>
              <a:lstStyle/>
              <a:p>
                <a:pPr algn="l">
                  <a:lnSpc>
                    <a:spcPct val="100000"/>
                  </a:lnSpc>
                </a:pPr>
                <a:r>
                  <a:rPr lang="en-US" altLang="zh-CN" sz="2800" dirty="0"/>
                  <a:t>Thus,</a:t>
                </a:r>
              </a:p>
              <a:p>
                <a:pPr algn="l">
                  <a:lnSpc>
                    <a:spcPct val="100000"/>
                  </a:lnSpc>
                </a:pPr>
                <a14:m>
                  <m:oMathPara xmlns:m="http://schemas.openxmlformats.org/officeDocument/2006/math">
                    <m:oMathParaPr>
                      <m:jc m:val="centerGroup"/>
                    </m:oMathParaPr>
                    <m:oMath xmlns:m="http://schemas.openxmlformats.org/officeDocument/2006/math">
                      <m:r>
                        <a:rPr lang="en-US" altLang="zh-CN" sz="2600" i="1" dirty="0">
                          <a:solidFill>
                            <a:prstClr val="black"/>
                          </a:solidFill>
                          <a:latin typeface="Cambria Math" panose="02040503050406030204" pitchFamily="18" charset="0"/>
                        </a:rPr>
                        <m:t>𝑃</m:t>
                      </m:r>
                      <m:d>
                        <m:dPr>
                          <m:ctrlPr>
                            <a:rPr lang="en-US" altLang="zh-CN" sz="2600" i="1" dirty="0">
                              <a:solidFill>
                                <a:prstClr val="black"/>
                              </a:solidFill>
                              <a:latin typeface="Cambria Math" panose="02040503050406030204" pitchFamily="18" charset="0"/>
                            </a:rPr>
                          </m:ctrlPr>
                        </m:dPr>
                        <m:e>
                          <m:nary>
                            <m:naryPr>
                              <m:chr m:val="⋃"/>
                              <m:ctrlPr>
                                <a:rPr lang="en-US" altLang="zh-CN" sz="2600" i="1" dirty="0">
                                  <a:solidFill>
                                    <a:prstClr val="black"/>
                                  </a:solidFill>
                                  <a:latin typeface="Cambria Math" panose="02040503050406030204" pitchFamily="18" charset="0"/>
                                </a:rPr>
                              </m:ctrlPr>
                            </m:naryPr>
                            <m:sub>
                              <m:r>
                                <m:rPr>
                                  <m:brk m:alnAt="23"/>
                                </m:rPr>
                                <a:rPr lang="en-US" altLang="zh-CN" sz="2600" i="1" dirty="0">
                                  <a:solidFill>
                                    <a:prstClr val="black"/>
                                  </a:solidFill>
                                  <a:latin typeface="Cambria Math" panose="02040503050406030204" pitchFamily="18" charset="0"/>
                                </a:rPr>
                                <m:t>𝑖</m:t>
                              </m:r>
                              <m:r>
                                <a:rPr lang="en-US" altLang="zh-CN" sz="2600" i="1" dirty="0">
                                  <a:solidFill>
                                    <a:prstClr val="black"/>
                                  </a:solidFill>
                                  <a:latin typeface="Cambria Math" panose="02040503050406030204" pitchFamily="18" charset="0"/>
                                </a:rPr>
                                <m:t>=1</m:t>
                              </m:r>
                            </m:sub>
                            <m:sup>
                              <m:r>
                                <a:rPr lang="en-US" altLang="zh-CN" sz="2600" i="1" dirty="0">
                                  <a:solidFill>
                                    <a:prstClr val="black"/>
                                  </a:solidFill>
                                  <a:latin typeface="Cambria Math" panose="02040503050406030204" pitchFamily="18" charset="0"/>
                                </a:rPr>
                                <m:t>𝑁</m:t>
                              </m:r>
                            </m:sup>
                            <m:e>
                              <m:sSub>
                                <m:sSubPr>
                                  <m:ctrlPr>
                                    <a:rPr lang="en-US" altLang="zh-CN" sz="2600" i="1" dirty="0">
                                      <a:solidFill>
                                        <a:prstClr val="black"/>
                                      </a:solidFill>
                                      <a:latin typeface="Cambria Math" panose="02040503050406030204" pitchFamily="18" charset="0"/>
                                    </a:rPr>
                                  </m:ctrlPr>
                                </m:sSubPr>
                                <m:e>
                                  <m:r>
                                    <a:rPr lang="en-US" altLang="zh-CN" sz="2600" i="1" dirty="0">
                                      <a:solidFill>
                                        <a:prstClr val="black"/>
                                      </a:solidFill>
                                      <a:latin typeface="Cambria Math" panose="02040503050406030204" pitchFamily="18" charset="0"/>
                                    </a:rPr>
                                    <m:t>𝐸</m:t>
                                  </m:r>
                                </m:e>
                                <m:sub>
                                  <m:r>
                                    <a:rPr lang="en-US" altLang="zh-CN" sz="2600" i="1" dirty="0">
                                      <a:solidFill>
                                        <a:prstClr val="black"/>
                                      </a:solidFill>
                                      <a:latin typeface="Cambria Math" panose="02040503050406030204" pitchFamily="18" charset="0"/>
                                    </a:rPr>
                                    <m:t>𝑖</m:t>
                                  </m:r>
                                </m:sub>
                              </m:sSub>
                            </m:e>
                          </m:nary>
                        </m:e>
                      </m:d>
                      <m:r>
                        <a:rPr lang="en-US" altLang="zh-CN" sz="2600" i="1" dirty="0">
                          <a:solidFill>
                            <a:prstClr val="black"/>
                          </a:solidFill>
                          <a:latin typeface="Cambria Math" panose="02040503050406030204" pitchFamily="18" charset="0"/>
                        </a:rPr>
                        <m:t>=</m:t>
                      </m:r>
                      <m:r>
                        <a:rPr lang="en-US" altLang="zh-CN" sz="2600" b="0" i="1" dirty="0" smtClean="0">
                          <a:solidFill>
                            <a:prstClr val="black"/>
                          </a:solidFill>
                          <a:latin typeface="Cambria Math" panose="02040503050406030204" pitchFamily="18" charset="0"/>
                        </a:rPr>
                        <m:t>1</m:t>
                      </m:r>
                      <m:r>
                        <a:rPr lang="en-US" altLang="zh-CN" sz="2800" b="0" i="1" dirty="0" smtClean="0">
                          <a:latin typeface="Cambria Math" panose="02040503050406030204" pitchFamily="18" charset="0"/>
                        </a:rPr>
                        <m:t>−</m:t>
                      </m:r>
                      <m:f>
                        <m:fPr>
                          <m:ctrlPr>
                            <a:rPr lang="en-US" altLang="zh-CN" sz="2800" b="0" i="1" dirty="0" smtClean="0">
                              <a:latin typeface="Cambria Math" panose="02040503050406030204" pitchFamily="18" charset="0"/>
                            </a:rPr>
                          </m:ctrlPr>
                        </m:fPr>
                        <m:num>
                          <m:r>
                            <a:rPr lang="en-US" altLang="zh-CN" sz="2800" i="1" dirty="0" smtClean="0">
                              <a:latin typeface="Cambria Math" panose="02040503050406030204" pitchFamily="18" charset="0"/>
                            </a:rPr>
                            <m:t>1</m:t>
                          </m:r>
                        </m:num>
                        <m:den>
                          <m:r>
                            <a:rPr lang="en-US" altLang="zh-CN" sz="2800" b="0" i="1" dirty="0" smtClean="0">
                              <a:latin typeface="Cambria Math" panose="02040503050406030204" pitchFamily="18" charset="0"/>
                            </a:rPr>
                            <m:t>2</m:t>
                          </m:r>
                        </m:den>
                      </m:f>
                      <m:r>
                        <a:rPr lang="en-US" altLang="zh-CN" sz="2800" i="1" dirty="0" smtClean="0">
                          <a:latin typeface="Cambria Math" panose="02040503050406030204" pitchFamily="18" charset="0"/>
                        </a:rPr>
                        <m:t> +</m:t>
                      </m:r>
                      <m:f>
                        <m:fPr>
                          <m:ctrlPr>
                            <a:rPr lang="en-US" altLang="zh-CN" sz="2800" b="0" i="1" dirty="0" smtClean="0">
                              <a:latin typeface="Cambria Math" panose="02040503050406030204" pitchFamily="18" charset="0"/>
                            </a:rPr>
                          </m:ctrlPr>
                        </m:fPr>
                        <m:num>
                          <m:r>
                            <a:rPr lang="en-US" altLang="zh-CN" sz="2800" i="1" dirty="0" smtClean="0">
                              <a:latin typeface="Cambria Math" panose="02040503050406030204" pitchFamily="18" charset="0"/>
                            </a:rPr>
                            <m:t>1</m:t>
                          </m:r>
                        </m:num>
                        <m:den>
                          <m:r>
                            <a:rPr lang="en-US" altLang="zh-CN" sz="2800" b="0" i="1" dirty="0" smtClean="0">
                              <a:latin typeface="Cambria Math" panose="02040503050406030204" pitchFamily="18" charset="0"/>
                            </a:rPr>
                            <m:t>3!</m:t>
                          </m:r>
                        </m:den>
                      </m:f>
                      <m:r>
                        <a:rPr lang="en-US" altLang="zh-CN" sz="2800" i="1" dirty="0" smtClean="0">
                          <a:latin typeface="Cambria Math" panose="02040503050406030204" pitchFamily="18" charset="0"/>
                        </a:rPr>
                        <m:t> −…+</m:t>
                      </m:r>
                      <m:sSup>
                        <m:sSupPr>
                          <m:ctrlPr>
                            <a:rPr lang="en-US" altLang="zh-CN" sz="2800" i="1" dirty="0">
                              <a:latin typeface="Cambria Math" panose="02040503050406030204" pitchFamily="18" charset="0"/>
                            </a:rPr>
                          </m:ctrlPr>
                        </m:sSupPr>
                        <m:e>
                          <m:d>
                            <m:dPr>
                              <m:ctrlPr>
                                <a:rPr lang="en-US" altLang="zh-CN" sz="2800" i="1" dirty="0">
                                  <a:latin typeface="Cambria Math" panose="02040503050406030204" pitchFamily="18" charset="0"/>
                                </a:rPr>
                              </m:ctrlPr>
                            </m:dPr>
                            <m:e>
                              <m:r>
                                <a:rPr lang="en-US" altLang="zh-CN" sz="2800" i="1" dirty="0">
                                  <a:latin typeface="Cambria Math" panose="02040503050406030204" pitchFamily="18" charset="0"/>
                                </a:rPr>
                                <m:t>−1</m:t>
                              </m:r>
                            </m:e>
                          </m:d>
                        </m:e>
                        <m:sup>
                          <m:r>
                            <a:rPr lang="en-US" altLang="zh-CN" sz="2800" i="1" dirty="0">
                              <a:latin typeface="Cambria Math" panose="02040503050406030204" pitchFamily="18" charset="0"/>
                            </a:rPr>
                            <m:t>𝑁</m:t>
                          </m:r>
                          <m:r>
                            <a:rPr lang="en-US" altLang="zh-CN" sz="2800" i="1" dirty="0">
                              <a:latin typeface="Cambria Math" panose="02040503050406030204" pitchFamily="18" charset="0"/>
                            </a:rPr>
                            <m:t>+1</m:t>
                          </m:r>
                        </m:sup>
                      </m:sSup>
                      <m:f>
                        <m:fPr>
                          <m:ctrlPr>
                            <a:rPr lang="en-US" altLang="zh-CN" sz="2800" b="0" i="1" dirty="0" smtClean="0">
                              <a:latin typeface="Cambria Math" panose="02040503050406030204" pitchFamily="18" charset="0"/>
                            </a:rPr>
                          </m:ctrlPr>
                        </m:fPr>
                        <m:num>
                          <m:r>
                            <a:rPr lang="en-US" altLang="zh-CN" sz="2800" b="0" i="1" dirty="0" smtClean="0">
                              <a:latin typeface="Cambria Math" panose="02040503050406030204" pitchFamily="18" charset="0"/>
                            </a:rPr>
                            <m:t>1</m:t>
                          </m:r>
                        </m:num>
                        <m:den>
                          <m:r>
                            <a:rPr lang="en-US" altLang="zh-CN" sz="2800" b="0" i="1" dirty="0" smtClean="0">
                              <a:latin typeface="Cambria Math" panose="02040503050406030204" pitchFamily="18" charset="0"/>
                            </a:rPr>
                            <m:t>𝑁</m:t>
                          </m:r>
                          <m:r>
                            <a:rPr lang="en-US" altLang="zh-CN" sz="2800" b="0" i="1" dirty="0" smtClean="0">
                              <a:latin typeface="Cambria Math" panose="02040503050406030204" pitchFamily="18" charset="0"/>
                            </a:rPr>
                            <m:t>!</m:t>
                          </m:r>
                        </m:den>
                      </m:f>
                    </m:oMath>
                  </m:oMathPara>
                </a14:m>
                <a:endParaRPr lang="en-US" altLang="zh-CN" sz="2800" dirty="0"/>
              </a:p>
              <a:p>
                <a:pPr algn="l">
                  <a:lnSpc>
                    <a:spcPct val="100000"/>
                  </a:lnSpc>
                </a:pPr>
                <a:r>
                  <a:rPr lang="en-US" altLang="zh-CN" sz="2800" dirty="0"/>
                  <a:t>Hence, the probability that none of the men selects his own hat is</a:t>
                </a:r>
              </a:p>
              <a:p>
                <a:pPr algn="l">
                  <a:lnSpc>
                    <a:spcPct val="100000"/>
                  </a:lnSpc>
                </a:pPr>
                <a:endParaRPr lang="en-US" altLang="zh-CN" sz="2800" dirty="0"/>
              </a:p>
              <a:p>
                <a:pPr algn="l"/>
                <a14:m>
                  <m:oMathPara xmlns:m="http://schemas.openxmlformats.org/officeDocument/2006/math">
                    <m:oMathParaPr>
                      <m:jc m:val="centerGroup"/>
                    </m:oMathParaPr>
                    <m:oMath xmlns:m="http://schemas.openxmlformats.org/officeDocument/2006/math">
                      <m:r>
                        <a:rPr lang="en-US" altLang="zh-CN" sz="2600" b="0" i="1" dirty="0" smtClean="0">
                          <a:solidFill>
                            <a:prstClr val="black"/>
                          </a:solidFill>
                          <a:latin typeface="Cambria Math" panose="02040503050406030204" pitchFamily="18" charset="0"/>
                        </a:rPr>
                        <m:t>1−</m:t>
                      </m:r>
                      <m:d>
                        <m:dPr>
                          <m:ctrlPr>
                            <a:rPr lang="en-US" altLang="zh-CN" sz="2600" b="0" i="1" dirty="0" smtClean="0">
                              <a:solidFill>
                                <a:prstClr val="black"/>
                              </a:solidFill>
                              <a:latin typeface="Cambria Math" panose="02040503050406030204" pitchFamily="18" charset="0"/>
                            </a:rPr>
                          </m:ctrlPr>
                        </m:dPr>
                        <m:e>
                          <m:r>
                            <a:rPr lang="en-US" altLang="zh-CN" sz="2600" i="1" dirty="0">
                              <a:solidFill>
                                <a:prstClr val="black"/>
                              </a:solidFill>
                              <a:latin typeface="Cambria Math" panose="02040503050406030204" pitchFamily="18" charset="0"/>
                            </a:rPr>
                            <m:t>1</m:t>
                          </m:r>
                          <m:r>
                            <a:rPr lang="en-US" altLang="zh-CN" sz="2800" i="1" dirty="0">
                              <a:solidFill>
                                <a:prstClr val="black"/>
                              </a:solidFill>
                              <a:latin typeface="Cambria Math" panose="02040503050406030204" pitchFamily="18" charset="0"/>
                            </a:rPr>
                            <m:t>−</m:t>
                          </m:r>
                          <m:f>
                            <m:fPr>
                              <m:ctrlPr>
                                <a:rPr lang="en-US" altLang="zh-CN" sz="2800" i="1" dirty="0">
                                  <a:solidFill>
                                    <a:prstClr val="black"/>
                                  </a:solidFill>
                                  <a:latin typeface="Cambria Math" panose="02040503050406030204" pitchFamily="18" charset="0"/>
                                </a:rPr>
                              </m:ctrlPr>
                            </m:fPr>
                            <m:num>
                              <m:r>
                                <a:rPr lang="en-US" altLang="zh-CN" sz="2800" i="1" dirty="0">
                                  <a:solidFill>
                                    <a:prstClr val="black"/>
                                  </a:solidFill>
                                  <a:latin typeface="Cambria Math" panose="02040503050406030204" pitchFamily="18" charset="0"/>
                                </a:rPr>
                                <m:t>1</m:t>
                              </m:r>
                            </m:num>
                            <m:den>
                              <m:r>
                                <a:rPr lang="en-US" altLang="zh-CN" sz="2800" i="1" dirty="0">
                                  <a:solidFill>
                                    <a:prstClr val="black"/>
                                  </a:solidFill>
                                  <a:latin typeface="Cambria Math" panose="02040503050406030204" pitchFamily="18" charset="0"/>
                                </a:rPr>
                                <m:t>2</m:t>
                              </m:r>
                            </m:den>
                          </m:f>
                          <m:r>
                            <a:rPr lang="en-US" altLang="zh-CN" sz="2800" i="1" dirty="0">
                              <a:solidFill>
                                <a:prstClr val="black"/>
                              </a:solidFill>
                              <a:latin typeface="Cambria Math" panose="02040503050406030204" pitchFamily="18" charset="0"/>
                            </a:rPr>
                            <m:t> +</m:t>
                          </m:r>
                          <m:f>
                            <m:fPr>
                              <m:ctrlPr>
                                <a:rPr lang="en-US" altLang="zh-CN" sz="2800" i="1" dirty="0">
                                  <a:solidFill>
                                    <a:prstClr val="black"/>
                                  </a:solidFill>
                                  <a:latin typeface="Cambria Math" panose="02040503050406030204" pitchFamily="18" charset="0"/>
                                </a:rPr>
                              </m:ctrlPr>
                            </m:fPr>
                            <m:num>
                              <m:r>
                                <a:rPr lang="en-US" altLang="zh-CN" sz="2800" i="1" dirty="0">
                                  <a:solidFill>
                                    <a:prstClr val="black"/>
                                  </a:solidFill>
                                  <a:latin typeface="Cambria Math" panose="02040503050406030204" pitchFamily="18" charset="0"/>
                                </a:rPr>
                                <m:t>1</m:t>
                              </m:r>
                            </m:num>
                            <m:den>
                              <m:r>
                                <a:rPr lang="en-US" altLang="zh-CN" sz="2800" i="1" dirty="0">
                                  <a:solidFill>
                                    <a:prstClr val="black"/>
                                  </a:solidFill>
                                  <a:latin typeface="Cambria Math" panose="02040503050406030204" pitchFamily="18" charset="0"/>
                                </a:rPr>
                                <m:t>3!</m:t>
                              </m:r>
                            </m:den>
                          </m:f>
                          <m:r>
                            <a:rPr lang="en-US" altLang="zh-CN" sz="2800" i="1" dirty="0">
                              <a:solidFill>
                                <a:prstClr val="black"/>
                              </a:solidFill>
                              <a:latin typeface="Cambria Math" panose="02040503050406030204" pitchFamily="18" charset="0"/>
                            </a:rPr>
                            <m:t> −…+</m:t>
                          </m:r>
                          <m:sSup>
                            <m:sSupPr>
                              <m:ctrlPr>
                                <a:rPr lang="en-US" altLang="zh-CN" sz="2800" i="1" dirty="0">
                                  <a:solidFill>
                                    <a:prstClr val="black"/>
                                  </a:solidFill>
                                  <a:latin typeface="Cambria Math" panose="02040503050406030204" pitchFamily="18" charset="0"/>
                                </a:rPr>
                              </m:ctrlPr>
                            </m:sSupPr>
                            <m:e>
                              <m:d>
                                <m:dPr>
                                  <m:ctrlPr>
                                    <a:rPr lang="en-US" altLang="zh-CN" sz="2800" i="1" dirty="0">
                                      <a:solidFill>
                                        <a:prstClr val="black"/>
                                      </a:solidFill>
                                      <a:latin typeface="Cambria Math" panose="02040503050406030204" pitchFamily="18" charset="0"/>
                                    </a:rPr>
                                  </m:ctrlPr>
                                </m:dPr>
                                <m:e>
                                  <m:r>
                                    <a:rPr lang="en-US" altLang="zh-CN" sz="2800" i="1" dirty="0">
                                      <a:solidFill>
                                        <a:prstClr val="black"/>
                                      </a:solidFill>
                                      <a:latin typeface="Cambria Math" panose="02040503050406030204" pitchFamily="18" charset="0"/>
                                    </a:rPr>
                                    <m:t>−1</m:t>
                                  </m:r>
                                </m:e>
                              </m:d>
                            </m:e>
                            <m:sup>
                              <m:r>
                                <a:rPr lang="en-US" altLang="zh-CN" sz="2800" i="1" dirty="0">
                                  <a:solidFill>
                                    <a:prstClr val="black"/>
                                  </a:solidFill>
                                  <a:latin typeface="Cambria Math" panose="02040503050406030204" pitchFamily="18" charset="0"/>
                                </a:rPr>
                                <m:t>𝑁</m:t>
                              </m:r>
                              <m:r>
                                <a:rPr lang="en-US" altLang="zh-CN" sz="2800" i="1" dirty="0">
                                  <a:solidFill>
                                    <a:prstClr val="black"/>
                                  </a:solidFill>
                                  <a:latin typeface="Cambria Math" panose="02040503050406030204" pitchFamily="18" charset="0"/>
                                </a:rPr>
                                <m:t>+1</m:t>
                              </m:r>
                            </m:sup>
                          </m:sSup>
                          <m:f>
                            <m:fPr>
                              <m:ctrlPr>
                                <a:rPr lang="en-US" altLang="zh-CN" sz="2800" i="1" dirty="0">
                                  <a:solidFill>
                                    <a:prstClr val="black"/>
                                  </a:solidFill>
                                  <a:latin typeface="Cambria Math" panose="02040503050406030204" pitchFamily="18" charset="0"/>
                                </a:rPr>
                              </m:ctrlPr>
                            </m:fPr>
                            <m:num>
                              <m:r>
                                <a:rPr lang="en-US" altLang="zh-CN" sz="2800" i="1" dirty="0">
                                  <a:solidFill>
                                    <a:prstClr val="black"/>
                                  </a:solidFill>
                                  <a:latin typeface="Cambria Math" panose="02040503050406030204" pitchFamily="18" charset="0"/>
                                </a:rPr>
                                <m:t>1</m:t>
                              </m:r>
                            </m:num>
                            <m:den>
                              <m:r>
                                <a:rPr lang="en-US" altLang="zh-CN" sz="2800" i="1" dirty="0">
                                  <a:solidFill>
                                    <a:prstClr val="black"/>
                                  </a:solidFill>
                                  <a:latin typeface="Cambria Math" panose="02040503050406030204" pitchFamily="18" charset="0"/>
                                </a:rPr>
                                <m:t>𝑁</m:t>
                              </m:r>
                              <m:r>
                                <a:rPr lang="en-US" altLang="zh-CN" sz="2800" i="1" dirty="0">
                                  <a:solidFill>
                                    <a:prstClr val="black"/>
                                  </a:solidFill>
                                  <a:latin typeface="Cambria Math" panose="02040503050406030204" pitchFamily="18" charset="0"/>
                                </a:rPr>
                                <m:t>!</m:t>
                              </m:r>
                            </m:den>
                          </m:f>
                        </m:e>
                      </m:d>
                      <m:r>
                        <a:rPr lang="en-US" altLang="zh-CN" sz="2800" b="0" i="1" dirty="0" smtClean="0">
                          <a:solidFill>
                            <a:prstClr val="black"/>
                          </a:solidFill>
                          <a:latin typeface="Cambria Math" panose="02040503050406030204" pitchFamily="18" charset="0"/>
                        </a:rPr>
                        <m:t>=</m:t>
                      </m:r>
                      <m:f>
                        <m:fPr>
                          <m:ctrlPr>
                            <a:rPr lang="en-US" altLang="zh-CN" sz="2800" i="1" dirty="0">
                              <a:solidFill>
                                <a:prstClr val="black"/>
                              </a:solidFill>
                              <a:latin typeface="Cambria Math" panose="02040503050406030204" pitchFamily="18" charset="0"/>
                            </a:rPr>
                          </m:ctrlPr>
                        </m:fPr>
                        <m:num>
                          <m:r>
                            <a:rPr lang="en-US" altLang="zh-CN" sz="2800" i="1" dirty="0">
                              <a:solidFill>
                                <a:prstClr val="black"/>
                              </a:solidFill>
                              <a:latin typeface="Cambria Math" panose="02040503050406030204" pitchFamily="18" charset="0"/>
                            </a:rPr>
                            <m:t>1</m:t>
                          </m:r>
                        </m:num>
                        <m:den>
                          <m:r>
                            <a:rPr lang="en-US" altLang="zh-CN" sz="2800" i="1" dirty="0">
                              <a:solidFill>
                                <a:prstClr val="black"/>
                              </a:solidFill>
                              <a:latin typeface="Cambria Math" panose="02040503050406030204" pitchFamily="18" charset="0"/>
                            </a:rPr>
                            <m:t>2</m:t>
                          </m:r>
                        </m:den>
                      </m:f>
                      <m:r>
                        <a:rPr lang="en-US" altLang="zh-CN" sz="2800" i="1" dirty="0">
                          <a:solidFill>
                            <a:prstClr val="black"/>
                          </a:solidFill>
                          <a:latin typeface="Cambria Math" panose="02040503050406030204" pitchFamily="18" charset="0"/>
                        </a:rPr>
                        <m:t> </m:t>
                      </m:r>
                      <m:r>
                        <a:rPr lang="en-US" altLang="zh-CN" sz="2800" b="0" i="1" dirty="0" smtClean="0">
                          <a:solidFill>
                            <a:prstClr val="black"/>
                          </a:solidFill>
                          <a:latin typeface="Cambria Math" panose="02040503050406030204" pitchFamily="18" charset="0"/>
                        </a:rPr>
                        <m:t>−</m:t>
                      </m:r>
                      <m:f>
                        <m:fPr>
                          <m:ctrlPr>
                            <a:rPr lang="en-US" altLang="zh-CN" sz="2800" i="1" dirty="0">
                              <a:solidFill>
                                <a:prstClr val="black"/>
                              </a:solidFill>
                              <a:latin typeface="Cambria Math" panose="02040503050406030204" pitchFamily="18" charset="0"/>
                            </a:rPr>
                          </m:ctrlPr>
                        </m:fPr>
                        <m:num>
                          <m:r>
                            <a:rPr lang="en-US" altLang="zh-CN" sz="2800" i="1" dirty="0">
                              <a:solidFill>
                                <a:prstClr val="black"/>
                              </a:solidFill>
                              <a:latin typeface="Cambria Math" panose="02040503050406030204" pitchFamily="18" charset="0"/>
                            </a:rPr>
                            <m:t>1</m:t>
                          </m:r>
                        </m:num>
                        <m:den>
                          <m:r>
                            <a:rPr lang="en-US" altLang="zh-CN" sz="2800" i="1" dirty="0">
                              <a:solidFill>
                                <a:prstClr val="black"/>
                              </a:solidFill>
                              <a:latin typeface="Cambria Math" panose="02040503050406030204" pitchFamily="18" charset="0"/>
                            </a:rPr>
                            <m:t>3!</m:t>
                          </m:r>
                        </m:den>
                      </m:f>
                      <m:r>
                        <a:rPr lang="en-US" altLang="zh-CN" sz="2800" b="0" i="1" dirty="0" smtClean="0">
                          <a:solidFill>
                            <a:prstClr val="black"/>
                          </a:solidFill>
                          <a:latin typeface="Cambria Math" panose="02040503050406030204" pitchFamily="18" charset="0"/>
                        </a:rPr>
                        <m:t>+</m:t>
                      </m:r>
                      <m:r>
                        <a:rPr lang="en-US" altLang="zh-CN" sz="2800" i="1" dirty="0">
                          <a:solidFill>
                            <a:prstClr val="black"/>
                          </a:solidFill>
                          <a:latin typeface="Cambria Math" panose="02040503050406030204" pitchFamily="18" charset="0"/>
                        </a:rPr>
                        <m:t>…+</m:t>
                      </m:r>
                      <m:sSup>
                        <m:sSupPr>
                          <m:ctrlPr>
                            <a:rPr lang="en-US" altLang="zh-CN" sz="2800" i="1" dirty="0" smtClean="0">
                              <a:solidFill>
                                <a:prstClr val="black"/>
                              </a:solidFill>
                              <a:latin typeface="Cambria Math" panose="02040503050406030204" pitchFamily="18" charset="0"/>
                            </a:rPr>
                          </m:ctrlPr>
                        </m:sSupPr>
                        <m:e>
                          <m:d>
                            <m:dPr>
                              <m:ctrlPr>
                                <a:rPr lang="en-US" altLang="zh-CN" sz="2800" i="1" dirty="0">
                                  <a:solidFill>
                                    <a:prstClr val="black"/>
                                  </a:solidFill>
                                  <a:latin typeface="Cambria Math" panose="02040503050406030204" pitchFamily="18" charset="0"/>
                                </a:rPr>
                              </m:ctrlPr>
                            </m:dPr>
                            <m:e>
                              <m:r>
                                <a:rPr lang="en-US" altLang="zh-CN" sz="2800" i="1" dirty="0">
                                  <a:solidFill>
                                    <a:prstClr val="black"/>
                                  </a:solidFill>
                                  <a:latin typeface="Cambria Math" panose="02040503050406030204" pitchFamily="18" charset="0"/>
                                </a:rPr>
                                <m:t>−1</m:t>
                              </m:r>
                            </m:e>
                          </m:d>
                        </m:e>
                        <m:sup>
                          <m:r>
                            <a:rPr lang="en-US" altLang="zh-CN" sz="2800" i="1" dirty="0">
                              <a:solidFill>
                                <a:prstClr val="black"/>
                              </a:solidFill>
                              <a:latin typeface="Cambria Math" panose="02040503050406030204" pitchFamily="18" charset="0"/>
                            </a:rPr>
                            <m:t>𝑁</m:t>
                          </m:r>
                        </m:sup>
                      </m:sSup>
                      <m:f>
                        <m:fPr>
                          <m:ctrlPr>
                            <a:rPr lang="en-US" altLang="zh-CN" sz="2800" i="1" dirty="0">
                              <a:solidFill>
                                <a:prstClr val="black"/>
                              </a:solidFill>
                              <a:latin typeface="Cambria Math" panose="02040503050406030204" pitchFamily="18" charset="0"/>
                            </a:rPr>
                          </m:ctrlPr>
                        </m:fPr>
                        <m:num>
                          <m:r>
                            <a:rPr lang="en-US" altLang="zh-CN" sz="2800" i="1" dirty="0">
                              <a:solidFill>
                                <a:prstClr val="black"/>
                              </a:solidFill>
                              <a:latin typeface="Cambria Math" panose="02040503050406030204" pitchFamily="18" charset="0"/>
                            </a:rPr>
                            <m:t>1</m:t>
                          </m:r>
                        </m:num>
                        <m:den>
                          <m:r>
                            <a:rPr lang="en-US" altLang="zh-CN" sz="2800" i="1" dirty="0">
                              <a:solidFill>
                                <a:prstClr val="black"/>
                              </a:solidFill>
                              <a:latin typeface="Cambria Math" panose="02040503050406030204" pitchFamily="18" charset="0"/>
                            </a:rPr>
                            <m:t>𝑁</m:t>
                          </m:r>
                          <m:r>
                            <a:rPr lang="en-US" altLang="zh-CN" sz="2800" i="1" dirty="0">
                              <a:solidFill>
                                <a:prstClr val="black"/>
                              </a:solidFill>
                              <a:latin typeface="Cambria Math" panose="02040503050406030204" pitchFamily="18" charset="0"/>
                            </a:rPr>
                            <m:t>!</m:t>
                          </m:r>
                        </m:den>
                      </m:f>
                      <m:r>
                        <a:rPr lang="en-US" altLang="zh-CN" sz="2800" b="0" i="0" dirty="0" smtClean="0">
                          <a:solidFill>
                            <a:prstClr val="black"/>
                          </a:solidFill>
                          <a:latin typeface="Cambria Math" panose="02040503050406030204" pitchFamily="18" charset="0"/>
                        </a:rPr>
                        <m:t>=</m:t>
                      </m:r>
                      <m:nary>
                        <m:naryPr>
                          <m:chr m:val="∑"/>
                          <m:ctrlPr>
                            <a:rPr lang="en-US" altLang="zh-CN" sz="2800" b="0" i="1" dirty="0" smtClean="0">
                              <a:solidFill>
                                <a:prstClr val="black"/>
                              </a:solidFill>
                              <a:latin typeface="Cambria Math" panose="02040503050406030204" pitchFamily="18" charset="0"/>
                            </a:rPr>
                          </m:ctrlPr>
                        </m:naryPr>
                        <m:sub>
                          <m:r>
                            <m:rPr>
                              <m:brk m:alnAt="23"/>
                            </m:rPr>
                            <a:rPr lang="en-US" altLang="zh-CN" sz="2800" b="0" i="1" dirty="0" smtClean="0">
                              <a:solidFill>
                                <a:prstClr val="black"/>
                              </a:solidFill>
                              <a:latin typeface="Cambria Math" panose="02040503050406030204" pitchFamily="18" charset="0"/>
                            </a:rPr>
                            <m:t>𝑖</m:t>
                          </m:r>
                          <m:r>
                            <a:rPr lang="en-US" altLang="zh-CN" sz="2800" b="0" i="1" dirty="0" smtClean="0">
                              <a:solidFill>
                                <a:prstClr val="black"/>
                              </a:solidFill>
                              <a:latin typeface="Cambria Math" panose="02040503050406030204" pitchFamily="18" charset="0"/>
                            </a:rPr>
                            <m:t>=0</m:t>
                          </m:r>
                        </m:sub>
                        <m:sup>
                          <m:r>
                            <a:rPr lang="en-US" altLang="zh-CN" sz="2800" b="0" i="1" dirty="0" smtClean="0">
                              <a:solidFill>
                                <a:prstClr val="black"/>
                              </a:solidFill>
                              <a:latin typeface="Cambria Math" panose="02040503050406030204" pitchFamily="18" charset="0"/>
                            </a:rPr>
                            <m:t>𝑁</m:t>
                          </m:r>
                        </m:sup>
                        <m:e>
                          <m:sSup>
                            <m:sSupPr>
                              <m:ctrlPr>
                                <a:rPr lang="en-US" altLang="zh-CN" sz="2800" i="1" dirty="0">
                                  <a:solidFill>
                                    <a:prstClr val="black"/>
                                  </a:solidFill>
                                  <a:latin typeface="Cambria Math" panose="02040503050406030204" pitchFamily="18" charset="0"/>
                                </a:rPr>
                              </m:ctrlPr>
                            </m:sSupPr>
                            <m:e>
                              <m:d>
                                <m:dPr>
                                  <m:ctrlPr>
                                    <a:rPr lang="en-US" altLang="zh-CN" sz="2800" i="1" dirty="0">
                                      <a:solidFill>
                                        <a:prstClr val="black"/>
                                      </a:solidFill>
                                      <a:latin typeface="Cambria Math" panose="02040503050406030204" pitchFamily="18" charset="0"/>
                                    </a:rPr>
                                  </m:ctrlPr>
                                </m:dPr>
                                <m:e>
                                  <m:r>
                                    <a:rPr lang="en-US" altLang="zh-CN" sz="2800" i="1" dirty="0">
                                      <a:solidFill>
                                        <a:prstClr val="black"/>
                                      </a:solidFill>
                                      <a:latin typeface="Cambria Math" panose="02040503050406030204" pitchFamily="18" charset="0"/>
                                    </a:rPr>
                                    <m:t>−1</m:t>
                                  </m:r>
                                </m:e>
                              </m:d>
                            </m:e>
                            <m:sup>
                              <m:r>
                                <a:rPr lang="en-US" altLang="zh-CN" sz="2800" b="0" i="1" dirty="0" smtClean="0">
                                  <a:solidFill>
                                    <a:prstClr val="black"/>
                                  </a:solidFill>
                                  <a:latin typeface="Cambria Math" panose="02040503050406030204" pitchFamily="18" charset="0"/>
                                </a:rPr>
                                <m:t>𝑖</m:t>
                              </m:r>
                            </m:sup>
                          </m:sSup>
                          <m:f>
                            <m:fPr>
                              <m:ctrlPr>
                                <a:rPr lang="en-US" altLang="zh-CN" sz="2800" i="1" dirty="0">
                                  <a:solidFill>
                                    <a:prstClr val="black"/>
                                  </a:solidFill>
                                  <a:latin typeface="Cambria Math" panose="02040503050406030204" pitchFamily="18" charset="0"/>
                                </a:rPr>
                              </m:ctrlPr>
                            </m:fPr>
                            <m:num>
                              <m:r>
                                <a:rPr lang="en-US" altLang="zh-CN" sz="2800" i="1" dirty="0">
                                  <a:solidFill>
                                    <a:prstClr val="black"/>
                                  </a:solidFill>
                                  <a:latin typeface="Cambria Math" panose="02040503050406030204" pitchFamily="18" charset="0"/>
                                </a:rPr>
                                <m:t>1</m:t>
                              </m:r>
                            </m:num>
                            <m:den>
                              <m:r>
                                <a:rPr lang="en-US" altLang="zh-CN" sz="2800" b="0" i="1" dirty="0" smtClean="0">
                                  <a:solidFill>
                                    <a:prstClr val="black"/>
                                  </a:solidFill>
                                  <a:latin typeface="Cambria Math" panose="02040503050406030204" pitchFamily="18" charset="0"/>
                                </a:rPr>
                                <m:t>𝑖</m:t>
                              </m:r>
                              <m:r>
                                <a:rPr lang="en-US" altLang="zh-CN" sz="2800" i="1" dirty="0">
                                  <a:solidFill>
                                    <a:prstClr val="black"/>
                                  </a:solidFill>
                                  <a:latin typeface="Cambria Math" panose="02040503050406030204" pitchFamily="18" charset="0"/>
                                </a:rPr>
                                <m:t>!</m:t>
                              </m:r>
                            </m:den>
                          </m:f>
                        </m:e>
                      </m:nary>
                    </m:oMath>
                  </m:oMathPara>
                </a14:m>
                <a:endParaRPr lang="en-US" altLang="zh-CN" sz="3200"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1022" y="1198881"/>
                <a:ext cx="11945784" cy="5610240"/>
              </a:xfrm>
              <a:blipFill>
                <a:blip r:embed="rId3"/>
                <a:stretch>
                  <a:fillRect l="-1020" t="-1087"/>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354487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93040" y="1198881"/>
            <a:ext cx="11775276" cy="5659119"/>
          </a:xfrm>
        </p:spPr>
        <p:txBody>
          <a:bodyPr>
            <a:normAutofit fontScale="92500"/>
          </a:bodyPr>
          <a:lstStyle/>
          <a:p>
            <a:pPr algn="l">
              <a:lnSpc>
                <a:spcPct val="100000"/>
              </a:lnSpc>
            </a:pPr>
            <a:r>
              <a:rPr lang="en-US" altLang="zh-CN" sz="2800" dirty="0">
                <a:solidFill>
                  <a:srgbClr val="0070C0"/>
                </a:solidFill>
                <a:latin typeface="Arial Black" panose="020B0A04020102020204" pitchFamily="34" charset="0"/>
              </a:rPr>
              <a:t>Probability as a Measure of Belief</a:t>
            </a:r>
          </a:p>
          <a:p>
            <a:pPr algn="l">
              <a:lnSpc>
                <a:spcPct val="100000"/>
              </a:lnSpc>
            </a:pPr>
            <a:r>
              <a:rPr lang="en-US" altLang="zh-CN" sz="2800" dirty="0"/>
              <a:t>Thus far we have interpreted the probability of an event of a given experiment as being a measure of how frequently the event will occur when the experiment is continually repeated. However, there are also other uses of the term probability.</a:t>
            </a:r>
          </a:p>
          <a:p>
            <a:pPr algn="l">
              <a:lnSpc>
                <a:spcPct val="100000"/>
              </a:lnSpc>
            </a:pPr>
            <a:r>
              <a:rPr lang="en-US" altLang="zh-CN" sz="2800" dirty="0"/>
              <a:t>The most simple and natural interpretation is that the probabilities referred to are measures of the individual's degree of belief in the statements that he or she is making. This interpretation of probability as being a measure of the degree of one's belief is often referred to as the personal or subjective view of probability .</a:t>
            </a:r>
          </a:p>
          <a:p>
            <a:pPr algn="l">
              <a:lnSpc>
                <a:spcPct val="100000"/>
              </a:lnSpc>
            </a:pPr>
            <a:r>
              <a:rPr lang="en-US" altLang="zh-CN" sz="2800" dirty="0"/>
              <a:t>It seems logical to suppose that a "measure of the degree of one's belief' should satisfy all of the axioms of probability. Hence, whether we interpret probability as a measure of belief or as a long-run frequency of occurrence, its mathematical properties remain unchanged.</a:t>
            </a:r>
          </a:p>
          <a:p>
            <a:pPr algn="l"/>
            <a:endParaRPr lang="en-US" altLang="zh-CN" sz="2800" dirty="0"/>
          </a:p>
          <a:p>
            <a:pPr algn="l"/>
            <a:endParaRPr lang="en-US" altLang="zh-CN" sz="2800" dirty="0"/>
          </a:p>
          <a:p>
            <a:pPr algn="l"/>
            <a:endParaRPr lang="en-US" altLang="zh-CN" sz="2800"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8391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10613" y="1143000"/>
            <a:ext cx="11990439" cy="5715000"/>
          </a:xfrm>
        </p:spPr>
        <p:txBody>
          <a:bodyPr>
            <a:normAutofit/>
          </a:bodyPr>
          <a:lstStyle/>
          <a:p>
            <a:pPr algn="l"/>
            <a:r>
              <a:rPr lang="en-US" altLang="zh-CN" sz="2800" dirty="0">
                <a:solidFill>
                  <a:srgbClr val="0070C0"/>
                </a:solidFill>
                <a:latin typeface="Arial Black" panose="020B0A04020102020204" pitchFamily="34" charset="0"/>
              </a:rPr>
              <a:t>Homework</a:t>
            </a:r>
          </a:p>
          <a:p>
            <a:pPr algn="l"/>
            <a:r>
              <a:rPr lang="en-US" altLang="zh-CN" sz="2800" dirty="0">
                <a:solidFill>
                  <a:srgbClr val="0070C0"/>
                </a:solidFill>
                <a:latin typeface="Arial Black" panose="020B0A04020102020204" pitchFamily="34" charset="0"/>
              </a:rPr>
              <a:t>Page 54  Problems</a:t>
            </a:r>
          </a:p>
          <a:p>
            <a:pPr algn="l"/>
            <a:r>
              <a:rPr lang="en-US" altLang="zh-CN" sz="2800" dirty="0"/>
              <a:t>8, 11, 15, 36</a:t>
            </a:r>
          </a:p>
          <a:p>
            <a:pPr algn="l"/>
            <a:r>
              <a:rPr lang="en-US" altLang="zh-CN" sz="2800" dirty="0">
                <a:solidFill>
                  <a:srgbClr val="0070C0"/>
                </a:solidFill>
                <a:latin typeface="Arial Black" panose="020B0A04020102020204" pitchFamily="34" charset="0"/>
              </a:rPr>
              <a:t>Page 58 Theoretical Exercises</a:t>
            </a:r>
          </a:p>
          <a:p>
            <a:pPr lvl="0" algn="l"/>
            <a:r>
              <a:rPr lang="en-US" altLang="zh-CN" sz="2800" dirty="0">
                <a:solidFill>
                  <a:prstClr val="black"/>
                </a:solidFill>
              </a:rPr>
              <a:t>6</a:t>
            </a:r>
            <a:r>
              <a:rPr lang="en-US" altLang="zh-CN" sz="2800">
                <a:solidFill>
                  <a:prstClr val="black"/>
                </a:solidFill>
              </a:rPr>
              <a:t>, 8(a), 11</a:t>
            </a:r>
            <a:endParaRPr lang="en-US" altLang="zh-CN" sz="2800" dirty="0">
              <a:solidFill>
                <a:prstClr val="black"/>
              </a:solidFill>
            </a:endParaRPr>
          </a:p>
          <a:p>
            <a:pPr lvl="0" algn="l"/>
            <a:r>
              <a:rPr lang="en-US" altLang="zh-CN" sz="2800" dirty="0">
                <a:solidFill>
                  <a:srgbClr val="0070C0"/>
                </a:solidFill>
                <a:latin typeface="Arial Black" panose="020B0A04020102020204" pitchFamily="34" charset="0"/>
              </a:rPr>
              <a:t>Page 60 Self-Test Problems and Exercises</a:t>
            </a:r>
          </a:p>
          <a:p>
            <a:pPr lvl="0" algn="l"/>
            <a:r>
              <a:rPr lang="en-US" altLang="zh-CN" sz="2800" dirty="0">
                <a:solidFill>
                  <a:prstClr val="black"/>
                </a:solidFill>
              </a:rPr>
              <a:t>2, 5, 8</a:t>
            </a:r>
          </a:p>
          <a:p>
            <a:pPr algn="l"/>
            <a:endParaRPr lang="en-US" altLang="zh-CN"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040" y="124886"/>
            <a:ext cx="3180080" cy="944111"/>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49920" y="1"/>
            <a:ext cx="3942080" cy="1198880"/>
          </a:xfrm>
          <a:prstGeom prst="rect">
            <a:avLst/>
          </a:prstGeom>
        </p:spPr>
      </p:pic>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426974077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51518</TotalTime>
  <Words>2168</Words>
  <Application>Microsoft Office PowerPoint</Application>
  <PresentationFormat>宽屏</PresentationFormat>
  <Paragraphs>198</Paragraphs>
  <Slides>27</Slides>
  <Notes>27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宋体</vt:lpstr>
      <vt:lpstr>Arial</vt:lpstr>
      <vt:lpstr>Arial Black</vt:lpstr>
      <vt:lpstr>Calibri</vt:lpstr>
      <vt:lpstr>Calibri Light</vt:lpstr>
      <vt:lpstr>Cambria Math</vt:lpstr>
      <vt:lpstr>Times New Roman</vt:lpstr>
      <vt:lpstr>Wingdings</vt:lpstr>
      <vt:lpstr>Office 主题</vt:lpstr>
      <vt:lpstr>Lecture 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Qingjie</dc:creator>
  <cp:lastModifiedBy>guo</cp:lastModifiedBy>
  <cp:revision>1842</cp:revision>
  <dcterms:created xsi:type="dcterms:W3CDTF">2017-08-02T16:53:24Z</dcterms:created>
  <dcterms:modified xsi:type="dcterms:W3CDTF">2025-09-08T02:55:42Z</dcterms:modified>
</cp:coreProperties>
</file>