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1"/>
  </p:notesMasterIdLst>
  <p:handoutMasterIdLst>
    <p:handoutMasterId r:id="rId22"/>
  </p:handoutMasterIdLst>
  <p:sldIdLst>
    <p:sldId id="256" r:id="rId3"/>
    <p:sldId id="505" r:id="rId4"/>
    <p:sldId id="468" r:id="rId5"/>
    <p:sldId id="469" r:id="rId6"/>
    <p:sldId id="526" r:id="rId7"/>
    <p:sldId id="529" r:id="rId8"/>
    <p:sldId id="527" r:id="rId9"/>
    <p:sldId id="525" r:id="rId10"/>
    <p:sldId id="514" r:id="rId11"/>
    <p:sldId id="512" r:id="rId12"/>
    <p:sldId id="530" r:id="rId13"/>
    <p:sldId id="477" r:id="rId14"/>
    <p:sldId id="531" r:id="rId15"/>
    <p:sldId id="528" r:id="rId16"/>
    <p:sldId id="473" r:id="rId17"/>
    <p:sldId id="507" r:id="rId18"/>
    <p:sldId id="475" r:id="rId19"/>
    <p:sldId id="461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0996" autoAdjust="0"/>
  </p:normalViewPr>
  <p:slideViewPr>
    <p:cSldViewPr snapToGrid="0">
      <p:cViewPr varScale="1">
        <p:scale>
          <a:sx n="65" d="100"/>
          <a:sy n="65" d="100"/>
        </p:scale>
        <p:origin x="690" y="5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11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2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B4A429-F965-43FE-9E80-AA88C25A97ED}" type="datetimeFigureOut">
              <a:rPr lang="zh-CN" altLang="en-US" smtClean="0"/>
              <a:t>2022/12/15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4B7839-0288-40B0-805F-AB96B0C1BE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207398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940FB8-AFBC-4675-8070-BC9FB7D3F440}" type="datetimeFigureOut">
              <a:rPr lang="zh-CN" altLang="en-US" smtClean="0"/>
              <a:t>2022/12/15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5522D6-4530-4D22-B87B-D541727931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962975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054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44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97666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0686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73023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33513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25275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52922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26206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15060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24158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33856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88969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43250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05372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99164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36965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1198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3FCFB-BF33-4311-A772-C8C2CA3E0E6D}" type="datetime1">
              <a:rPr lang="zh-CN" altLang="en-US" smtClean="0"/>
              <a:t>2022/12/15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14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3754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5CDD9-1F12-402F-9945-DE26D9B86272}" type="datetime1">
              <a:rPr lang="zh-CN" altLang="en-US" smtClean="0"/>
              <a:t>2022/12/15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14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0156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94A47-B9CD-4B48-842F-C3AAAF2CB5B1}" type="datetime1">
              <a:rPr lang="zh-CN" altLang="en-US" smtClean="0"/>
              <a:t>2022/12/15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14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13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08DDE-B77A-432E-9030-B4B319E897EA}" type="datetime1">
              <a:rPr lang="zh-CN" altLang="en-US" smtClean="0"/>
              <a:t>2022/12/15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14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8438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1A8-8908-4EC2-948A-847F00DEF5BE}" type="datetime1">
              <a:rPr lang="zh-CN" altLang="en-US" smtClean="0"/>
              <a:t>2022/12/15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14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5382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EC33E-39BA-4FEE-9613-395A31F8587A}" type="datetime1">
              <a:rPr lang="zh-CN" altLang="en-US" smtClean="0"/>
              <a:t>2022/12/15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14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2865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C923E-544A-4062-B057-26BCA3B48EA1}" type="datetime1">
              <a:rPr lang="zh-CN" altLang="en-US" smtClean="0"/>
              <a:t>2022/12/15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14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3635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DDCF1-5A33-4D83-BF7E-29B497B5854E}" type="datetime1">
              <a:rPr lang="zh-CN" altLang="en-US" smtClean="0"/>
              <a:t>2022/12/15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14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2480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7CDF4-6379-47F5-B3AA-94A56546BDE3}" type="datetime1">
              <a:rPr lang="zh-CN" altLang="en-US" smtClean="0"/>
              <a:t>2022/12/15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14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1370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EF2CA-1380-4A2F-A450-0D5FCD11FEEF}" type="datetime1">
              <a:rPr lang="zh-CN" altLang="en-US" smtClean="0"/>
              <a:t>2022/12/15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14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2544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89269-50C7-468F-8438-51BA74B5737F}" type="datetime1">
              <a:rPr lang="zh-CN" altLang="en-US" smtClean="0"/>
              <a:t>2022/12/15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14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5651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F9CE6-CAEB-4385-B336-CF7D7D192455}" type="datetime1">
              <a:rPr lang="zh-CN" altLang="en-US" smtClean="0"/>
              <a:t>2022/12/15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74633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1E69C-C08A-4A65-B447-AADFA937ABE1}" type="datetime1">
              <a:rPr lang="zh-CN" altLang="en-US" smtClean="0"/>
              <a:t>2022/12/15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29611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9A651-68BC-4573-8900-8E8A57F54EFA}" type="datetime1">
              <a:rPr lang="zh-CN" altLang="en-US" smtClean="0"/>
              <a:t>2022/12/15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58584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435C6-1BFE-4317-9FC4-5E89E00569D3}" type="datetime1">
              <a:rPr lang="zh-CN" altLang="en-US" smtClean="0"/>
              <a:t>2022/12/15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13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64812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54329-6BF8-4599-85CA-31126AB9D141}" type="datetime1">
              <a:rPr lang="zh-CN" altLang="en-US" smtClean="0"/>
              <a:t>2022/12/15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13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75261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5B017-5F45-44A5-988A-8F6FDCD39E7E}" type="datetime1">
              <a:rPr lang="zh-CN" altLang="en-US" smtClean="0"/>
              <a:t>2022/12/15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13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53399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237B2-D9E3-4464-903E-B93583AF56FF}" type="datetime1">
              <a:rPr lang="zh-CN" altLang="en-US" smtClean="0"/>
              <a:t>2022/12/15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13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16869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2C316-55FC-4088-B0CC-FABDB989E157}" type="datetime1">
              <a:rPr lang="zh-CN" altLang="en-US" smtClean="0"/>
              <a:t>2022/12/15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13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42064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EE58-D793-4AE8-80E6-AC00A4704FC4}" type="datetime1">
              <a:rPr lang="zh-CN" altLang="en-US" smtClean="0"/>
              <a:t>2022/12/15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13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8365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4A92A-E230-4543-8945-BF93DC996D15}" type="datetime1">
              <a:rPr lang="zh-CN" altLang="en-US" smtClean="0"/>
              <a:t>2022/12/15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48153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EE6F0-7055-4C0D-8BCA-9538F0E5021B}" type="datetime1">
              <a:rPr lang="zh-CN" altLang="en-US" smtClean="0"/>
              <a:t>2022/12/15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3196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11B946-9AC9-4BCB-82B0-0D85C8B3F59E}" type="datetime1">
              <a:rPr lang="zh-CN" altLang="en-US" smtClean="0"/>
              <a:t>2022/12/15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 smtClean="0"/>
              <a:t>Lecture 14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7445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C83BF8-85A7-44CC-8B86-6D05CB52A8A5}" type="datetime1">
              <a:rPr lang="zh-CN" altLang="en-US" smtClean="0"/>
              <a:t>2022/12/15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 smtClean="0"/>
              <a:t>Lecture 13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7036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831282"/>
            <a:ext cx="9144000" cy="1045184"/>
          </a:xfrm>
        </p:spPr>
        <p:txBody>
          <a:bodyPr>
            <a:noAutofit/>
          </a:bodyPr>
          <a:lstStyle/>
          <a:p>
            <a:r>
              <a:rPr lang="en-US" altLang="zh-CN" sz="8000" b="1" dirty="0" smtClean="0"/>
              <a:t>Lecture 8</a:t>
            </a:r>
            <a:endParaRPr lang="zh-CN" altLang="en-US" sz="8000" b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61258" y="3128753"/>
            <a:ext cx="10069484" cy="2529878"/>
          </a:xfrm>
        </p:spPr>
        <p:txBody>
          <a:bodyPr>
            <a:normAutofit/>
          </a:bodyPr>
          <a:lstStyle/>
          <a:p>
            <a:r>
              <a:rPr lang="en-US" altLang="zh-CN" sz="4800" b="1" dirty="0"/>
              <a:t>Limit Theorems              </a:t>
            </a:r>
            <a:endParaRPr lang="en-US" altLang="zh-CN" sz="4800" b="1" dirty="0" smtClean="0"/>
          </a:p>
          <a:p>
            <a:r>
              <a:rPr lang="zh-CN" altLang="en-US" sz="4800" b="1" dirty="0" smtClean="0">
                <a:solidFill>
                  <a:srgbClr val="FF0000"/>
                </a:solidFill>
              </a:rPr>
              <a:t>极限定理</a:t>
            </a:r>
            <a:endParaRPr lang="zh-CN" altLang="en-US" sz="4800" b="1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286516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" y="1490375"/>
            <a:ext cx="12192000" cy="4488583"/>
          </a:xfrm>
          <a:noFill/>
        </p:spPr>
        <p:txBody>
          <a:bodyPr>
            <a:normAutofit/>
          </a:bodyPr>
          <a:lstStyle/>
          <a:p>
            <a:r>
              <a:rPr lang="en-US" altLang="zh-CN" sz="4000" b="1" dirty="0" smtClean="0">
                <a:solidFill>
                  <a:srgbClr val="FF0000"/>
                </a:solidFill>
              </a:rPr>
              <a:t>Outline</a:t>
            </a:r>
          </a:p>
          <a:p>
            <a:endParaRPr lang="en-US" altLang="zh-CN" sz="4000" b="1" dirty="0">
              <a:solidFill>
                <a:srgbClr val="FF0000"/>
              </a:solidFill>
            </a:endParaRPr>
          </a:p>
          <a:p>
            <a:pPr marL="571500" lvl="0" indent="-571500" algn="l">
              <a:buFont typeface="Wingdings" panose="05000000000000000000" pitchFamily="2" charset="2"/>
              <a:buChar char="Ø"/>
            </a:pPr>
            <a:r>
              <a:rPr lang="en-US" altLang="zh-CN" sz="3600" b="1" dirty="0" err="1" smtClean="0">
                <a:solidFill>
                  <a:srgbClr val="FF0000"/>
                </a:solidFill>
              </a:rPr>
              <a:t>Chebyshev‘s</a:t>
            </a:r>
            <a:r>
              <a:rPr lang="en-US" altLang="zh-CN" sz="3600" b="1" dirty="0" smtClean="0">
                <a:solidFill>
                  <a:srgbClr val="FF0000"/>
                </a:solidFill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</a:rPr>
              <a:t>Inequality and the </a:t>
            </a:r>
            <a:r>
              <a:rPr lang="en-US" altLang="zh-CN" sz="3600" b="1" dirty="0" smtClean="0">
                <a:solidFill>
                  <a:srgbClr val="FF0000"/>
                </a:solidFill>
              </a:rPr>
              <a:t>Weak Law </a:t>
            </a:r>
            <a:r>
              <a:rPr lang="en-US" altLang="zh-CN" sz="3600" b="1" dirty="0">
                <a:solidFill>
                  <a:srgbClr val="FF0000"/>
                </a:solidFill>
              </a:rPr>
              <a:t>of Large Numbers  </a:t>
            </a:r>
            <a:r>
              <a:rPr lang="zh-CN" altLang="en-US" sz="3600" b="1" dirty="0" smtClean="0">
                <a:solidFill>
                  <a:prstClr val="black"/>
                </a:solidFill>
              </a:rPr>
              <a:t>                    切比雪夫不等式和弱大数定律</a:t>
            </a:r>
            <a:endParaRPr lang="en-US" altLang="zh-CN" sz="3600" b="1" dirty="0" smtClean="0">
              <a:solidFill>
                <a:prstClr val="black"/>
              </a:solidFill>
            </a:endParaRPr>
          </a:p>
          <a:p>
            <a:pPr marL="571500" lvl="0" indent="-571500" algn="l">
              <a:buFont typeface="Wingdings" panose="05000000000000000000" pitchFamily="2" charset="2"/>
              <a:buChar char="Ø"/>
            </a:pPr>
            <a:r>
              <a:rPr lang="en-US" altLang="zh-CN" sz="3600" b="1" dirty="0">
                <a:solidFill>
                  <a:srgbClr val="FF0000"/>
                </a:solidFill>
              </a:rPr>
              <a:t>The Central Limit Theorem  </a:t>
            </a:r>
            <a:r>
              <a:rPr lang="en-US" altLang="zh-CN" sz="3600" b="1" dirty="0" smtClean="0">
                <a:solidFill>
                  <a:prstClr val="black"/>
                </a:solidFill>
              </a:rPr>
              <a:t>   </a:t>
            </a:r>
            <a:r>
              <a:rPr lang="zh-CN" altLang="en-US" sz="3600" b="1" dirty="0" smtClean="0">
                <a:solidFill>
                  <a:prstClr val="black"/>
                </a:solidFill>
              </a:rPr>
              <a:t>         中心极限定理</a:t>
            </a:r>
            <a:endParaRPr lang="en-US" altLang="zh-CN" sz="3600" b="1" dirty="0" smtClean="0">
              <a:solidFill>
                <a:prstClr val="black"/>
              </a:solidFill>
            </a:endParaRPr>
          </a:p>
          <a:p>
            <a:pPr marL="571500" lvl="0" indent="-571500" algn="l">
              <a:buFont typeface="Wingdings" panose="05000000000000000000" pitchFamily="2" charset="2"/>
              <a:buChar char="Ø"/>
            </a:pPr>
            <a:r>
              <a:rPr lang="en-US" altLang="zh-CN" sz="3600" b="1" dirty="0">
                <a:solidFill>
                  <a:srgbClr val="FF0000"/>
                </a:solidFill>
              </a:rPr>
              <a:t>The Strong Law of Large Numbers   </a:t>
            </a:r>
            <a:r>
              <a:rPr lang="zh-CN" altLang="en-US" sz="3600" b="1" dirty="0" smtClean="0">
                <a:solidFill>
                  <a:prstClr val="black"/>
                </a:solidFill>
              </a:rPr>
              <a:t>强大数定律</a:t>
            </a:r>
            <a:endParaRPr lang="en-US" altLang="zh-CN" sz="3600" b="1" dirty="0">
              <a:solidFill>
                <a:prstClr val="black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1619609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8490" y="1198881"/>
            <a:ext cx="11968316" cy="5496887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Introduction</a:t>
            </a:r>
          </a:p>
          <a:p>
            <a:pPr algn="l">
              <a:lnSpc>
                <a:spcPct val="100000"/>
              </a:lnSpc>
            </a:pPr>
            <a:r>
              <a:rPr lang="en-US" altLang="zh-CN" sz="2800" dirty="0" smtClean="0"/>
              <a:t>The </a:t>
            </a:r>
            <a:r>
              <a:rPr lang="en-US" altLang="zh-CN" sz="2800" dirty="0"/>
              <a:t>most important theoretical results in probability theory are </a:t>
            </a:r>
            <a:r>
              <a:rPr lang="en-US" altLang="zh-CN" sz="2800" dirty="0">
                <a:solidFill>
                  <a:srgbClr val="FF0000"/>
                </a:solidFill>
              </a:rPr>
              <a:t>limit theorems</a:t>
            </a:r>
            <a:r>
              <a:rPr lang="en-US" altLang="zh-CN" sz="2800" dirty="0"/>
              <a:t>. </a:t>
            </a:r>
            <a:r>
              <a:rPr lang="en-US" altLang="zh-CN" sz="2800" dirty="0" smtClean="0"/>
              <a:t>Of these</a:t>
            </a:r>
            <a:r>
              <a:rPr lang="en-US" altLang="zh-CN" sz="2800" dirty="0"/>
              <a:t>, the most important are those classified either under the heading </a:t>
            </a:r>
            <a:r>
              <a:rPr lang="en-US" altLang="zh-CN" sz="2800" dirty="0">
                <a:solidFill>
                  <a:srgbClr val="FF0000"/>
                </a:solidFill>
              </a:rPr>
              <a:t>laws of </a:t>
            </a:r>
            <a:r>
              <a:rPr lang="en-US" altLang="zh-CN" sz="2800" dirty="0" smtClean="0">
                <a:solidFill>
                  <a:srgbClr val="FF0000"/>
                </a:solidFill>
              </a:rPr>
              <a:t>large numbers</a:t>
            </a:r>
            <a:r>
              <a:rPr lang="en-US" altLang="zh-CN" sz="2800" dirty="0" smtClean="0"/>
              <a:t> </a:t>
            </a:r>
            <a:r>
              <a:rPr lang="en-US" altLang="zh-CN" sz="2800" dirty="0"/>
              <a:t>or under the heading </a:t>
            </a:r>
            <a:r>
              <a:rPr lang="en-US" altLang="zh-CN" sz="2800" dirty="0">
                <a:solidFill>
                  <a:srgbClr val="FF0000"/>
                </a:solidFill>
              </a:rPr>
              <a:t>central limit theorems</a:t>
            </a:r>
            <a:r>
              <a:rPr lang="en-US" altLang="zh-CN" sz="2800" dirty="0"/>
              <a:t>.</a:t>
            </a:r>
            <a:endParaRPr lang="en-US" altLang="zh-CN" sz="2800" i="1" dirty="0" smtClean="0">
              <a:latin typeface="Cambria Math" panose="02040503050406030204" pitchFamily="18" charset="0"/>
            </a:endParaRPr>
          </a:p>
          <a:p>
            <a:pPr algn="l">
              <a:lnSpc>
                <a:spcPct val="100000"/>
              </a:lnSpc>
            </a:pPr>
            <a:r>
              <a:rPr lang="en-US" altLang="zh-CN" sz="2800" dirty="0"/>
              <a:t>Usually, theorems are </a:t>
            </a:r>
            <a:r>
              <a:rPr lang="en-US" altLang="zh-CN" sz="2800" dirty="0" smtClean="0"/>
              <a:t>considered to </a:t>
            </a:r>
            <a:r>
              <a:rPr lang="en-US" altLang="zh-CN" sz="2800" dirty="0"/>
              <a:t>be laws of large numbers if they are concerned with stating conditions </a:t>
            </a:r>
            <a:r>
              <a:rPr lang="en-US" altLang="zh-CN" sz="2800" dirty="0" smtClean="0"/>
              <a:t>under which </a:t>
            </a:r>
            <a:r>
              <a:rPr lang="en-US" altLang="zh-CN" sz="2800" dirty="0"/>
              <a:t>the average of a sequence of random variables converges (in some sense) </a:t>
            </a:r>
            <a:r>
              <a:rPr lang="en-US" altLang="zh-CN" sz="2800" dirty="0" smtClean="0"/>
              <a:t>to the </a:t>
            </a:r>
            <a:r>
              <a:rPr lang="en-US" altLang="zh-CN" sz="2800" dirty="0"/>
              <a:t>expected average. </a:t>
            </a:r>
            <a:endParaRPr lang="en-US" altLang="zh-CN" sz="2800" dirty="0" smtClean="0"/>
          </a:p>
          <a:p>
            <a:pPr algn="l">
              <a:lnSpc>
                <a:spcPct val="100000"/>
              </a:lnSpc>
            </a:pPr>
            <a:r>
              <a:rPr lang="en-US" altLang="zh-CN" sz="2800" dirty="0" smtClean="0"/>
              <a:t>By </a:t>
            </a:r>
            <a:r>
              <a:rPr lang="en-US" altLang="zh-CN" sz="2800" dirty="0"/>
              <a:t>contrast, central limit theorems are concerned with </a:t>
            </a:r>
            <a:r>
              <a:rPr lang="en-US" altLang="zh-CN" sz="2800" dirty="0" smtClean="0"/>
              <a:t>determining conditions </a:t>
            </a:r>
            <a:r>
              <a:rPr lang="en-US" altLang="zh-CN" sz="2800" dirty="0"/>
              <a:t>under which the sum of a large number of random variables has </a:t>
            </a:r>
            <a:r>
              <a:rPr lang="en-US" altLang="zh-CN" sz="2800" dirty="0" smtClean="0"/>
              <a:t>a probability </a:t>
            </a:r>
            <a:r>
              <a:rPr lang="en-US" altLang="zh-CN" sz="2800" dirty="0"/>
              <a:t>distribution that is approximately normal.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3195419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6872" y="1247759"/>
                <a:ext cx="12103510" cy="5507001"/>
              </a:xfrm>
            </p:spPr>
            <p:txBody>
              <a:bodyPr>
                <a:normAutofit lnSpcReduction="10000"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Chebyshev's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 Inequality and the Weak Law of Large </a:t>
                </a:r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Numbers</a:t>
                </a: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Proposition 8.1 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Arial Black" panose="020B0A04020102020204" pitchFamily="34" charset="0"/>
                  </a:rPr>
                  <a:t>Markov's inequality</a:t>
                </a:r>
                <a:endParaRPr lang="en-US" altLang="zh-CN" sz="2800" dirty="0" smtClean="0">
                  <a:solidFill>
                    <a:srgbClr val="FF0000"/>
                  </a:solidFill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/>
                  <a:t>If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800" dirty="0"/>
                  <a:t> is a random variable that takes only nonnegative values, then for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zh-CN" sz="2800" dirty="0"/>
                  <a:t>,</a:t>
                </a:r>
                <a:endParaRPr lang="en-US" altLang="zh-CN" sz="2800" i="1" dirty="0" smtClean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altLang="zh-CN" sz="28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2800" dirty="0" smtClean="0"/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 smtClean="0"/>
                  <a:t>For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zh-CN" sz="2800" dirty="0" smtClean="0"/>
                  <a:t>, let 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  <m:t>1,   </m:t>
                            </m:r>
                            <m:r>
                              <m:rPr>
                                <m:sty m:val="p"/>
                              </m:rPr>
                              <a:rPr lang="en-US" altLang="zh-CN" sz="2800" b="0" i="0" dirty="0" smtClean="0">
                                <a:latin typeface="Cambria Math" panose="02040503050406030204" pitchFamily="18" charset="0"/>
                              </a:rPr>
                              <m:t>if</m:t>
                            </m:r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m:rPr>
                                <m:sty m:val="p"/>
                              </m:rPr>
                              <a:rPr lang="en-US" altLang="zh-CN" sz="2800" b="0" i="0" dirty="0" smtClean="0">
                                <a:latin typeface="Cambria Math" panose="02040503050406030204" pitchFamily="18" charset="0"/>
                              </a:rPr>
                              <m:t>otherwise</m:t>
                            </m:r>
                          </m:e>
                        </m:eqArr>
                      </m:e>
                    </m:d>
                    <m:r>
                      <a:rPr lang="en-US" altLang="zh-CN" sz="2800" b="0" i="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sz="2800" dirty="0" smtClean="0"/>
                  <a:t> Since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2800" dirty="0" smtClean="0"/>
                  <a:t> ,</a:t>
                </a:r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n-US" altLang="zh-CN" sz="2800" dirty="0" smtClean="0"/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/>
                  <a:t>Taking </a:t>
                </a:r>
                <a:r>
                  <a:rPr lang="en-US" altLang="zh-CN" sz="2800" dirty="0" smtClean="0"/>
                  <a:t>expectations, yields</a:t>
                </a:r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6872" y="1247759"/>
                <a:ext cx="12103510" cy="5507001"/>
              </a:xfrm>
              <a:blipFill>
                <a:blip r:embed="rId3"/>
                <a:stretch>
                  <a:fillRect l="-1007" t="-19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2538605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6872" y="1247759"/>
                <a:ext cx="12103510" cy="5507001"/>
              </a:xfrm>
            </p:spPr>
            <p:txBody>
              <a:bodyPr>
                <a:norm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Proposition 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8.2 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Arial Black" panose="020B0A04020102020204" pitchFamily="34" charset="0"/>
                  </a:rPr>
                  <a:t>Chebyshev's </a:t>
                </a:r>
                <a:r>
                  <a:rPr lang="en-US" altLang="zh-CN" sz="2800" dirty="0" smtClean="0">
                    <a:solidFill>
                      <a:srgbClr val="FF0000"/>
                    </a:solidFill>
                    <a:latin typeface="Arial Black" panose="020B0A04020102020204" pitchFamily="34" charset="0"/>
                  </a:rPr>
                  <a:t>inequality</a:t>
                </a: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 smtClean="0"/>
                  <a:t>If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800" dirty="0"/>
                  <a:t> is a random variable with finite mean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zh-CN" sz="2800" dirty="0"/>
                  <a:t>, and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800" dirty="0"/>
                  <a:t>, then for 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zh-CN" sz="2800" dirty="0"/>
                  <a:t>,</a:t>
                </a:r>
                <a:endParaRPr lang="en-US" altLang="zh-CN" sz="2800" i="1" dirty="0" smtClean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80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d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CN" sz="28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2800" dirty="0" smtClean="0"/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 smtClean="0"/>
                  <a:t>Proof: Since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8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sz="2800" b="0" i="1" dirty="0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</m:e>
                      <m:sup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800" dirty="0" smtClean="0"/>
                  <a:t> </a:t>
                </a:r>
                <a:r>
                  <a:rPr lang="en-US" altLang="zh-CN" sz="2800" dirty="0"/>
                  <a:t>is a nonnegative random variable, we can apply </a:t>
                </a:r>
                <a:r>
                  <a:rPr lang="en-US" altLang="zh-CN" sz="2800" dirty="0" smtClean="0"/>
                  <a:t>Markov's inequality </a:t>
                </a:r>
                <a:r>
                  <a:rPr lang="en-US" altLang="zh-CN" sz="2800" dirty="0"/>
                  <a:t>(with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800" dirty="0"/>
                  <a:t>) to </a:t>
                </a:r>
                <a:r>
                  <a:rPr lang="en-US" altLang="zh-CN" sz="2800" dirty="0" smtClean="0"/>
                  <a:t>obtain </a:t>
                </a:r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80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sSup>
                            <m:sSupPr>
                              <m:ctrlP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p>
                            <m:sSup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2800" i="1" dirty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sz="2800" dirty="0" smtClean="0"/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 smtClean="0"/>
                  <a:t>Since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</m:e>
                      <m:sup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800" dirty="0"/>
                  <a:t> if and only 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d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2800" dirty="0"/>
                  <a:t>,</a:t>
                </a:r>
                <a:endParaRPr lang="en-US" altLang="zh-CN" sz="2800" dirty="0" smtClean="0"/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d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zh-CN" altLang="en-US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6872" y="1247759"/>
                <a:ext cx="12103510" cy="5507001"/>
              </a:xfrm>
              <a:blipFill>
                <a:blip r:embed="rId3"/>
                <a:stretch>
                  <a:fillRect l="-1007" t="-12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1457903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6872" y="1247759"/>
            <a:ext cx="12103510" cy="5507001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2800" dirty="0" smtClean="0"/>
              <a:t>The </a:t>
            </a:r>
            <a:r>
              <a:rPr lang="en-US" altLang="zh-CN" sz="2800" dirty="0"/>
              <a:t>importance of Markov's and </a:t>
            </a:r>
            <a:r>
              <a:rPr lang="en-US" altLang="zh-CN" sz="2800" dirty="0" err="1"/>
              <a:t>Chebyshev's</a:t>
            </a:r>
            <a:r>
              <a:rPr lang="en-US" altLang="zh-CN" sz="2800" dirty="0"/>
              <a:t> inequalities is that they </a:t>
            </a:r>
            <a:r>
              <a:rPr lang="en-US" altLang="zh-CN" sz="2800" dirty="0" smtClean="0"/>
              <a:t>enable us </a:t>
            </a:r>
            <a:r>
              <a:rPr lang="en-US" altLang="zh-CN" sz="2800" dirty="0"/>
              <a:t>to </a:t>
            </a:r>
            <a:r>
              <a:rPr lang="en-US" altLang="zh-CN" sz="2800" dirty="0">
                <a:solidFill>
                  <a:srgbClr val="FF0000"/>
                </a:solidFill>
              </a:rPr>
              <a:t>derive bounds on probabilities when only the mean or both the mean and </a:t>
            </a:r>
            <a:r>
              <a:rPr lang="en-US" altLang="zh-CN" sz="2800" dirty="0" smtClean="0">
                <a:solidFill>
                  <a:srgbClr val="FF0000"/>
                </a:solidFill>
              </a:rPr>
              <a:t>the variance </a:t>
            </a:r>
            <a:r>
              <a:rPr lang="en-US" altLang="zh-CN" sz="2800" dirty="0">
                <a:solidFill>
                  <a:srgbClr val="FF0000"/>
                </a:solidFill>
              </a:rPr>
              <a:t>of the probability distribution are known</a:t>
            </a:r>
            <a:r>
              <a:rPr lang="en-US" altLang="zh-CN" sz="2800" dirty="0"/>
              <a:t>. Of course, if the actual </a:t>
            </a:r>
            <a:r>
              <a:rPr lang="en-US" altLang="zh-CN" sz="2800" dirty="0" smtClean="0"/>
              <a:t>distribution were </a:t>
            </a:r>
            <a:r>
              <a:rPr lang="en-US" altLang="zh-CN" sz="2800" dirty="0"/>
              <a:t>known, then the desired probabilities could be computed exactly and </a:t>
            </a:r>
            <a:r>
              <a:rPr lang="en-US" altLang="zh-CN" sz="2800" dirty="0" smtClean="0"/>
              <a:t>we would </a:t>
            </a:r>
            <a:r>
              <a:rPr lang="en-US" altLang="zh-CN" sz="2800" dirty="0"/>
              <a:t>not need to resort to bounds.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4132502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58993" y="1068997"/>
                <a:ext cx="12005187" cy="5685764"/>
              </a:xfrm>
            </p:spPr>
            <p:txBody>
              <a:bodyPr>
                <a:normAutofit fontScale="92500" lnSpcReduction="20000"/>
              </a:bodyPr>
              <a:lstStyle/>
              <a:p>
                <a:pPr algn="l"/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Example 8.1</a:t>
                </a:r>
              </a:p>
              <a:p>
                <a:pPr algn="l"/>
                <a:r>
                  <a:rPr lang="en-US" altLang="zh-CN" sz="2800" dirty="0"/>
                  <a:t>Suppose that it is known that the number of items produced in a factory during </a:t>
                </a:r>
                <a:r>
                  <a:rPr lang="en-US" altLang="zh-CN" sz="2800" dirty="0" smtClean="0"/>
                  <a:t>a week </a:t>
                </a:r>
                <a:r>
                  <a:rPr lang="en-US" altLang="zh-CN" sz="2800" dirty="0"/>
                  <a:t>is a random variable with mean 50.</a:t>
                </a:r>
              </a:p>
              <a:p>
                <a:pPr algn="l"/>
                <a:r>
                  <a:rPr lang="en-US" altLang="zh-CN" sz="2800" dirty="0"/>
                  <a:t>(a) What can be said about the probability that this week's production </a:t>
                </a:r>
                <a:r>
                  <a:rPr lang="en-US" altLang="zh-CN" sz="2800" dirty="0" smtClean="0"/>
                  <a:t>will exceed </a:t>
                </a:r>
                <a:r>
                  <a:rPr lang="en-US" altLang="zh-CN" sz="2800" dirty="0"/>
                  <a:t>75?</a:t>
                </a:r>
              </a:p>
              <a:p>
                <a:pPr algn="l"/>
                <a:r>
                  <a:rPr lang="en-US" altLang="zh-CN" sz="2800" dirty="0"/>
                  <a:t>(b) If the variance of a week's production is known to equal 25, then what </a:t>
                </a:r>
                <a:r>
                  <a:rPr lang="en-US" altLang="zh-CN" sz="2800" dirty="0" smtClean="0"/>
                  <a:t>can be </a:t>
                </a:r>
                <a:r>
                  <a:rPr lang="en-US" altLang="zh-CN" sz="2800" dirty="0"/>
                  <a:t>said about the probability that this week's production will be between </a:t>
                </a:r>
                <a:r>
                  <a:rPr lang="en-US" altLang="zh-CN" sz="2800" dirty="0" smtClean="0"/>
                  <a:t>40 and </a:t>
                </a:r>
                <a:r>
                  <a:rPr lang="en-US" altLang="zh-CN" sz="2800" dirty="0"/>
                  <a:t>60? </a:t>
                </a:r>
                <a:endParaRPr lang="en-US" altLang="zh-CN" sz="2800" dirty="0" smtClean="0"/>
              </a:p>
              <a:p>
                <a:pPr algn="l"/>
                <a:r>
                  <a:rPr lang="en-US" altLang="zh-CN" sz="2800" b="1" dirty="0" smtClean="0"/>
                  <a:t>Solution</a:t>
                </a:r>
                <a:r>
                  <a:rPr lang="zh-CN" altLang="en-US" sz="2800" b="1" dirty="0" smtClean="0"/>
                  <a:t>：</a:t>
                </a:r>
                <a:r>
                  <a:rPr lang="en-US" altLang="zh-CN" sz="2800" dirty="0" smtClean="0"/>
                  <a:t> </a:t>
                </a:r>
                <a:r>
                  <a:rPr lang="en-US" altLang="zh-CN" sz="2800" dirty="0"/>
                  <a:t>Let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800" dirty="0"/>
                  <a:t> be the number of items that will be produced in a week.</a:t>
                </a:r>
              </a:p>
              <a:p>
                <a:pPr algn="l"/>
                <a:r>
                  <a:rPr lang="en-US" altLang="zh-CN" sz="2800" dirty="0"/>
                  <a:t>(a) By Markov's inequality,</a:t>
                </a:r>
                <a:endParaRPr lang="en-US" altLang="zh-CN" sz="2800" dirty="0" smtClean="0"/>
              </a:p>
              <a:p>
                <a:pPr lvl="0"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75</m:t>
                          </m:r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num>
                        <m:den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75</m:t>
                          </m:r>
                        </m:den>
                      </m:f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50</m:t>
                          </m:r>
                        </m:num>
                        <m:den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75</m:t>
                          </m:r>
                        </m:den>
                      </m:f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lvl="0" algn="l"/>
                <a:r>
                  <a:rPr lang="en-US" altLang="zh-CN" sz="2800" dirty="0">
                    <a:solidFill>
                      <a:prstClr val="black"/>
                    </a:solidFill>
                  </a:rPr>
                  <a:t>(b) By </a:t>
                </a:r>
                <a:r>
                  <a:rPr lang="en-US" altLang="zh-CN" sz="2800" dirty="0" err="1">
                    <a:solidFill>
                      <a:prstClr val="black"/>
                    </a:solidFill>
                  </a:rPr>
                  <a:t>Chebyshev's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 inequality</a:t>
                </a:r>
                <a:r>
                  <a:rPr lang="en-US" altLang="zh-CN" sz="2800" dirty="0" smtClean="0">
                    <a:solidFill>
                      <a:prstClr val="black"/>
                    </a:solidFill>
                  </a:rPr>
                  <a:t>,</a:t>
                </a:r>
              </a:p>
              <a:p>
                <a:pPr lvl="0"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−50</m:t>
                              </m:r>
                            </m:e>
                          </m:d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altLang="zh-CN" sz="2800" dirty="0" smtClean="0">
                  <a:solidFill>
                    <a:prstClr val="black"/>
                  </a:solidFill>
                </a:endParaRPr>
              </a:p>
              <a:p>
                <a:pPr lvl="0"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40&lt;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−50</m:t>
                              </m:r>
                            </m:e>
                          </m:d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</m:d>
                      <m:r>
                        <a:rPr lang="en-US" altLang="zh-CN" sz="28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altLang="zh-CN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58993" y="1068997"/>
                <a:ext cx="12005187" cy="5685764"/>
              </a:xfrm>
              <a:blipFill>
                <a:blip r:embed="rId3"/>
                <a:stretch>
                  <a:fillRect l="-914" t="-26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267304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88490" y="1198881"/>
                <a:ext cx="11968316" cy="5496887"/>
              </a:xfrm>
            </p:spPr>
            <p:txBody>
              <a:bodyPr>
                <a:normAutofit fontScale="92500" lnSpcReduction="10000"/>
              </a:bodyPr>
              <a:lstStyle/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Proposition 8.3</a:t>
                </a:r>
              </a:p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0" dirty="0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r>
                  <a:rPr lang="en-US" altLang="zh-CN" sz="2800" dirty="0"/>
                  <a:t>, then</a:t>
                </a:r>
              </a:p>
              <a:p>
                <a:pPr lvl="0"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]}=1</m:t>
                      </m:r>
                    </m:oMath>
                  </m:oMathPara>
                </a14:m>
                <a:endParaRPr lang="en-US" altLang="zh-CN" sz="2800" dirty="0"/>
              </a:p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 smtClean="0"/>
                  <a:t>In </a:t>
                </a:r>
                <a:r>
                  <a:rPr lang="en-US" altLang="zh-CN" sz="2800" dirty="0"/>
                  <a:t>other words, the only random variables having variances equal to 0 are those </a:t>
                </a:r>
                <a:r>
                  <a:rPr lang="en-US" altLang="zh-CN" sz="2800" dirty="0" smtClean="0"/>
                  <a:t>that are </a:t>
                </a:r>
                <a:r>
                  <a:rPr lang="en-US" altLang="zh-CN" sz="2800" dirty="0"/>
                  <a:t>constant with probability 1</a:t>
                </a:r>
                <a:r>
                  <a:rPr lang="en-US" altLang="zh-CN" sz="2800" dirty="0" smtClean="0"/>
                  <a:t>.</a:t>
                </a:r>
              </a:p>
              <a:p>
                <a:pPr lvl="0" algn="l">
                  <a:lnSpc>
                    <a:spcPct val="100000"/>
                  </a:lnSpc>
                </a:pPr>
                <a:r>
                  <a:rPr lang="en-US" altLang="zh-CN" sz="2800" b="1" dirty="0" smtClean="0"/>
                  <a:t>Proof</a:t>
                </a:r>
                <a:r>
                  <a:rPr lang="en-US" altLang="zh-CN" sz="2800" dirty="0" smtClean="0"/>
                  <a:t>: </a:t>
                </a:r>
                <a:r>
                  <a:rPr lang="en-US" altLang="zh-CN" sz="2800" dirty="0"/>
                  <a:t>By </a:t>
                </a:r>
                <a:r>
                  <a:rPr lang="en-US" altLang="zh-CN" sz="2800" dirty="0" err="1"/>
                  <a:t>Chebyshev's</a:t>
                </a:r>
                <a:r>
                  <a:rPr lang="en-US" altLang="zh-CN" sz="2800" dirty="0"/>
                  <a:t> inequality, we have, for any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2800" dirty="0" smtClean="0"/>
                  <a:t>,</a:t>
                </a:r>
              </a:p>
              <a:p>
                <a:pPr lvl="0"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d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f>
                            <m:fPr>
                              <m:ctrlP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sz="2800" dirty="0" smtClean="0"/>
              </a:p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/>
                  <a:t>Letting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altLang="zh-CN" sz="2800" dirty="0" smtClean="0"/>
                  <a:t> and </a:t>
                </a:r>
                <a:r>
                  <a:rPr lang="en-US" altLang="zh-CN" sz="2800" dirty="0"/>
                  <a:t>using the continuity property of probability </a:t>
                </a:r>
                <a:r>
                  <a:rPr lang="en-US" altLang="zh-CN" sz="2800" dirty="0" smtClean="0"/>
                  <a:t>yields</a:t>
                </a:r>
              </a:p>
              <a:p>
                <a:pPr lvl="0"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0=</m:t>
                      </m:r>
                      <m:func>
                        <m:func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b="0" i="0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d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</m:t>
                              </m:r>
                              <m:f>
                                <m:f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limLow>
                            <m:limLow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d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</m:t>
                          </m:r>
                          <m:f>
                            <m:f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zh-CN" altLang="en-US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2800" dirty="0" smtClean="0">
                  <a:solidFill>
                    <a:prstClr val="black"/>
                  </a:solidFill>
                </a:endParaRP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 smtClean="0">
                    <a:solidFill>
                      <a:prstClr val="black"/>
                    </a:solidFill>
                  </a:rPr>
                  <a:t>So  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]}=1</m:t>
                    </m:r>
                  </m:oMath>
                </a14:m>
                <a:endParaRPr lang="en-US" altLang="zh-CN" sz="2800" dirty="0"/>
              </a:p>
              <a:p>
                <a:pPr lvl="0" algn="l">
                  <a:lnSpc>
                    <a:spcPct val="100000"/>
                  </a:lnSpc>
                </a:pPr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lvl="0" algn="l">
                  <a:lnSpc>
                    <a:spcPct val="100000"/>
                  </a:lnSpc>
                </a:pPr>
                <a:endParaRPr lang="en-US" altLang="zh-CN" sz="2800" dirty="0"/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88490" y="1198881"/>
                <a:ext cx="11968316" cy="5496887"/>
              </a:xfrm>
              <a:blipFill>
                <a:blip r:embed="rId3"/>
                <a:stretch>
                  <a:fillRect l="-917" t="-1776" b="-9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3973748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81116" y="1082819"/>
                <a:ext cx="11872452" cy="5742941"/>
              </a:xfrm>
            </p:spPr>
            <p:txBody>
              <a:bodyPr>
                <a:normAutofit/>
              </a:bodyPr>
              <a:lstStyle/>
              <a:p>
                <a:pPr algn="l"/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Theorem 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8.1 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Arial Black" panose="020B0A04020102020204" pitchFamily="34" charset="0"/>
                  </a:rPr>
                  <a:t>The weak law of large </a:t>
                </a:r>
                <a:r>
                  <a:rPr lang="en-US" altLang="zh-CN" sz="2800" dirty="0" smtClean="0">
                    <a:solidFill>
                      <a:srgbClr val="FF0000"/>
                    </a:solidFill>
                    <a:latin typeface="Arial Black" panose="020B0A04020102020204" pitchFamily="34" charset="0"/>
                  </a:rPr>
                  <a:t>numbers</a:t>
                </a:r>
              </a:p>
              <a:p>
                <a:pPr algn="l"/>
                <a:r>
                  <a:rPr lang="en-US" altLang="zh-CN" sz="3000" dirty="0" smtClean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30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3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30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000" i="1" dirty="0">
                        <a:latin typeface="Cambria Math" panose="02040503050406030204" pitchFamily="18" charset="0"/>
                      </a:rPr>
                      <m:t>, … </m:t>
                    </m:r>
                  </m:oMath>
                </a14:m>
                <a:r>
                  <a:rPr lang="en-US" altLang="zh-CN" sz="3000" dirty="0"/>
                  <a:t>be a sequence </a:t>
                </a:r>
                <a:r>
                  <a:rPr lang="en-US" altLang="zh-CN" sz="3000" dirty="0" smtClean="0"/>
                  <a:t>of independent </a:t>
                </a:r>
                <a:r>
                  <a:rPr lang="en-US" altLang="zh-CN" sz="3000" dirty="0"/>
                  <a:t>and identically distributed random variables</a:t>
                </a:r>
                <a:r>
                  <a:rPr lang="en-US" altLang="zh-CN" sz="3000" dirty="0" smtClean="0"/>
                  <a:t>, each </a:t>
                </a:r>
                <a:r>
                  <a:rPr lang="en-US" altLang="zh-CN" sz="3000" dirty="0"/>
                  <a:t>having finite mean </a:t>
                </a:r>
                <a14:m>
                  <m:oMath xmlns:m="http://schemas.openxmlformats.org/officeDocument/2006/math">
                    <m:r>
                      <a:rPr lang="en-US" altLang="zh-CN" sz="3000" i="1" dirty="0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300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30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000" i="1" dirty="0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zh-CN" sz="3000" dirty="0" smtClean="0"/>
                  <a:t>. </a:t>
                </a:r>
                <a:r>
                  <a:rPr lang="en-US" altLang="zh-CN" sz="3000" dirty="0"/>
                  <a:t>Then, for any </a:t>
                </a:r>
                <a14:m>
                  <m:oMath xmlns:m="http://schemas.openxmlformats.org/officeDocument/2006/math">
                    <m:r>
                      <a:rPr lang="zh-CN" altLang="en-US" sz="3000" i="1" dirty="0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zh-CN" sz="3000" i="1" dirty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zh-CN" sz="3000" dirty="0"/>
                  <a:t>,</a:t>
                </a:r>
                <a:endParaRPr lang="en-US" altLang="zh-CN" sz="3000" i="1" dirty="0" smtClean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300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300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300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3000" b="0" i="1" dirty="0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3000" b="0" i="1" dirty="0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sz="3000" b="0" i="1" dirty="0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30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30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⋯+</m:t>
                                  </m:r>
                                  <m:sSub>
                                    <m:sSubPr>
                                      <m:ctrlPr>
                                        <a:rPr lang="en-US" altLang="zh-CN" sz="3000" b="0" i="1" dirty="0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3000" b="0" i="1" dirty="0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sz="3000" b="0" i="1" dirty="0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30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r>
                                <a:rPr lang="en-US" altLang="zh-CN" sz="30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30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d>
                          <m:r>
                            <a:rPr lang="en-US" altLang="zh-CN" sz="300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zh-CN" altLang="en-US" sz="300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r>
                        <a:rPr lang="en-US" altLang="zh-CN" sz="3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3000" b="0" i="1" dirty="0" smtClean="0">
                          <a:latin typeface="Cambria Math" panose="02040503050406030204" pitchFamily="18" charset="0"/>
                        </a:rPr>
                        <m:t>0  </m:t>
                      </m:r>
                      <m:r>
                        <m:rPr>
                          <m:sty m:val="p"/>
                        </m:rPr>
                        <a:rPr lang="en-US" altLang="zh-CN" sz="3000" b="0" i="0" dirty="0" smtClean="0">
                          <a:latin typeface="Cambria Math" panose="02040503050406030204" pitchFamily="18" charset="0"/>
                        </a:rPr>
                        <m:t>as</m:t>
                      </m:r>
                      <m:r>
                        <a:rPr lang="en-US" altLang="zh-CN" sz="3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3000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3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→∞</m:t>
                      </m:r>
                    </m:oMath>
                  </m:oMathPara>
                </a14:m>
                <a:endParaRPr lang="en-US" altLang="zh-CN" sz="3000" dirty="0" smtClean="0"/>
              </a:p>
              <a:p>
                <a:pPr algn="l"/>
                <a:r>
                  <a:rPr lang="en-US" altLang="zh-CN" sz="3000" b="1" dirty="0" smtClean="0"/>
                  <a:t>Proof</a:t>
                </a:r>
                <a:r>
                  <a:rPr lang="en-US" altLang="zh-CN" sz="3000" dirty="0" smtClean="0"/>
                  <a:t>: </a:t>
                </a:r>
                <a:r>
                  <a:rPr lang="en-US" altLang="zh-CN" sz="3000" dirty="0"/>
                  <a:t>We shall prove the theorem only under the additional assumption that </a:t>
                </a:r>
                <a:r>
                  <a:rPr lang="en-US" altLang="zh-CN" sz="3000" dirty="0" smtClean="0"/>
                  <a:t>the random </a:t>
                </a:r>
                <a:r>
                  <a:rPr lang="en-US" altLang="zh-CN" sz="3000" dirty="0"/>
                  <a:t>variables have a finite 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3000" dirty="0" smtClean="0"/>
                  <a:t>. Now</a:t>
                </a:r>
                <a:r>
                  <a:rPr lang="en-US" altLang="zh-CN" sz="3000" dirty="0"/>
                  <a:t>, since</a:t>
                </a:r>
                <a:endParaRPr lang="en-US" altLang="zh-CN" sz="3000" i="1" dirty="0" smtClean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30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30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30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0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30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30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30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⋯+</m:t>
                              </m:r>
                              <m:sSub>
                                <m:sSubPr>
                                  <m:ctrlPr>
                                    <a:rPr lang="en-US" altLang="zh-CN" sz="30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0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30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sz="30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en-US" altLang="zh-CN" sz="30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0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CN" sz="30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30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30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30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30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0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30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30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30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⋯+</m:t>
                              </m:r>
                              <m:sSub>
                                <m:sSubPr>
                                  <m:ctrlPr>
                                    <a:rPr lang="en-US" altLang="zh-CN" sz="30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0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30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sz="30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en-US" altLang="zh-CN" sz="30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300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32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32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sz="32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30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altLang="zh-CN" sz="3000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algn="l"/>
                <a:r>
                  <a:rPr lang="en-US" altLang="zh-CN" sz="3000" dirty="0"/>
                  <a:t>it follows from </a:t>
                </a:r>
                <a:r>
                  <a:rPr lang="en-US" altLang="zh-CN" sz="3000" dirty="0" err="1"/>
                  <a:t>Chebyshev's</a:t>
                </a:r>
                <a:r>
                  <a:rPr lang="en-US" altLang="zh-CN" sz="3000" dirty="0"/>
                  <a:t> inequality that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30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30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30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30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30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sz="30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30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30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⋯+</m:t>
                                  </m:r>
                                  <m:sSub>
                                    <m:sSubPr>
                                      <m:ctrlPr>
                                        <a:rPr lang="en-US" altLang="zh-CN" sz="30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30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sz="30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30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r>
                                <a:rPr lang="en-US" altLang="zh-CN" sz="30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30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d>
                          <m:r>
                            <a:rPr lang="en-US" altLang="zh-CN" sz="30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zh-CN" altLang="en-US" sz="30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r>
                        <a:rPr lang="zh-CN" altLang="en-US" sz="30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zh-CN" sz="30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32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32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sz="32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30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sSup>
                            <m:sSupPr>
                              <m:ctrlPr>
                                <a:rPr lang="en-US" altLang="zh-CN" sz="30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30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p>
                              <m:r>
                                <a:rPr lang="en-US" altLang="zh-CN" sz="30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30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30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0  </m:t>
                      </m:r>
                      <m:r>
                        <m:rPr>
                          <m:sty m:val="p"/>
                        </m:rPr>
                        <a:rPr lang="en-US" altLang="zh-CN" sz="3000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as</m:t>
                      </m:r>
                      <m:r>
                        <a:rPr lang="en-US" altLang="zh-CN" sz="30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30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30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→∞</m:t>
                      </m:r>
                    </m:oMath>
                  </m:oMathPara>
                </a14:m>
                <a:endParaRPr lang="en-US" altLang="zh-CN" sz="3000" dirty="0" smtClean="0"/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81116" y="1082819"/>
                <a:ext cx="11872452" cy="5742941"/>
              </a:xfrm>
              <a:blipFill>
                <a:blip r:embed="rId3"/>
                <a:stretch>
                  <a:fillRect l="-1181" t="-19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169754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81115" y="1198881"/>
                <a:ext cx="12005187" cy="3883013"/>
              </a:xfrm>
            </p:spPr>
            <p:txBody>
              <a:bodyPr>
                <a:normAutofit/>
              </a:bodyPr>
              <a:lstStyle/>
              <a:p>
                <a:pPr algn="l"/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Theorem 8.2 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Arial Black" panose="020B0A04020102020204" pitchFamily="34" charset="0"/>
                  </a:rPr>
                  <a:t>The central limit </a:t>
                </a:r>
                <a:r>
                  <a:rPr lang="en-US" altLang="zh-CN" sz="2800" dirty="0" smtClean="0">
                    <a:solidFill>
                      <a:srgbClr val="FF0000"/>
                    </a:solidFill>
                    <a:latin typeface="Arial Black" panose="020B0A04020102020204" pitchFamily="34" charset="0"/>
                  </a:rPr>
                  <a:t>theorem</a:t>
                </a:r>
                <a:r>
                  <a:rPr lang="zh-CN" altLang="en-US" sz="2800" dirty="0" smtClean="0">
                    <a:solidFill>
                      <a:srgbClr val="FF0000"/>
                    </a:solidFill>
                    <a:latin typeface="Arial Black" panose="020B0A04020102020204" pitchFamily="34" charset="0"/>
                  </a:rPr>
                  <a:t>（中心极限定理）</a:t>
                </a:r>
                <a:endParaRPr lang="en-US" altLang="zh-CN" sz="2800" dirty="0" smtClean="0">
                  <a:solidFill>
                    <a:srgbClr val="FF0000"/>
                  </a:solidFill>
                  <a:latin typeface="Arial Black" panose="020B0A04020102020204" pitchFamily="34" charset="0"/>
                </a:endParaRPr>
              </a:p>
              <a:p>
                <a:pPr algn="l"/>
                <a:r>
                  <a:rPr lang="en-US" altLang="zh-CN" sz="2800" dirty="0">
                    <a:solidFill>
                      <a:prstClr val="black"/>
                    </a:solidFill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… 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be a sequence of independent and identically distributed random variables, each </a:t>
                </a:r>
                <a:r>
                  <a:rPr lang="en-US" altLang="zh-CN" sz="2800" dirty="0" smtClean="0">
                    <a:solidFill>
                      <a:prstClr val="black"/>
                    </a:solidFill>
                  </a:rPr>
                  <a:t>having 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mean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zh-CN" sz="2800" dirty="0" smtClean="0">
                    <a:solidFill>
                      <a:prstClr val="black"/>
                    </a:solidFill>
                  </a:rPr>
                  <a:t> and 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800" dirty="0" smtClean="0">
                    <a:solidFill>
                      <a:prstClr val="black"/>
                    </a:solidFill>
                  </a:rPr>
                  <a:t>. 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Then the distribution of</a:t>
                </a:r>
                <a:endParaRPr lang="en-US" altLang="zh-CN" sz="2800" i="1" dirty="0" smtClean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⋯+</m:t>
                          </m:r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zh-CN" altLang="en-US" sz="280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ad>
                            <m:radPr>
                              <m:degHide m:val="on"/>
                              <m:ctrlPr>
                                <a:rPr lang="zh-CN" altLang="en-US" sz="280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altLang="zh-CN" sz="2800" dirty="0" smtClean="0"/>
              </a:p>
              <a:p>
                <a:pPr algn="l"/>
                <a:r>
                  <a:rPr lang="en-US" altLang="zh-CN" sz="2800" dirty="0"/>
                  <a:t>tends to the standard normal as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altLang="zh-CN" sz="2800" dirty="0"/>
                  <a:t>. That is, for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&lt;∞</m:t>
                    </m:r>
                  </m:oMath>
                </a14:m>
                <a:r>
                  <a:rPr lang="en-US" altLang="zh-CN" sz="2800" dirty="0" smtClean="0"/>
                  <a:t>,</a:t>
                </a:r>
              </a:p>
              <a:p>
                <a:pPr lvl="0"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⋯+</m:t>
                              </m:r>
                              <m:sSub>
                                <m:sSub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num>
                            <m:den>
                              <m:r>
                                <a:rPr lang="zh-CN" altLang="en-US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rad>
                                <m:radPr>
                                  <m:degHide m:val="on"/>
                                  <m:ctrlPr>
                                    <a:rPr lang="zh-CN" altLang="en-US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  <m:r>
                            <a:rPr lang="en-US" altLang="zh-CN" sz="280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trlPr>
                            <a:rPr lang="en-US" altLang="zh-CN" sz="280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800" b="0" i="1" dirty="0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altLang="zh-CN" sz="2800" b="0" i="0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en-US" altLang="zh-CN" sz="2800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as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→∞</m:t>
                      </m:r>
                    </m:oMath>
                  </m:oMathPara>
                </a14:m>
                <a:endParaRPr lang="en-US" altLang="zh-CN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81115" y="1198881"/>
                <a:ext cx="12005187" cy="3883013"/>
              </a:xfrm>
              <a:blipFill>
                <a:blip r:embed="rId3"/>
                <a:stretch>
                  <a:fillRect l="-1015" t="-34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2794200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81115" y="1198881"/>
                <a:ext cx="12005187" cy="3883013"/>
              </a:xfrm>
            </p:spPr>
            <p:txBody>
              <a:bodyPr>
                <a:normAutofit/>
              </a:bodyPr>
              <a:lstStyle/>
              <a:p>
                <a:pPr algn="l"/>
                <a:r>
                  <a:rPr lang="en-US" altLang="zh-CN" sz="2800" dirty="0" smtClean="0">
                    <a:solidFill>
                      <a:srgbClr val="FF0000"/>
                    </a:solidFill>
                  </a:rPr>
                  <a:t>Remark:</a:t>
                </a:r>
                <a:r>
                  <a:rPr lang="en-US" altLang="zh-CN" sz="2800" dirty="0" smtClean="0">
                    <a:solidFill>
                      <a:prstClr val="black"/>
                    </a:solidFill>
                  </a:rPr>
                  <a:t> 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Although </a:t>
                </a:r>
                <a:r>
                  <a:rPr lang="en-US" altLang="zh-CN" sz="2800" dirty="0" smtClean="0">
                    <a:solidFill>
                      <a:prstClr val="black"/>
                    </a:solidFill>
                  </a:rPr>
                  <a:t>the 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central limit </a:t>
                </a:r>
                <a:r>
                  <a:rPr lang="en-US" altLang="zh-CN" sz="2800" dirty="0" smtClean="0">
                    <a:solidFill>
                      <a:prstClr val="black"/>
                    </a:solidFill>
                  </a:rPr>
                  <a:t>theorem states 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only that, for each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2800" dirty="0" smtClean="0">
                    <a:solidFill>
                      <a:prstClr val="black"/>
                    </a:solidFill>
                  </a:rPr>
                  <a:t>,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⋯+</m:t>
                              </m:r>
                              <m:sSub>
                                <m:sSub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num>
                            <m:den>
                              <m:r>
                                <a:rPr lang="zh-CN" altLang="en-US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rad>
                                <m:radPr>
                                  <m:degHide m:val="on"/>
                                  <m:ctrlPr>
                                    <a:rPr lang="zh-CN" altLang="en-US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l-GR" altLang="zh-CN" sz="28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dirty="0" smtClean="0"/>
              </a:p>
              <a:p>
                <a:pPr algn="l"/>
                <a:r>
                  <a:rPr lang="en-US" altLang="zh-CN" sz="2800" dirty="0"/>
                  <a:t>it can, in fact, be shown that the </a:t>
                </a:r>
                <a:r>
                  <a:rPr lang="en-US" altLang="zh-CN" sz="2800" dirty="0">
                    <a:solidFill>
                      <a:srgbClr val="FF0000"/>
                    </a:solidFill>
                  </a:rPr>
                  <a:t>convergence is </a:t>
                </a:r>
                <a:r>
                  <a:rPr lang="en-US" altLang="zh-CN" sz="2800" dirty="0" smtClean="0">
                    <a:solidFill>
                      <a:srgbClr val="FF0000"/>
                    </a:solidFill>
                  </a:rPr>
                  <a:t>uniform(</a:t>
                </a:r>
                <a:r>
                  <a:rPr lang="zh-CN" altLang="en-US" sz="2800" dirty="0" smtClean="0">
                    <a:solidFill>
                      <a:srgbClr val="FF0000"/>
                    </a:solidFill>
                  </a:rPr>
                  <a:t>一致收敛</a:t>
                </a:r>
                <a:r>
                  <a:rPr lang="en-US" altLang="zh-CN" sz="2800" dirty="0" smtClean="0">
                    <a:solidFill>
                      <a:srgbClr val="FF0000"/>
                    </a:solidFill>
                  </a:rPr>
                  <a:t>)</a:t>
                </a:r>
                <a:r>
                  <a:rPr lang="en-US" altLang="zh-CN" sz="2800" dirty="0" smtClean="0"/>
                  <a:t> in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2800" dirty="0"/>
                  <a:t>. [We </a:t>
                </a:r>
                <a:r>
                  <a:rPr lang="en-US" altLang="zh-CN" sz="2800" dirty="0" smtClean="0"/>
                  <a:t>say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800" dirty="0" smtClean="0"/>
                  <a:t> uniformly </a:t>
                </a:r>
                <a:r>
                  <a:rPr lang="en-US" altLang="zh-CN" sz="2800" dirty="0"/>
                  <a:t>in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2800" dirty="0"/>
                  <a:t> if, for each </a:t>
                </a:r>
                <a14:m>
                  <m:oMath xmlns:m="http://schemas.openxmlformats.org/officeDocument/2006/math">
                    <m:r>
                      <a:rPr lang="el-GR" altLang="zh-CN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zh-CN" sz="2800" dirty="0"/>
                  <a:t>, there exists an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zh-CN" sz="2800" dirty="0"/>
                  <a:t> such that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)−</m:t>
                        </m:r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zh-CN" altLang="en-US" sz="2800" i="1" dirty="0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 smtClean="0"/>
                  <a:t>for all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2800" dirty="0"/>
                  <a:t> whenever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zh-CN" sz="2800" dirty="0"/>
                  <a:t>.]</a:t>
                </a:r>
                <a:endParaRPr lang="en-US" altLang="zh-CN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81115" y="1198881"/>
                <a:ext cx="12005187" cy="3883013"/>
              </a:xfrm>
              <a:blipFill>
                <a:blip r:embed="rId3"/>
                <a:stretch>
                  <a:fillRect l="-1015" t="-2669" r="-4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2085661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4746" y="1050324"/>
                <a:ext cx="12110884" cy="4605682"/>
              </a:xfrm>
            </p:spPr>
            <p:txBody>
              <a:bodyPr>
                <a:normAutofit/>
              </a:bodyPr>
              <a:lstStyle/>
              <a:p>
                <a:pPr lvl="0" algn="l"/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Example 8.2</a:t>
                </a:r>
              </a:p>
              <a:p>
                <a:pPr lvl="0" algn="l"/>
                <a:r>
                  <a:rPr lang="en-US" altLang="zh-CN" sz="28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=1, …, 10</m:t>
                    </m:r>
                  </m:oMath>
                </a14:m>
                <a:r>
                  <a:rPr lang="en-US" altLang="zh-CN" sz="2800" dirty="0"/>
                  <a:t>, be independent random variables, each uniformly </a:t>
                </a:r>
                <a:r>
                  <a:rPr lang="en-US" altLang="zh-CN" sz="2800" dirty="0" smtClean="0"/>
                  <a:t>distributed over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(0, 1). </m:t>
                    </m:r>
                  </m:oMath>
                </a14:m>
                <a:r>
                  <a:rPr lang="en-US" altLang="zh-CN" sz="2800" dirty="0"/>
                  <a:t>Calculate an approximation </a:t>
                </a:r>
                <a:r>
                  <a:rPr lang="en-US" altLang="zh-CN" sz="2800" dirty="0" smtClean="0"/>
                  <a:t>to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e>
                    </m:d>
                  </m:oMath>
                </a14:m>
                <a:r>
                  <a:rPr lang="en-US" altLang="zh-CN" sz="2800" dirty="0" smtClean="0"/>
                  <a:t>?</a:t>
                </a: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b="1" dirty="0" smtClean="0"/>
                  <a:t>Solution: </a:t>
                </a:r>
                <a:r>
                  <a:rPr lang="en-US" altLang="zh-CN" sz="2800" dirty="0" smtClean="0"/>
                  <a:t>Since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] =</m:t>
                    </m:r>
                    <m:f>
                      <m:f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dirty="0" smtClean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0" dirty="0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lit/>
                      </m:rPr>
                      <a:rPr lang="en-US" altLang="zh-CN" sz="28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 smtClean="0"/>
                  <a:t>by </a:t>
                </a:r>
                <a:r>
                  <a:rPr lang="en-US" altLang="zh-CN" sz="2800" dirty="0"/>
                  <a:t>the central limit </a:t>
                </a:r>
                <a:r>
                  <a:rPr lang="en-US" altLang="zh-CN" sz="2800" dirty="0" smtClean="0"/>
                  <a:t>theorem</a:t>
                </a:r>
                <a:r>
                  <a:rPr lang="en-US" altLang="zh-CN" sz="2800" dirty="0"/>
                  <a:t>,</a:t>
                </a:r>
                <a:endParaRPr lang="en-US" altLang="zh-CN" sz="2800" dirty="0" smtClean="0"/>
              </a:p>
              <a:p>
                <a:pPr algn="l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ctrlPr>
                                    <a:rPr lang="en-US" altLang="zh-CN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zh-CN" sz="2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sz="2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n-US" altLang="zh-CN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−5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280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10(</m:t>
                                  </m:r>
                                  <m:f>
                                    <m:fPr>
                                      <m:ctrlPr>
                                        <a:rPr lang="en-US" altLang="zh-CN" sz="2800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800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CN" sz="2800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den>
                                  </m:f>
                                  <m:r>
                                    <a:rPr lang="en-US" altLang="zh-CN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rad>
                            </m:den>
                          </m:f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f>
                            <m:fPr>
                              <m:ctrlPr>
                                <a:rPr lang="en-US" altLang="zh-CN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altLang="zh-CN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−5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10(</m:t>
                                  </m:r>
                                  <m:f>
                                    <m:fPr>
                                      <m:ctrlPr>
                                        <a:rPr lang="en-US" altLang="zh-CN" sz="2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CN" sz="2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den>
                                  </m:f>
                                  <m:r>
                                    <a:rPr lang="en-US" altLang="zh-CN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sz="2800" dirty="0" smtClean="0"/>
              </a:p>
              <a:p>
                <a:pPr algn="l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≈1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l-GR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l-GR" altLang="zh-CN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1.2</m:t>
                              </m:r>
                            </m:e>
                          </m:rad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0.1367</m:t>
                      </m:r>
                    </m:oMath>
                  </m:oMathPara>
                </a14:m>
                <a:endParaRPr lang="en-US" altLang="zh-CN" sz="2800" dirty="0" smtClean="0"/>
              </a:p>
            </p:txBody>
          </p:sp>
        </mc:Choice>
        <mc:Fallback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4746" y="1050324"/>
                <a:ext cx="12110884" cy="4605682"/>
              </a:xfrm>
              <a:blipFill>
                <a:blip r:embed="rId3"/>
                <a:stretch>
                  <a:fillRect l="-1007" t="-2249" r="-5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619088" y="63498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1604375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4746" y="1050324"/>
                <a:ext cx="12110884" cy="5520082"/>
              </a:xfrm>
            </p:spPr>
            <p:txBody>
              <a:bodyPr>
                <a:normAutofit/>
              </a:bodyPr>
              <a:lstStyle/>
              <a:p>
                <a:pPr lvl="0" algn="l"/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Example 8.3</a:t>
                </a:r>
              </a:p>
              <a:p>
                <a:pPr lvl="0" algn="l"/>
                <a:r>
                  <a:rPr lang="en-US" altLang="zh-CN" sz="2800" dirty="0"/>
                  <a:t>If 10 fair dice are rolled, find the approximate probability that the sum obtained </a:t>
                </a:r>
                <a:r>
                  <a:rPr lang="en-US" altLang="zh-CN" sz="2800" dirty="0" smtClean="0"/>
                  <a:t>is between </a:t>
                </a:r>
                <a:r>
                  <a:rPr lang="en-US" altLang="zh-CN" sz="2800" dirty="0"/>
                  <a:t>30 and 40, inclusive</a:t>
                </a:r>
                <a:r>
                  <a:rPr lang="en-US" altLang="zh-CN" sz="2800" dirty="0" smtClean="0"/>
                  <a:t>.</a:t>
                </a: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b="1" dirty="0" smtClean="0"/>
                  <a:t>Solution: </a:t>
                </a:r>
                <a:r>
                  <a:rPr lang="en-US" altLang="zh-CN" sz="28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800" dirty="0" smtClean="0"/>
                  <a:t> denote </a:t>
                </a:r>
                <a:r>
                  <a:rPr lang="en-US" altLang="zh-CN" sz="2800" dirty="0"/>
                  <a:t>the value of the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800" dirty="0" err="1"/>
                  <a:t>th</a:t>
                </a:r>
                <a:r>
                  <a:rPr lang="en-US" altLang="zh-CN" sz="2800" dirty="0"/>
                  <a:t> </a:t>
                </a:r>
                <a:r>
                  <a:rPr lang="en-US" altLang="zh-CN" sz="2800" dirty="0" smtClean="0"/>
                  <a:t>die,</a:t>
                </a:r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=1, …, 10</m:t>
                    </m:r>
                  </m:oMath>
                </a14:m>
                <a:r>
                  <a:rPr lang="en-US" altLang="zh-CN" sz="2800" dirty="0" smtClean="0"/>
                  <a:t>. Since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] =</m:t>
                    </m:r>
                    <m:f>
                      <m:f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dirty="0" smtClean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0" dirty="0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lit/>
                      </m:rPr>
                      <a:rPr lang="en-US" altLang="zh-CN" sz="28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 smtClean="0"/>
                  <a:t>by </a:t>
                </a:r>
                <a:r>
                  <a:rPr lang="en-US" altLang="zh-CN" sz="2800" dirty="0"/>
                  <a:t>the central limit </a:t>
                </a:r>
                <a:r>
                  <a:rPr lang="en-US" altLang="zh-CN" sz="2800" dirty="0" smtClean="0"/>
                  <a:t>theorem</a:t>
                </a:r>
                <a:r>
                  <a:rPr lang="en-US" altLang="zh-CN" sz="2800" dirty="0"/>
                  <a:t>,</a:t>
                </a:r>
                <a:endParaRPr lang="en-US" altLang="zh-CN" sz="2800" dirty="0" smtClean="0"/>
              </a:p>
              <a:p>
                <a:pPr algn="l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29.5</m:t>
                          </m:r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40.5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29.5−35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280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10(</m:t>
                                  </m:r>
                                  <m:f>
                                    <m:fPr>
                                      <m:ctrlPr>
                                        <a:rPr lang="en-US" altLang="zh-CN" sz="2800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800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35</m:t>
                                      </m:r>
                                    </m:num>
                                    <m:den>
                                      <m:r>
                                        <a:rPr lang="en-US" altLang="zh-CN" sz="2800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den>
                                  </m:f>
                                  <m:r>
                                    <a:rPr lang="en-US" altLang="zh-CN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rad>
                            </m:den>
                          </m:f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f>
                            <m:fPr>
                              <m:ctrlP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−35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10(</m:t>
                                  </m:r>
                                  <m:f>
                                    <m:fPr>
                                      <m:ctrlPr>
                                        <a:rPr lang="en-US" altLang="zh-CN" sz="2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35</m:t>
                                      </m:r>
                                    </m:num>
                                    <m:den>
                                      <m:r>
                                        <a:rPr lang="en-US" altLang="zh-CN" sz="2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den>
                                  </m:f>
                                  <m:r>
                                    <a:rPr lang="en-US" altLang="zh-CN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rad>
                            </m:den>
                          </m:f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f>
                            <m:fPr>
                              <m:ctrlPr>
                                <a:rPr lang="en-US" altLang="zh-CN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40.5−35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10(</m:t>
                                  </m:r>
                                  <m:f>
                                    <m:fPr>
                                      <m:ctrlPr>
                                        <a:rPr lang="en-US" altLang="zh-CN" sz="2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800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35</m:t>
                                      </m:r>
                                    </m:num>
                                    <m:den>
                                      <m:r>
                                        <a:rPr lang="en-US" altLang="zh-CN" sz="2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den>
                                  </m:f>
                                  <m:r>
                                    <a:rPr lang="en-US" altLang="zh-CN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sz="2800" dirty="0" smtClean="0"/>
              </a:p>
              <a:p>
                <a:pPr algn="l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−1.0184</m:t>
                          </m:r>
                          <m:r>
                            <a:rPr lang="en-US" altLang="zh-CN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US" altLang="zh-CN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1.0184</m:t>
                          </m:r>
                        </m:e>
                      </m:d>
                    </m:oMath>
                  </m:oMathPara>
                </a14:m>
                <a:endParaRPr lang="en-US" altLang="zh-CN" sz="2800" i="1" dirty="0" smtClean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algn="l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≈2</m:t>
                      </m:r>
                      <m:r>
                        <m:rPr>
                          <m:sty m:val="p"/>
                        </m:rPr>
                        <a:rPr lang="el-GR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l-GR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.0184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0.692</m:t>
                      </m:r>
                    </m:oMath>
                  </m:oMathPara>
                </a14:m>
                <a:endParaRPr lang="en-US" altLang="zh-CN" sz="2800" dirty="0" smtClean="0"/>
              </a:p>
            </p:txBody>
          </p:sp>
        </mc:Choice>
        <mc:Fallback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4746" y="1050324"/>
                <a:ext cx="12110884" cy="5520082"/>
              </a:xfrm>
              <a:blipFill>
                <a:blip r:embed="rId3"/>
                <a:stretch>
                  <a:fillRect l="-1007" t="-1876" r="-9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619088" y="63498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4096176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4746" y="1050324"/>
                <a:ext cx="12110884" cy="5756058"/>
              </a:xfrm>
            </p:spPr>
            <p:txBody>
              <a:bodyPr>
                <a:normAutofit/>
              </a:bodyPr>
              <a:lstStyle/>
              <a:p>
                <a:pPr lvl="0" algn="l"/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Example 8.4</a:t>
                </a:r>
              </a:p>
              <a:p>
                <a:pPr lvl="0" algn="l"/>
                <a:r>
                  <a:rPr lang="en-US" altLang="zh-CN" sz="2800" dirty="0"/>
                  <a:t>An instructor has 50 exams that will be graded in sequence. The times required </a:t>
                </a:r>
                <a:r>
                  <a:rPr lang="en-US" altLang="zh-CN" sz="2800" dirty="0" smtClean="0"/>
                  <a:t>to grade </a:t>
                </a:r>
                <a:r>
                  <a:rPr lang="en-US" altLang="zh-CN" sz="2800" dirty="0"/>
                  <a:t>the 50 exams are independent, with a common distribution that has </a:t>
                </a:r>
                <a:r>
                  <a:rPr lang="en-US" altLang="zh-CN" sz="2800" dirty="0" smtClean="0"/>
                  <a:t>mean 20 </a:t>
                </a:r>
                <a:r>
                  <a:rPr lang="en-US" altLang="zh-CN" sz="2800" dirty="0"/>
                  <a:t>minutes and standard deviation 4 minutes. Approximate the probability that </a:t>
                </a:r>
                <a:r>
                  <a:rPr lang="en-US" altLang="zh-CN" sz="2800" dirty="0" smtClean="0"/>
                  <a:t>the instructor </a:t>
                </a:r>
                <a:r>
                  <a:rPr lang="en-US" altLang="zh-CN" sz="2800" dirty="0"/>
                  <a:t>will grade at least 25 of the exams in the first 450 minutes of work</a:t>
                </a:r>
                <a:r>
                  <a:rPr lang="en-US" altLang="zh-CN" sz="2800" dirty="0" smtClean="0"/>
                  <a:t>.</a:t>
                </a:r>
              </a:p>
              <a:p>
                <a:pPr lvl="0" algn="l"/>
                <a:r>
                  <a:rPr lang="en-US" altLang="zh-CN" sz="2800" b="1" dirty="0" smtClean="0"/>
                  <a:t>Solution: </a:t>
                </a:r>
                <a:r>
                  <a:rPr lang="en-US" altLang="zh-CN" sz="2800" dirty="0"/>
                  <a:t>If we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800" dirty="0"/>
                  <a:t> be the time that it takes to grade exam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800" dirty="0"/>
                  <a:t>, </a:t>
                </a:r>
                <a:r>
                  <a:rPr lang="en-US" altLang="zh-CN" sz="2800" dirty="0" smtClean="0"/>
                  <a:t>then </a:t>
                </a:r>
              </a:p>
              <a:p>
                <a:pPr lvl="0"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sz="2800" dirty="0" smtClean="0"/>
              </a:p>
              <a:p>
                <a:pPr lvl="0" algn="l"/>
                <a:r>
                  <a:rPr lang="en-US" altLang="zh-CN" sz="2800" dirty="0"/>
                  <a:t>is the time it takes to grade the first 25 exams. Because the instructor will grade </a:t>
                </a:r>
                <a:r>
                  <a:rPr lang="en-US" altLang="zh-CN" sz="2800" dirty="0" smtClean="0"/>
                  <a:t>at least </a:t>
                </a:r>
                <a:r>
                  <a:rPr lang="en-US" altLang="zh-CN" sz="2800" dirty="0"/>
                  <a:t>25 exams in the first 450 minutes of work if the time it takes to grade the first </a:t>
                </a:r>
                <a:r>
                  <a:rPr lang="en-US" altLang="zh-CN" sz="2800" dirty="0" smtClean="0"/>
                  <a:t>25 exams </a:t>
                </a:r>
                <a:r>
                  <a:rPr lang="en-US" altLang="zh-CN" sz="2800" dirty="0"/>
                  <a:t>is less than or equal to 450, we see that the desired probability is </a:t>
                </a:r>
                <a:endParaRPr lang="en-US" altLang="zh-CN" sz="2800" i="1" dirty="0" smtClean="0">
                  <a:latin typeface="Cambria Math" panose="02040503050406030204" pitchFamily="18" charset="0"/>
                </a:endParaRPr>
              </a:p>
              <a:p>
                <a:pPr lvl="0"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450}.</m:t>
                      </m:r>
                    </m:oMath>
                  </m:oMathPara>
                </a14:m>
                <a:endParaRPr lang="en-US" altLang="zh-CN" sz="2800" dirty="0" smtClean="0"/>
              </a:p>
              <a:p>
                <a:pPr lvl="0" algn="l"/>
                <a:endParaRPr lang="en-US" altLang="zh-CN" sz="2800" dirty="0"/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4746" y="1050324"/>
                <a:ext cx="12110884" cy="5756058"/>
              </a:xfrm>
              <a:blipFill>
                <a:blip r:embed="rId3"/>
                <a:stretch>
                  <a:fillRect l="-1007" t="-1799" r="-15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619088" y="63498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1967646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93040" y="1168200"/>
                <a:ext cx="11922759" cy="5468574"/>
              </a:xfrm>
            </p:spPr>
            <p:txBody>
              <a:bodyPr>
                <a:norm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altLang="zh-CN" sz="2800" dirty="0" smtClean="0"/>
                  <a:t>To </a:t>
                </a:r>
                <a:r>
                  <a:rPr lang="en-US" altLang="zh-CN" sz="2800" dirty="0"/>
                  <a:t>approximate this probability, we use the central limit theorem. Now,</a:t>
                </a:r>
                <a:endParaRPr lang="en-US" altLang="zh-CN" sz="2800" b="0" i="1" dirty="0" smtClean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2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25</m:t>
                          </m:r>
                        </m:sup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sz="2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=25(20)=500</m:t>
                      </m:r>
                    </m:oMath>
                  </m:oMathPara>
                </a14:m>
                <a:endParaRPr lang="zh-CN" altLang="zh-CN" sz="1200" dirty="0">
                  <a:latin typeface="Tahoma" panose="020B0604030504040204" pitchFamily="34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:r>
                  <a:rPr lang="en-US" altLang="zh-CN" sz="28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and</a:t>
                </a:r>
                <a:endParaRPr lang="zh-CN" altLang="zh-CN" sz="1200" dirty="0">
                  <a:latin typeface="Tahoma" panose="020B0604030504040204" pitchFamily="34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V</m:t>
                      </m:r>
                      <m:r>
                        <a:rPr lang="en-US" altLang="zh-CN" sz="28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2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25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V</m:t>
                          </m:r>
                          <m:r>
                            <a:rPr lang="en-US" altLang="zh-CN" sz="28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sz="2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8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=25(16)=400</m:t>
                      </m:r>
                    </m:oMath>
                  </m:oMathPara>
                </a14:m>
                <a:endParaRPr lang="zh-CN" altLang="zh-CN" sz="1200" dirty="0">
                  <a:latin typeface="Tahoma" panose="020B0604030504040204" pitchFamily="34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:r>
                  <a:rPr lang="en-US" altLang="zh-CN" sz="28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Consequently, with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𝑍</m:t>
                    </m:r>
                  </m:oMath>
                </a14:m>
                <a:r>
                  <a:rPr lang="en-US" altLang="zh-CN" sz="28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being a standard normal random variable, we have</a:t>
                </a:r>
                <a:endParaRPr lang="zh-CN" altLang="zh-CN" sz="1200" dirty="0">
                  <a:latin typeface="Tahoma" panose="020B0604030504040204" pitchFamily="34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zh-CN" sz="2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≤450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zh-CN" sz="2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zh-CN" sz="2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−500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zh-CN" altLang="zh-CN" sz="2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400</m:t>
                                  </m:r>
                                </m:e>
                              </m:rad>
                            </m:den>
                          </m:f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≤</m:t>
                          </m:r>
                          <m:f>
                            <m:fPr>
                              <m:ctrlPr>
                                <a:rPr lang="zh-CN" altLang="zh-CN" sz="2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450−500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zh-CN" altLang="zh-CN" sz="2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400</m:t>
                                  </m:r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zh-CN" altLang="zh-CN" sz="1200" dirty="0">
                  <a:latin typeface="Tahoma" panose="020B0604030504040204" pitchFamily="34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≈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zh-CN" sz="2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≤−2.5</m:t>
                          </m:r>
                        </m:e>
                      </m:d>
                      <m:r>
                        <a:rPr lang="en-US" altLang="zh-CN" sz="28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zh-CN" sz="2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≥2.5</m:t>
                          </m:r>
                        </m:e>
                      </m:d>
                    </m:oMath>
                  </m:oMathPara>
                </a14:m>
                <a:endParaRPr lang="zh-CN" altLang="zh-CN" sz="1200" dirty="0">
                  <a:latin typeface="Tahoma" panose="020B0604030504040204" pitchFamily="34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𝜙</m:t>
                      </m:r>
                      <m:d>
                        <m:dPr>
                          <m:ctrlPr>
                            <a:rPr lang="zh-CN" altLang="zh-CN" sz="2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2.5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=0.006</m:t>
                      </m:r>
                    </m:oMath>
                  </m:oMathPara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93040" y="1168200"/>
                <a:ext cx="11922759" cy="5468574"/>
              </a:xfrm>
              <a:blipFill>
                <a:blip r:embed="rId3"/>
                <a:stretch>
                  <a:fillRect l="-1074" t="-1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3150483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95865" y="1198881"/>
                <a:ext cx="11968316" cy="5357962"/>
              </a:xfrm>
            </p:spPr>
            <p:txBody>
              <a:bodyPr>
                <a:normAutofit/>
              </a:bodyPr>
              <a:lstStyle/>
              <a:p>
                <a:pPr algn="l"/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Theorem 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8.3 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Arial Black" panose="020B0A04020102020204" pitchFamily="34" charset="0"/>
                  </a:rPr>
                  <a:t>Central limit theorem for independent random </a:t>
                </a:r>
                <a:r>
                  <a:rPr lang="en-US" altLang="zh-CN" sz="2800" dirty="0" smtClean="0">
                    <a:solidFill>
                      <a:srgbClr val="FF0000"/>
                    </a:solidFill>
                    <a:latin typeface="Arial Black" panose="020B0A04020102020204" pitchFamily="34" charset="0"/>
                  </a:rPr>
                  <a:t>variables</a:t>
                </a:r>
              </a:p>
              <a:p>
                <a:pPr algn="l"/>
                <a:r>
                  <a:rPr lang="en-US" altLang="zh-CN" sz="2800" dirty="0">
                    <a:solidFill>
                      <a:prstClr val="black"/>
                    </a:solidFill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… 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be a sequence of independent </a:t>
                </a:r>
                <a:r>
                  <a:rPr lang="en-US" altLang="zh-CN" sz="2800" dirty="0" smtClean="0">
                    <a:solidFill>
                      <a:prstClr val="black"/>
                    </a:solidFill>
                  </a:rPr>
                  <a:t>random 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variables, each having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8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8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CN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8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 and variance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28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altLang="zh-CN" sz="28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[</m:t>
                    </m:r>
                    <m:sSub>
                      <m:sSubPr>
                        <m:ctrlPr>
                          <a:rPr lang="en-US" altLang="zh-CN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8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.</a:t>
                </a:r>
                <a:r>
                  <a:rPr lang="en-US" altLang="zh-CN" sz="2800" dirty="0" smtClean="0"/>
                  <a:t> If </a:t>
                </a:r>
              </a:p>
              <a:p>
                <a:pPr algn="l"/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zh-CN" sz="2800" dirty="0" smtClean="0"/>
                  <a:t>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800" dirty="0" smtClean="0"/>
                  <a:t> are uniformly bounded-that </a:t>
                </a:r>
                <a:r>
                  <a:rPr lang="en-US" altLang="zh-CN" sz="2800" dirty="0"/>
                  <a:t>is, </a:t>
                </a:r>
                <a:r>
                  <a:rPr lang="en-US" altLang="zh-CN" sz="2800" dirty="0" smtClean="0"/>
                  <a:t>if for </a:t>
                </a:r>
                <a:r>
                  <a:rPr lang="en-US" altLang="zh-CN" sz="2800" dirty="0"/>
                  <a:t>some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zh-CN" sz="2800" dirty="0"/>
                  <a:t>,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}=1 </m:t>
                    </m:r>
                  </m:oMath>
                </a14:m>
                <a:r>
                  <a:rPr lang="en-US" altLang="zh-CN" sz="2800" dirty="0"/>
                  <a:t>for all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800" dirty="0"/>
                  <a:t>, </a:t>
                </a:r>
                <a:endParaRPr lang="en-US" altLang="zh-CN" sz="2800" i="1" dirty="0" smtClean="0">
                  <a:latin typeface="Cambria Math" panose="02040503050406030204" pitchFamily="18" charset="0"/>
                </a:endParaRPr>
              </a:p>
              <a:p>
                <a:pPr algn="l"/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Sup>
                          <m:sSubSupPr>
                            <m:ctrlP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endParaRPr lang="en-US" altLang="zh-CN" sz="2800" dirty="0" smtClean="0"/>
              </a:p>
              <a:p>
                <a:pPr algn="l"/>
                <a:r>
                  <a:rPr lang="en-US" altLang="zh-CN" sz="2800" dirty="0" smtClean="0"/>
                  <a:t>Then</a:t>
                </a:r>
              </a:p>
              <a:p>
                <a:pPr lvl="0"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ctrlPr>
                                    <a:rPr lang="en-US" altLang="zh-CN" sz="280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d>
                                    <m:dPr>
                                      <m:ctrlPr>
                                        <a:rPr lang="en-US" altLang="zh-CN" sz="2800" i="1" dirty="0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800" b="0" i="1" dirty="0" smtClea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0" i="1" dirty="0" smtClea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0" i="1" dirty="0" smtClea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CN" sz="2800" b="0" i="1" dirty="0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800" b="0" i="1" dirty="0" smtClea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2800" b="0" i="1" dirty="0" smtClea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0" i="1" dirty="0" smtClea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zh-CN" altLang="en-US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altLang="zh-CN" sz="2800" b="0" i="1" dirty="0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8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zh-CN" altLang="en-US" sz="28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8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nary>
                                </m:e>
                              </m:rad>
                            </m:den>
                          </m:f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l-GR" altLang="zh-CN" sz="28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l-GR" altLang="zh-CN" sz="280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altLang="zh-CN" sz="2800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en-US" altLang="zh-CN" sz="2800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as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→∞</m:t>
                      </m:r>
                    </m:oMath>
                  </m:oMathPara>
                </a14:m>
                <a:endParaRPr lang="en-US" altLang="zh-CN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95865" y="1198881"/>
                <a:ext cx="11968316" cy="5357962"/>
              </a:xfrm>
              <a:blipFill>
                <a:blip r:embed="rId3"/>
                <a:stretch>
                  <a:fillRect l="-1070" t="-2048" r="-15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454961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" y="1247759"/>
                <a:ext cx="12137922" cy="5467391"/>
              </a:xfrm>
            </p:spPr>
            <p:txBody>
              <a:bodyPr>
                <a:normAutofit/>
              </a:bodyPr>
              <a:lstStyle/>
              <a:p>
                <a:pPr lvl="0" algn="l"/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Theorem 8.4 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Arial Black" panose="020B0A04020102020204" pitchFamily="34" charset="0"/>
                  </a:rPr>
                  <a:t>The Strong Law of Large </a:t>
                </a:r>
                <a:r>
                  <a:rPr lang="en-US" altLang="zh-CN" sz="2800" dirty="0" smtClean="0">
                    <a:solidFill>
                      <a:srgbClr val="FF0000"/>
                    </a:solidFill>
                    <a:latin typeface="Arial Black" panose="020B0A04020102020204" pitchFamily="34" charset="0"/>
                  </a:rPr>
                  <a:t>Numbers</a:t>
                </a:r>
                <a:r>
                  <a:rPr lang="zh-CN" altLang="en-US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（</a:t>
                </a:r>
                <a:r>
                  <a:rPr lang="zh-CN" altLang="en-US" sz="2800" dirty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强大数定律</a:t>
                </a:r>
                <a:r>
                  <a:rPr lang="zh-CN" altLang="en-US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）</a:t>
                </a:r>
                <a:endParaRPr lang="en-US" altLang="zh-CN" sz="28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  <a:p>
                <a:pPr algn="l"/>
                <a:r>
                  <a:rPr lang="en-US" altLang="zh-CN" sz="2800" dirty="0">
                    <a:solidFill>
                      <a:prstClr val="black"/>
                    </a:solidFill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… 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be a sequence of independent and identically distributed random variables, each having finite mean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. Then, </a:t>
                </a:r>
                <a:r>
                  <a:rPr lang="en-US" altLang="zh-CN" sz="2800" dirty="0">
                    <a:latin typeface="Times New Roman" panose="02020603050405020304" pitchFamily="18" charset="0"/>
                  </a:rPr>
                  <a:t>with probability 1,</a:t>
                </a:r>
                <a:endParaRPr lang="en-US" altLang="zh-CN" sz="2800" b="0" i="1" dirty="0" smtClean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⋯+</m:t>
                          </m:r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altLang="zh-CN" sz="28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zh-CN" altLang="en-US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m:rPr>
                          <m:sty m:val="p"/>
                        </m:rPr>
                        <a:rPr lang="en-US" altLang="zh-CN" sz="2800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as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→∞</m:t>
                      </m:r>
                    </m:oMath>
                  </m:oMathPara>
                </a14:m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 smtClean="0"/>
                  <a:t>The </a:t>
                </a:r>
                <a:r>
                  <a:rPr lang="en-US" altLang="zh-CN" sz="2800" dirty="0"/>
                  <a:t>strong law of large numbers is probably the best-known result in </a:t>
                </a:r>
                <a:r>
                  <a:rPr lang="en-US" altLang="zh-CN" sz="2800" dirty="0" smtClean="0"/>
                  <a:t>probability theory</a:t>
                </a:r>
                <a:r>
                  <a:rPr lang="en-US" altLang="zh-CN" sz="2800" dirty="0"/>
                  <a:t>. It states that the average of a sequence of independent random </a:t>
                </a:r>
                <a:r>
                  <a:rPr lang="en-US" altLang="zh-CN" sz="2800" dirty="0" smtClean="0"/>
                  <a:t>variables having </a:t>
                </a:r>
                <a:r>
                  <a:rPr lang="en-US" altLang="zh-CN" sz="2800" dirty="0"/>
                  <a:t>a common distribution will, with probability 1, converge to the mean of </a:t>
                </a:r>
                <a:r>
                  <a:rPr lang="en-US" altLang="zh-CN" sz="2800" dirty="0" smtClean="0"/>
                  <a:t>that distribution.</a:t>
                </a: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 smtClean="0"/>
                  <a:t>That </a:t>
                </a:r>
                <a:r>
                  <a:rPr lang="en-US" altLang="zh-CN" sz="2800" dirty="0"/>
                  <a:t>is, the strong law of large numbers states that</a:t>
                </a:r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{</m:t>
                      </m:r>
                      <m:func>
                        <m:funcPr>
                          <m:ctrlPr>
                            <a:rPr lang="en-US" altLang="zh-CN" sz="280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800" i="1" dirty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i="0" dirty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280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800" i="1" dirty="0" smtClean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 ···+ </m:t>
                          </m:r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 err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800" i="1" dirty="0" err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)/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func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CN" sz="2800" dirty="0" smtClean="0"/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" y="1247759"/>
                <a:ext cx="12137922" cy="5467391"/>
              </a:xfrm>
              <a:blipFill>
                <a:blip r:embed="rId3"/>
                <a:stretch>
                  <a:fillRect l="-1005" t="-24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2623711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93040" y="1349477"/>
            <a:ext cx="11679412" cy="5176683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Homework</a:t>
            </a:r>
          </a:p>
          <a:p>
            <a:pPr algn="l"/>
            <a:r>
              <a:rPr lang="en-US" altLang="zh-CN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Page 420  Problems</a:t>
            </a:r>
            <a:endParaRPr lang="en-US" altLang="zh-CN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algn="l"/>
            <a:r>
              <a:rPr lang="en-US" altLang="zh-CN" dirty="0" smtClean="0"/>
              <a:t>1, 4, 13, 15</a:t>
            </a:r>
          </a:p>
          <a:p>
            <a:pPr algn="l"/>
            <a:r>
              <a:rPr lang="en-US" altLang="zh-CN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Page 422 </a:t>
            </a:r>
            <a:r>
              <a:rPr lang="en-US" altLang="zh-CN" dirty="0">
                <a:solidFill>
                  <a:srgbClr val="0070C0"/>
                </a:solidFill>
                <a:latin typeface="Arial Black" panose="020B0A04020102020204" pitchFamily="34" charset="0"/>
              </a:rPr>
              <a:t>Theoretical Exercises</a:t>
            </a:r>
          </a:p>
          <a:p>
            <a:pPr algn="l"/>
            <a:r>
              <a:rPr lang="en-US" altLang="zh-CN" dirty="0"/>
              <a:t> </a:t>
            </a:r>
            <a:r>
              <a:rPr lang="en-US" altLang="zh-CN" dirty="0" smtClean="0"/>
              <a:t>1, 2</a:t>
            </a:r>
            <a:endParaRPr lang="en-US" altLang="zh-CN" dirty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algn="l"/>
            <a:r>
              <a:rPr lang="en-US" altLang="zh-CN" dirty="0">
                <a:solidFill>
                  <a:srgbClr val="0070C0"/>
                </a:solidFill>
                <a:latin typeface="Arial Black" panose="020B0A04020102020204" pitchFamily="34" charset="0"/>
              </a:rPr>
              <a:t>Page </a:t>
            </a:r>
            <a:r>
              <a:rPr lang="en-US" altLang="zh-CN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423  </a:t>
            </a:r>
            <a:r>
              <a:rPr lang="en-US" altLang="zh-CN" dirty="0">
                <a:solidFill>
                  <a:srgbClr val="0070C0"/>
                </a:solidFill>
                <a:latin typeface="Arial Black" panose="020B0A04020102020204" pitchFamily="34" charset="0"/>
              </a:rPr>
              <a:t>Self-Test Problems and </a:t>
            </a:r>
            <a:r>
              <a:rPr lang="en-US" altLang="zh-CN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Exercises</a:t>
            </a:r>
          </a:p>
          <a:p>
            <a:pPr algn="l"/>
            <a:r>
              <a:rPr lang="en-US" altLang="zh-CN" dirty="0" smtClean="0"/>
              <a:t>1, 2, 8</a:t>
            </a:r>
            <a:endParaRPr lang="en-US" altLang="zh-CN" dirty="0"/>
          </a:p>
          <a:p>
            <a:pPr algn="l"/>
            <a:endParaRPr lang="en-US" altLang="zh-CN" dirty="0" smtClean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algn="l"/>
            <a:endParaRPr lang="en-US" altLang="zh-CN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2153331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47704</TotalTime>
  <Words>2385</Words>
  <Application>Microsoft Office PowerPoint</Application>
  <PresentationFormat>宽屏</PresentationFormat>
  <Paragraphs>124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宋体</vt:lpstr>
      <vt:lpstr>Arial</vt:lpstr>
      <vt:lpstr>Arial Black</vt:lpstr>
      <vt:lpstr>Calibri</vt:lpstr>
      <vt:lpstr>Calibri Light</vt:lpstr>
      <vt:lpstr>Cambria Math</vt:lpstr>
      <vt:lpstr>Tahoma</vt:lpstr>
      <vt:lpstr>Times New Roman</vt:lpstr>
      <vt:lpstr>Wingdings</vt:lpstr>
      <vt:lpstr>Office 主题</vt:lpstr>
      <vt:lpstr>1_Office 主题</vt:lpstr>
      <vt:lpstr>Lecture 8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jintao</dc:creator>
  <cp:lastModifiedBy>guo</cp:lastModifiedBy>
  <cp:revision>1972</cp:revision>
  <dcterms:created xsi:type="dcterms:W3CDTF">2017-08-02T16:53:24Z</dcterms:created>
  <dcterms:modified xsi:type="dcterms:W3CDTF">2022-12-15T03:23:09Z</dcterms:modified>
</cp:coreProperties>
</file>