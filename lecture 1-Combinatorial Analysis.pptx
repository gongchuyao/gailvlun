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429" r:id="rId3"/>
    <p:sldId id="438" r:id="rId4"/>
    <p:sldId id="479" r:id="rId5"/>
    <p:sldId id="478" r:id="rId6"/>
    <p:sldId id="439" r:id="rId7"/>
    <p:sldId id="492" r:id="rId8"/>
    <p:sldId id="480" r:id="rId9"/>
    <p:sldId id="440" r:id="rId10"/>
    <p:sldId id="476" r:id="rId11"/>
    <p:sldId id="477" r:id="rId12"/>
    <p:sldId id="481" r:id="rId13"/>
    <p:sldId id="482" r:id="rId14"/>
    <p:sldId id="474" r:id="rId15"/>
    <p:sldId id="475" r:id="rId16"/>
    <p:sldId id="484" r:id="rId17"/>
    <p:sldId id="485" r:id="rId18"/>
    <p:sldId id="486" r:id="rId19"/>
    <p:sldId id="487" r:id="rId20"/>
    <p:sldId id="488" r:id="rId21"/>
    <p:sldId id="489" r:id="rId22"/>
    <p:sldId id="491" r:id="rId23"/>
    <p:sldId id="490" r:id="rId24"/>
    <p:sldId id="472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0996" autoAdjust="0"/>
  </p:normalViewPr>
  <p:slideViewPr>
    <p:cSldViewPr snapToGrid="0">
      <p:cViewPr varScale="1">
        <p:scale>
          <a:sx n="65" d="100"/>
          <a:sy n="65" d="100"/>
        </p:scale>
        <p:origin x="690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11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B4A429-F965-43FE-9E80-AA88C25A97ED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B7839-0288-40B0-805F-AB96B0C1BE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07398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40FB8-AFBC-4675-8070-BC9FB7D3F440}" type="datetimeFigureOut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522D6-4530-4D22-B87B-D541727931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6297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054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349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384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170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042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42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487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871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393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6314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234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443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401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445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2797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2017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5930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5639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0358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5128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2873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8982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5496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457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CE6-CAEB-4385-B336-CF7D7D192455}" type="datetime1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754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1E69C-C08A-4A65-B447-AADFA937ABE1}" type="datetime1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156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9A651-68BC-4573-8900-8E8A57F54EFA}" type="datetime1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13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435C6-1BFE-4317-9FC4-5E89E00569D3}" type="datetime1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43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54329-6BF8-4599-85CA-31126AB9D141}" type="datetime1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382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B017-5F45-44A5-988A-8F6FDCD39E7E}" type="datetime1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86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37B2-D9E3-4464-903E-B93583AF56FF}" type="datetime1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35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2C316-55FC-4088-B0CC-FABDB989E157}" type="datetime1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48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EE58-D793-4AE8-80E6-AC00A4704FC4}" type="datetime1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37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A92A-E230-4543-8945-BF93DC996D15}" type="datetime1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544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E6F0-7055-4C0D-8BCA-9538F0E5021B}" type="datetime1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651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83BF8-85A7-44CC-8B86-6D05CB52A8A5}" type="datetime1">
              <a:rPr lang="zh-CN" altLang="en-US" smtClean="0"/>
              <a:t>2021/9/14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44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831282"/>
            <a:ext cx="9144000" cy="1045184"/>
          </a:xfrm>
        </p:spPr>
        <p:txBody>
          <a:bodyPr>
            <a:noAutofit/>
          </a:bodyPr>
          <a:lstStyle/>
          <a:p>
            <a:r>
              <a:rPr lang="en-US" altLang="zh-CN" sz="8000" b="1" dirty="0" smtClean="0"/>
              <a:t>Lecture 1</a:t>
            </a:r>
            <a:endParaRPr lang="zh-CN" altLang="en-US" sz="8000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61258" y="3128753"/>
            <a:ext cx="10069484" cy="2529878"/>
          </a:xfrm>
        </p:spPr>
        <p:txBody>
          <a:bodyPr>
            <a:normAutofit/>
          </a:bodyPr>
          <a:lstStyle/>
          <a:p>
            <a:r>
              <a:rPr lang="en-US" altLang="zh-CN" sz="4800" b="1" dirty="0"/>
              <a:t>Combinatorial </a:t>
            </a:r>
            <a:r>
              <a:rPr lang="en-US" altLang="zh-CN" sz="4800" b="1" dirty="0" smtClean="0"/>
              <a:t>Analysis</a:t>
            </a:r>
          </a:p>
          <a:p>
            <a:r>
              <a:rPr lang="zh-CN" altLang="en-US" sz="4800" b="1" dirty="0" smtClean="0">
                <a:solidFill>
                  <a:srgbClr val="FF0000"/>
                </a:solidFill>
              </a:rPr>
              <a:t>组合分析</a:t>
            </a:r>
            <a:endParaRPr lang="en-US" altLang="zh-CN" sz="4800" b="1" dirty="0" smtClean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86516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35496" y="1490375"/>
            <a:ext cx="11261034" cy="5069451"/>
          </a:xfrm>
          <a:noFill/>
        </p:spPr>
        <p:txBody>
          <a:bodyPr>
            <a:normAutofit/>
          </a:bodyPr>
          <a:lstStyle/>
          <a:p>
            <a:r>
              <a:rPr lang="en-US" altLang="zh-CN" sz="4000" b="1" dirty="0" smtClean="0">
                <a:solidFill>
                  <a:srgbClr val="FF0000"/>
                </a:solidFill>
              </a:rPr>
              <a:t>Outline</a:t>
            </a: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altLang="zh-CN" sz="3600" b="1" dirty="0" smtClean="0">
                <a:solidFill>
                  <a:srgbClr val="FF0000"/>
                </a:solidFill>
              </a:rPr>
              <a:t>Introduction</a:t>
            </a:r>
            <a:endParaRPr lang="en-US" altLang="zh-CN" sz="3600" b="1" dirty="0" smtClean="0"/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rgbClr val="FF0000"/>
                </a:solidFill>
              </a:rPr>
              <a:t>The Basic Principle of Counting    </a:t>
            </a:r>
          </a:p>
          <a:p>
            <a:pPr marL="571500" indent="-57150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rgbClr val="FF0000"/>
                </a:solidFill>
              </a:rPr>
              <a:t>Permutations</a:t>
            </a:r>
          </a:p>
          <a:p>
            <a:pPr marL="571500" indent="-57150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rgbClr val="FF0000"/>
                </a:solidFill>
              </a:rPr>
              <a:t>Combinations</a:t>
            </a:r>
          </a:p>
          <a:p>
            <a:pPr marL="571500" indent="-57150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rgbClr val="FF0000"/>
                </a:solidFill>
              </a:rPr>
              <a:t>Multinomial </a:t>
            </a:r>
            <a:r>
              <a:rPr lang="en-US" altLang="zh-CN" sz="3600" b="1" dirty="0" smtClean="0">
                <a:solidFill>
                  <a:srgbClr val="FF0000"/>
                </a:solidFill>
              </a:rPr>
              <a:t>Coefficients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50805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3040" y="1305232"/>
            <a:ext cx="11782650" cy="534629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3600" b="1" dirty="0">
                <a:solidFill>
                  <a:srgbClr val="FF0000"/>
                </a:solidFill>
              </a:rPr>
              <a:t>Introduction</a:t>
            </a:r>
            <a:endParaRPr lang="en-US" altLang="zh-CN" sz="3600" b="1" dirty="0"/>
          </a:p>
          <a:p>
            <a:pPr algn="l">
              <a:lnSpc>
                <a:spcPct val="100000"/>
              </a:lnSpc>
            </a:pPr>
            <a:r>
              <a:rPr lang="en-US" altLang="zh-CN" sz="2800" dirty="0" smtClean="0"/>
              <a:t>    The </a:t>
            </a:r>
            <a:r>
              <a:rPr lang="en-US" altLang="zh-CN" sz="2800" dirty="0"/>
              <a:t>term </a:t>
            </a:r>
            <a:r>
              <a:rPr lang="en-US" altLang="zh-CN" sz="2800" dirty="0">
                <a:solidFill>
                  <a:srgbClr val="FF0000"/>
                </a:solidFill>
              </a:rPr>
              <a:t>probability</a:t>
            </a:r>
            <a:r>
              <a:rPr lang="en-US" altLang="zh-CN" sz="2800" dirty="0"/>
              <a:t> refers to the study of randomness and uncertainty. In </a:t>
            </a:r>
            <a:r>
              <a:rPr lang="en-US" altLang="zh-CN" sz="2800" dirty="0" smtClean="0"/>
              <a:t>any situation </a:t>
            </a:r>
            <a:r>
              <a:rPr lang="en-US" altLang="zh-CN" sz="2800" dirty="0"/>
              <a:t>in which one of a number of possible outcomes may occur, the </a:t>
            </a:r>
            <a:r>
              <a:rPr lang="en-US" altLang="zh-CN" sz="2800" dirty="0" smtClean="0"/>
              <a:t> discipline of </a:t>
            </a:r>
            <a:r>
              <a:rPr lang="en-US" altLang="zh-CN" sz="2800" dirty="0"/>
              <a:t>probability provides methods for quantifying the chances, or likelihoods</a:t>
            </a:r>
            <a:r>
              <a:rPr lang="en-US" altLang="zh-CN" sz="2800" dirty="0" smtClean="0"/>
              <a:t>, associated </a:t>
            </a:r>
            <a:r>
              <a:rPr lang="en-US" altLang="zh-CN" sz="2800" dirty="0"/>
              <a:t>with the various outcomes</a:t>
            </a:r>
            <a:r>
              <a:rPr lang="en-US" altLang="zh-CN" sz="2800" dirty="0" smtClean="0"/>
              <a:t>.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993360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95865" y="1068997"/>
                <a:ext cx="12027309" cy="5346291"/>
              </a:xfrm>
            </p:spPr>
            <p:txBody>
              <a:bodyPr>
                <a:normAutofit fontScale="92500" lnSpcReduction="20000"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1.1 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A communication </a:t>
                </a:r>
                <a:r>
                  <a:rPr lang="en-US" altLang="zh-CN" sz="2800" dirty="0" smtClean="0"/>
                  <a:t>system is </a:t>
                </a:r>
                <a:r>
                  <a:rPr lang="en-US" altLang="zh-CN" sz="2800" dirty="0"/>
                  <a:t>to consist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 seemingly identical antennas that are to be lined up in a linear order</a:t>
                </a:r>
                <a:r>
                  <a:rPr lang="en-US" altLang="zh-CN" sz="2800" dirty="0" smtClean="0"/>
                  <a:t>. It will be </a:t>
                </a:r>
                <a:r>
                  <a:rPr lang="en-US" altLang="zh-CN" sz="2800" dirty="0"/>
                  <a:t>able to receive all incoming signals-and will </a:t>
                </a:r>
                <a:r>
                  <a:rPr lang="en-US" altLang="zh-CN" sz="2800" dirty="0" smtClean="0"/>
                  <a:t>be called </a:t>
                </a:r>
                <a:r>
                  <a:rPr lang="en-US" altLang="zh-CN" sz="2800" dirty="0"/>
                  <a:t>functional-as long as no two consecutive antennas are defective. If it </a:t>
                </a:r>
                <a:r>
                  <a:rPr lang="en-US" altLang="zh-CN" sz="2800" dirty="0" smtClean="0"/>
                  <a:t>turns out </a:t>
                </a:r>
                <a:r>
                  <a:rPr lang="en-US" altLang="zh-CN" sz="2800" dirty="0"/>
                  <a:t>that exactly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800" dirty="0"/>
                  <a:t> of the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 antennas are defective, what is the probability that </a:t>
                </a:r>
                <a:r>
                  <a:rPr lang="en-US" altLang="zh-CN" sz="2800" dirty="0" smtClean="0"/>
                  <a:t>the resulting </a:t>
                </a:r>
                <a:r>
                  <a:rPr lang="en-US" altLang="zh-CN" sz="2800" dirty="0"/>
                  <a:t>system will be functional</a:t>
                </a:r>
                <a:r>
                  <a:rPr lang="en-US" altLang="zh-CN" sz="2800" dirty="0" smtClean="0"/>
                  <a:t>?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When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=4 </m:t>
                    </m:r>
                  </m:oMath>
                </a14:m>
                <a:r>
                  <a:rPr lang="en-US" altLang="zh-CN" sz="2800" dirty="0" smtClean="0"/>
                  <a:t>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2800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800" dirty="0"/>
                  <a:t> there are 6 possible system configurations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0 </m:t>
                    </m:r>
                    <m:r>
                      <a:rPr lang="en-US" altLang="zh-C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1 1 0</m:t>
                    </m:r>
                  </m:oMath>
                </a14:m>
                <a:r>
                  <a:rPr lang="en-US" altLang="zh-CN" sz="2800" dirty="0" smtClean="0">
                    <a:solidFill>
                      <a:srgbClr val="FF0000"/>
                    </a:solidFill>
                  </a:rPr>
                  <a:t>,       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0 1 0 1</m:t>
                    </m:r>
                  </m:oMath>
                </a14:m>
                <a:r>
                  <a:rPr lang="en-US" altLang="zh-CN" sz="2800" dirty="0" smtClean="0">
                    <a:solidFill>
                      <a:srgbClr val="FF0000"/>
                    </a:solidFill>
                  </a:rPr>
                  <a:t>,       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1 0 1 0</m:t>
                    </m:r>
                  </m:oMath>
                </a14:m>
                <a:r>
                  <a:rPr lang="en-US" altLang="zh-CN" sz="2800" dirty="0" smtClean="0">
                    <a:solidFill>
                      <a:srgbClr val="FF0000"/>
                    </a:solidFill>
                  </a:rPr>
                  <a:t>,</a:t>
                </a:r>
                <a:endParaRPr lang="en-US" altLang="zh-CN" sz="28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0 0 1 1</m:t>
                    </m:r>
                  </m:oMath>
                </a14:m>
                <a:r>
                  <a:rPr lang="en-US" altLang="zh-CN" sz="2800" dirty="0" smtClean="0"/>
                  <a:t>,       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1 0 0 1</m:t>
                    </m:r>
                  </m:oMath>
                </a14:m>
                <a:r>
                  <a:rPr lang="en-US" altLang="zh-CN" sz="2800" dirty="0" smtClean="0"/>
                  <a:t>,       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1 1 0 0</m:t>
                    </m:r>
                  </m:oMath>
                </a14:m>
                <a:r>
                  <a:rPr lang="en-US" altLang="zh-CN" sz="2800" dirty="0" smtClean="0"/>
                  <a:t>.</a:t>
                </a: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Similarly, </a:t>
                </a:r>
                <a:r>
                  <a:rPr lang="en-US" altLang="zh-CN" sz="2800" dirty="0" smtClean="0"/>
                  <a:t>in the </a:t>
                </a:r>
                <a:r>
                  <a:rPr lang="en-US" altLang="zh-CN" sz="2800" dirty="0"/>
                  <a:t>case of general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800" dirty="0" smtClean="0"/>
                  <a:t>, we </a:t>
                </a:r>
                <a:r>
                  <a:rPr lang="en-US" altLang="zh-CN" sz="2800" dirty="0"/>
                  <a:t>could count the number of </a:t>
                </a:r>
                <a:r>
                  <a:rPr lang="en-US" altLang="zh-CN" sz="2800" dirty="0" smtClean="0"/>
                  <a:t>configurations that </a:t>
                </a:r>
                <a:r>
                  <a:rPr lang="en-US" altLang="zh-CN" sz="2800" dirty="0"/>
                  <a:t>result in the system's being functional and then divide by the total number of </a:t>
                </a:r>
                <a:r>
                  <a:rPr lang="en-US" altLang="zh-CN" sz="2800" dirty="0" smtClean="0"/>
                  <a:t>all possible </a:t>
                </a:r>
                <a:r>
                  <a:rPr lang="en-US" altLang="zh-CN" sz="2800" dirty="0"/>
                  <a:t>configurations.</a:t>
                </a: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95865" y="1068997"/>
                <a:ext cx="12027309" cy="5346291"/>
              </a:xfrm>
              <a:blipFill>
                <a:blip r:embed="rId3"/>
                <a:stretch>
                  <a:fillRect l="-912" t="-2281" r="-152" b="-1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69852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3040" y="1305232"/>
            <a:ext cx="11782650" cy="5346291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800" dirty="0" smtClean="0"/>
              <a:t>It </a:t>
            </a:r>
            <a:r>
              <a:rPr lang="en-US" altLang="zh-CN" sz="2800" dirty="0"/>
              <a:t>would be useful to have an </a:t>
            </a:r>
            <a:r>
              <a:rPr lang="en-US" altLang="zh-CN" sz="2800" dirty="0" smtClean="0"/>
              <a:t>effective method </a:t>
            </a:r>
            <a:r>
              <a:rPr lang="en-US" altLang="zh-CN" sz="2800" dirty="0"/>
              <a:t>for counting the number of ways that things can occur. In fact, </a:t>
            </a:r>
            <a:r>
              <a:rPr lang="en-US" altLang="zh-CN" sz="2800" dirty="0" smtClean="0"/>
              <a:t>many problems </a:t>
            </a:r>
            <a:r>
              <a:rPr lang="en-US" altLang="zh-CN" sz="2800" dirty="0"/>
              <a:t>in probability theory can be solved simply by counting the number of </a:t>
            </a:r>
            <a:r>
              <a:rPr lang="en-US" altLang="zh-CN" sz="2800" dirty="0" smtClean="0"/>
              <a:t>different ways </a:t>
            </a:r>
            <a:r>
              <a:rPr lang="en-US" altLang="zh-CN" sz="2800" dirty="0"/>
              <a:t>that a certain event can occur. The mathematical theory of counting </a:t>
            </a:r>
            <a:r>
              <a:rPr lang="en-US" altLang="zh-CN" sz="2800" dirty="0" smtClean="0"/>
              <a:t>is formally </a:t>
            </a:r>
            <a:r>
              <a:rPr lang="en-US" altLang="zh-CN" sz="2800" dirty="0"/>
              <a:t>known as </a:t>
            </a:r>
            <a:r>
              <a:rPr lang="en-US" altLang="zh-CN" sz="2800" dirty="0">
                <a:solidFill>
                  <a:srgbClr val="FF0000"/>
                </a:solidFill>
              </a:rPr>
              <a:t>combinatorial </a:t>
            </a:r>
            <a:r>
              <a:rPr lang="en-US" altLang="zh-CN" sz="2800" dirty="0" smtClean="0">
                <a:solidFill>
                  <a:srgbClr val="FF0000"/>
                </a:solidFill>
              </a:rPr>
              <a:t>analysis</a:t>
            </a:r>
            <a:r>
              <a:rPr lang="en-US" altLang="zh-CN" sz="2800" dirty="0" smtClean="0"/>
              <a:t>.</a:t>
            </a:r>
            <a:endParaRPr lang="en-US" altLang="zh-CN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45306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0" y="1025349"/>
                <a:ext cx="12138496" cy="355747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3600" b="1" dirty="0">
                    <a:solidFill>
                      <a:srgbClr val="FF0000"/>
                    </a:solidFill>
                  </a:rPr>
                  <a:t>The Basic Principle of Counting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The Basic Principle of </a:t>
                </a: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Counting </a:t>
                </a:r>
                <a:r>
                  <a:rPr lang="zh-CN" altLang="en-US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计数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基本</a:t>
                </a:r>
                <a:r>
                  <a:rPr lang="zh-CN" altLang="en-US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法则</a:t>
                </a:r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Suppose that two experiments are to be performed. </a:t>
                </a:r>
                <a:r>
                  <a:rPr lang="en-US" altLang="zh-CN" sz="2800" dirty="0" smtClean="0"/>
                  <a:t>Then </a:t>
                </a:r>
                <a:r>
                  <a:rPr lang="en-US" altLang="zh-CN" sz="2800" dirty="0"/>
                  <a:t>if experiment 1 </a:t>
                </a:r>
                <a:r>
                  <a:rPr lang="en-US" altLang="zh-CN" sz="2800" dirty="0" smtClean="0"/>
                  <a:t>can result </a:t>
                </a:r>
                <a:r>
                  <a:rPr lang="en-US" altLang="zh-CN" sz="2800" dirty="0"/>
                  <a:t>in any one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800" dirty="0"/>
                  <a:t> </a:t>
                </a:r>
                <a:r>
                  <a:rPr lang="en-US" altLang="zh-CN" sz="2800" dirty="0" smtClean="0"/>
                  <a:t>possible </a:t>
                </a:r>
                <a:r>
                  <a:rPr lang="en-US" altLang="zh-CN" sz="2800" dirty="0"/>
                  <a:t>outcomes and if, for each outcome of </a:t>
                </a:r>
                <a:r>
                  <a:rPr lang="en-US" altLang="zh-CN" sz="2800" dirty="0" smtClean="0"/>
                  <a:t>experiment 1</a:t>
                </a:r>
                <a:r>
                  <a:rPr lang="en-US" altLang="zh-CN" sz="2800" dirty="0"/>
                  <a:t>, there are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 possible outcomes of </a:t>
                </a:r>
                <a:r>
                  <a:rPr lang="en-US" altLang="zh-CN" sz="2800" dirty="0" smtClean="0"/>
                  <a:t>experiment </a:t>
                </a:r>
                <a:r>
                  <a:rPr lang="en-US" altLang="zh-CN" sz="2800" dirty="0"/>
                  <a:t>2, then together there are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𝑚𝑛</m:t>
                    </m:r>
                  </m:oMath>
                </a14:m>
                <a:r>
                  <a:rPr lang="en-US" altLang="zh-CN" sz="2800" dirty="0" smtClean="0"/>
                  <a:t> possible outcomes </a:t>
                </a:r>
                <a:r>
                  <a:rPr lang="en-US" altLang="zh-CN" sz="2800" dirty="0"/>
                  <a:t>of the two experiments</a:t>
                </a:r>
                <a:r>
                  <a:rPr lang="en-US" altLang="zh-CN" sz="2800" dirty="0" smtClean="0"/>
                  <a:t>.</a:t>
                </a: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0" y="1025349"/>
                <a:ext cx="12138496" cy="3557474"/>
              </a:xfrm>
              <a:blipFill>
                <a:blip r:embed="rId3"/>
                <a:stretch>
                  <a:fillRect l="-1005" t="-2568" r="-24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3078" y="3545376"/>
            <a:ext cx="3532238" cy="325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134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3504" y="1198881"/>
                <a:ext cx="12138496" cy="5548506"/>
              </a:xfrm>
            </p:spPr>
            <p:txBody>
              <a:bodyPr>
                <a:norm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1.2 </a:t>
                </a:r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A small community consists of 10 women, each of whom has 3 children. If </a:t>
                </a:r>
                <a:r>
                  <a:rPr lang="en-US" altLang="zh-CN" sz="2800" dirty="0" smtClean="0"/>
                  <a:t>one woman </a:t>
                </a:r>
                <a:r>
                  <a:rPr lang="en-US" altLang="zh-CN" sz="2800" dirty="0"/>
                  <a:t>and one of her children are to be chosen as mother and child of the year</a:t>
                </a:r>
                <a:r>
                  <a:rPr lang="en-US" altLang="zh-CN" sz="2800" dirty="0" smtClean="0"/>
                  <a:t>, how </a:t>
                </a:r>
                <a:r>
                  <a:rPr lang="en-US" altLang="zh-CN" sz="2800" dirty="0"/>
                  <a:t>many different choices are possible?</a:t>
                </a:r>
                <a:endParaRPr lang="en-US" altLang="zh-CN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3=30</m:t>
                      </m:r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3504" y="1198881"/>
                <a:ext cx="12138496" cy="5548506"/>
              </a:xfrm>
              <a:blipFill>
                <a:blip r:embed="rId3"/>
                <a:stretch>
                  <a:fillRect l="-1055" t="-12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36974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3504" y="1198881"/>
                <a:ext cx="12138496" cy="5548506"/>
              </a:xfrm>
            </p:spPr>
            <p:txBody>
              <a:bodyPr>
                <a:normAutofit lnSpcReduction="10000"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The 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generalized basic principle of </a:t>
                </a: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counting </a:t>
                </a:r>
                <a:r>
                  <a:rPr lang="zh-CN" altLang="en-US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广义计数基本规则</a:t>
                </a:r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800" dirty="0"/>
                  <a:t> experiments that are to be performed are such that the first one may </a:t>
                </a:r>
                <a:r>
                  <a:rPr lang="en-US" altLang="zh-CN" sz="2800" dirty="0" smtClean="0"/>
                  <a:t>result in </a:t>
                </a:r>
                <a:r>
                  <a:rPr lang="en-US" altLang="zh-CN" sz="2800" dirty="0"/>
                  <a:t>any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dirty="0"/>
                  <a:t> possible outcomes; and if, for each of these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dirty="0"/>
                  <a:t> possible outcomes</a:t>
                </a:r>
                <a:r>
                  <a:rPr lang="en-US" altLang="zh-CN" sz="2800" dirty="0" smtClean="0"/>
                  <a:t>, there </a:t>
                </a:r>
                <a:r>
                  <a:rPr lang="en-US" altLang="zh-CN" sz="2800" dirty="0"/>
                  <a:t>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800" dirty="0"/>
                  <a:t> possible outcomes of the second experiment; and if, for each of </a:t>
                </a:r>
                <a:r>
                  <a:rPr lang="en-US" altLang="zh-CN" sz="2800" dirty="0" smtClean="0"/>
                  <a:t>the possible </a:t>
                </a:r>
                <a:r>
                  <a:rPr lang="en-US" altLang="zh-CN" sz="2800" dirty="0"/>
                  <a:t>outcomes of the first two experiments, there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800" dirty="0"/>
                  <a:t> possible </a:t>
                </a:r>
                <a:r>
                  <a:rPr lang="en-US" altLang="zh-CN" sz="2800" dirty="0" smtClean="0"/>
                  <a:t>outcomes of </a:t>
                </a:r>
                <a:r>
                  <a:rPr lang="en-US" altLang="zh-CN" sz="2800" dirty="0"/>
                  <a:t>the third experiment; and if ... , then there is a total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· · ·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2800" dirty="0"/>
                  <a:t>, </a:t>
                </a:r>
                <a:r>
                  <a:rPr lang="en-US" altLang="zh-CN" sz="2800" dirty="0" smtClean="0"/>
                  <a:t>possible outcomes </a:t>
                </a:r>
                <a:r>
                  <a:rPr lang="en-US" altLang="zh-CN" sz="2800" dirty="0"/>
                  <a:t>of the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800" dirty="0"/>
                  <a:t> experiments.</a:t>
                </a:r>
                <a:endParaRPr lang="en-US" altLang="zh-CN" sz="2800" dirty="0" smtClean="0"/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</a:t>
                </a: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1.3 </a:t>
                </a:r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A college planning committee consists of 3 freshmen, 4 sophomores, 5 juniors, </a:t>
                </a:r>
                <a:r>
                  <a:rPr lang="en-US" altLang="zh-CN" sz="2800" dirty="0" smtClean="0"/>
                  <a:t>and 2 </a:t>
                </a:r>
                <a:r>
                  <a:rPr lang="en-US" altLang="zh-CN" sz="2800" dirty="0"/>
                  <a:t>seniors. A subcommittee of 4, consisting of 1 person from each class, is to be chosen</a:t>
                </a:r>
                <a:r>
                  <a:rPr lang="en-US" altLang="zh-CN" sz="2800" dirty="0" smtClean="0"/>
                  <a:t>. How </a:t>
                </a:r>
                <a:r>
                  <a:rPr lang="en-US" altLang="zh-CN" sz="2800" dirty="0"/>
                  <a:t>many different subcommittees are possible?</a:t>
                </a:r>
                <a:endParaRPr lang="en-US" altLang="zh-CN" sz="2800" i="1" dirty="0" smtClean="0"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altLang="zh-CN" dirty="0"/>
              </a:p>
              <a:p>
                <a:pPr algn="l"/>
                <a:endParaRPr lang="en-US" altLang="zh-CN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3504" y="1198881"/>
                <a:ext cx="12138496" cy="5548506"/>
              </a:xfrm>
              <a:blipFill>
                <a:blip r:embed="rId3"/>
                <a:stretch>
                  <a:fillRect l="-1055" t="-2418" r="-16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73882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Permutations </a:t>
                </a:r>
                <a:r>
                  <a:rPr lang="zh-CN" altLang="en-US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排列</a:t>
                </a:r>
                <a:endParaRPr lang="en-US" altLang="zh-CN" sz="2800" dirty="0" smtClean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Definition 1.1 </a:t>
                </a: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prstClr val="black"/>
                    </a:solidFill>
                  </a:rPr>
                  <a:t>Suppose that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we have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objects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,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there are</a:t>
                </a: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−1)(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−2)· · ·3·2·1=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prstClr val="black"/>
                    </a:solidFill>
                  </a:rPr>
                  <a:t>different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permutations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 of the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objects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.</a:t>
                </a:r>
              </a:p>
              <a:p>
                <a:pPr lvl="0">
                  <a:lnSpc>
                    <a:spcPct val="100000"/>
                  </a:lnSpc>
                </a:pPr>
                <a:r>
                  <a:rPr lang="zh-CN" altLang="en-US" sz="2800" dirty="0" smtClean="0">
                    <a:solidFill>
                      <a:prstClr val="black"/>
                    </a:solidFill>
                  </a:rPr>
                  <a:t>𝑛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! read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as "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factorial".</a:t>
                </a:r>
              </a:p>
              <a:p>
                <a:pPr lvl="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lvl="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  <a:blipFill>
                <a:blip r:embed="rId3"/>
                <a:stretch>
                  <a:fillRect l="-1029" t="-15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07695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</p:spPr>
            <p:txBody>
              <a:bodyPr>
                <a:noAutofit/>
              </a:bodyPr>
              <a:lstStyle/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prstClr val="black"/>
                    </a:solidFill>
                  </a:rPr>
                  <a:t>In general, there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are</a:t>
                </a: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 err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!· · ·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 err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i="1" dirty="0" err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m:rPr>
                              <m:nor/>
                            </m:rPr>
                            <a:rPr lang="en-US" altLang="zh-CN" sz="2800" dirty="0">
                              <a:solidFill>
                                <a:prstClr val="black"/>
                              </a:solidFill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prstClr val="black"/>
                    </a:solidFill>
                  </a:rPr>
                  <a:t>different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permutations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objects, of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dirty="0" smtClean="0">
                    <a:solidFill>
                      <a:prstClr val="black"/>
                    </a:solidFill>
                  </a:rPr>
                  <a:t>are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alike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are alike,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,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are alike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.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1.3 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How many different signals, each consisting of 9 flags hung in a line, can be </a:t>
                </a:r>
                <a:r>
                  <a:rPr lang="en-US" altLang="zh-CN" sz="2800" dirty="0" smtClean="0"/>
                  <a:t>made from </a:t>
                </a:r>
                <a:r>
                  <a:rPr lang="en-US" altLang="zh-CN" sz="2800" dirty="0"/>
                  <a:t>a set of 4 white flags, 3 red flags, and 2 blue flags if all flags of the same </a:t>
                </a:r>
                <a:r>
                  <a:rPr lang="en-US" altLang="zh-CN" sz="2800" dirty="0" smtClean="0"/>
                  <a:t>color are </a:t>
                </a:r>
                <a:r>
                  <a:rPr lang="en-US" altLang="zh-CN" sz="2800" dirty="0"/>
                  <a:t>identical?</a:t>
                </a:r>
                <a:endParaRPr lang="en-US" altLang="zh-CN" sz="2800" i="1" dirty="0" smtClean="0"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m:rPr>
                              <m:nor/>
                            </m:rPr>
                            <a:rPr lang="en-US" altLang="zh-CN" sz="2800" dirty="0">
                              <a:solidFill>
                                <a:prstClr val="black"/>
                              </a:solidFill>
                            </a:rPr>
                            <m:t> </m:t>
                          </m:r>
                        </m:den>
                      </m:f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=12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800" dirty="0"/>
              </a:p>
              <a:p>
                <a:pPr lvl="0" algn="l">
                  <a:lnSpc>
                    <a:spcPct val="100000"/>
                  </a:lnSpc>
                </a:pP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:endParaRPr lang="en-US" altLang="zh-CN" sz="28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  <a:blipFill>
                <a:blip r:embed="rId3"/>
                <a:stretch>
                  <a:fillRect l="-1029" t="-998" r="-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89535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</p:spPr>
            <p:txBody>
              <a:bodyPr>
                <a:noAutofit/>
              </a:bodyPr>
              <a:lstStyle/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Combinations  </a:t>
                </a:r>
                <a:r>
                  <a:rPr lang="zh-CN" altLang="en-US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组合</a:t>
                </a:r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b="1" dirty="0">
                    <a:solidFill>
                      <a:prstClr val="black"/>
                    </a:solidFill>
                  </a:rPr>
                  <a:t>Notation and terminology</a:t>
                </a: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prstClr val="black"/>
                    </a:solidFill>
                  </a:rPr>
                  <a:t>We define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8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800" dirty="0" smtClean="0">
                    <a:solidFill>
                      <a:prstClr val="black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, by</a:t>
                </a: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prstClr val="black"/>
                    </a:solidFill>
                  </a:rPr>
                  <a:t>and say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(read as "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choose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") represents the number of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possible combinations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objects taken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at a time. </a:t>
                </a: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lvl="0">
                  <a:lnSpc>
                    <a:spcPct val="10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dirty="0" smtClean="0">
                    <a:solidFill>
                      <a:prstClr val="black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 smtClean="0">
                    <a:solidFill>
                      <a:prstClr val="black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dirty="0" smtClean="0">
                    <a:solidFill>
                      <a:prstClr val="black"/>
                    </a:solidFill>
                  </a:rPr>
                  <a:t>.</a:t>
                </a:r>
              </a:p>
              <a:p>
                <a:pPr lvl="0" algn="l">
                  <a:lnSpc>
                    <a:spcPct val="100000"/>
                  </a:lnSpc>
                </a:pPr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  <a:blipFill>
                <a:blip r:embed="rId3"/>
                <a:stretch>
                  <a:fillRect l="-1029" t="-15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403235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1.4 </a:t>
                </a:r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From a group of 5 women and 7 men, </a:t>
                </a:r>
                <a:endParaRPr lang="en-US" altLang="zh-CN" sz="2800" dirty="0" smtClean="0"/>
              </a:p>
              <a:p>
                <a:pPr marL="514350" indent="-514350" algn="l">
                  <a:lnSpc>
                    <a:spcPct val="100000"/>
                  </a:lnSpc>
                  <a:buAutoNum type="alphaLcParenR"/>
                </a:pPr>
                <a:r>
                  <a:rPr lang="en-US" altLang="zh-CN" sz="2800" dirty="0" smtClean="0"/>
                  <a:t>How </a:t>
                </a:r>
                <a:r>
                  <a:rPr lang="en-US" altLang="zh-CN" sz="2800" dirty="0"/>
                  <a:t>many different committees consisting </a:t>
                </a:r>
                <a:r>
                  <a:rPr lang="en-US" altLang="zh-CN" sz="2800" dirty="0" smtClean="0"/>
                  <a:t>of 2 </a:t>
                </a:r>
                <a:r>
                  <a:rPr lang="en-US" altLang="zh-CN" sz="2800" dirty="0"/>
                  <a:t>women and 3 men can be formed? </a:t>
                </a:r>
                <a:endParaRPr lang="en-US" altLang="zh-CN" sz="2800" dirty="0" smtClean="0"/>
              </a:p>
              <a:p>
                <a:pPr>
                  <a:lnSpc>
                    <a:spcPct val="100000"/>
                  </a:lnSpc>
                </a:pPr>
                <a:r>
                  <a:rPr lang="en-US" altLang="zh-CN" sz="2800" dirty="0" smtClean="0"/>
                  <a:t>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×35=350</m:t>
                    </m:r>
                  </m:oMath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/>
                  <a:t>b) What </a:t>
                </a:r>
                <a:r>
                  <a:rPr lang="en-US" altLang="zh-CN" sz="2800" dirty="0"/>
                  <a:t>if 2 of the men are feuding and refuse </a:t>
                </a:r>
                <a:r>
                  <a:rPr lang="en-US" altLang="zh-CN" sz="2800" dirty="0" smtClean="0"/>
                  <a:t>to serve </a:t>
                </a:r>
                <a:r>
                  <a:rPr lang="en-US" altLang="zh-CN" sz="2800" dirty="0"/>
                  <a:t>on the committee </a:t>
                </a:r>
                <a:r>
                  <a:rPr lang="en-US" altLang="zh-CN" sz="2800" dirty="0" smtClean="0"/>
                  <a:t>together?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:endParaRPr lang="en-US" altLang="zh-CN" sz="2800" dirty="0" smtClean="0"/>
              </a:p>
              <a:p>
                <a:pPr lvl="0" algn="l">
                  <a:lnSpc>
                    <a:spcPct val="100000"/>
                  </a:lnSpc>
                </a:pP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:endParaRPr lang="en-US" altLang="zh-CN" sz="28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  <a:blipFill>
                <a:blip r:embed="rId3"/>
                <a:stretch>
                  <a:fillRect l="-1080" t="-1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66066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prstClr val="black"/>
                    </a:solidFill>
                  </a:rPr>
                  <a:t>A useful combinatorial identity is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The 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binomial </a:t>
                </a: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theorem </a:t>
                </a:r>
                <a:r>
                  <a:rPr lang="zh-CN" altLang="en-US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二项式定理</a:t>
                </a:r>
                <a:endParaRPr lang="en-US" altLang="zh-CN" sz="2800" dirty="0" smtClean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prstClr val="black"/>
                    </a:solidFill>
                  </a:rPr>
                  <a:t>The values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are often referred to as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binomial coefficients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because of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their prominence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in the binomial theorem.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Theorem 1.1 </a:t>
                </a: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8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nary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  <a:blipFill>
                <a:blip r:embed="rId3"/>
                <a:stretch>
                  <a:fillRect l="-1029" t="-9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69113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3504" y="1110393"/>
                <a:ext cx="12138496" cy="5548506"/>
              </a:xfrm>
            </p:spPr>
            <p:txBody>
              <a:bodyPr>
                <a:norm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Multinomial Coefficients  </a:t>
                </a:r>
                <a:r>
                  <a:rPr lang="zh-CN" altLang="en-US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多项式系数</a:t>
                </a:r>
                <a:endParaRPr lang="en-US" altLang="zh-CN" sz="2800" dirty="0" smtClean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/>
                  <a:t>A </a:t>
                </a:r>
                <a:r>
                  <a:rPr lang="en-US" altLang="zh-CN" sz="2800" dirty="0"/>
                  <a:t>set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 distinct items is to </a:t>
                </a:r>
                <a:r>
                  <a:rPr lang="en-US" altLang="zh-CN" sz="2800" dirty="0" smtClean="0"/>
                  <a:t>be divided </a:t>
                </a:r>
                <a:r>
                  <a:rPr lang="en-US" altLang="zh-CN" sz="2800" dirty="0"/>
                  <a:t>into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800" dirty="0"/>
                  <a:t> distinct groups of respective sizes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, . .. , 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i="1" dirty="0" err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800" dirty="0"/>
                  <a:t> where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8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 smtClean="0"/>
                  <a:t>. How </a:t>
                </a:r>
                <a:r>
                  <a:rPr lang="en-US" altLang="zh-CN" sz="2800" dirty="0"/>
                  <a:t>many different divisions are possible</a:t>
                </a:r>
                <a:r>
                  <a:rPr lang="en-US" altLang="zh-CN" sz="2800" dirty="0" smtClean="0"/>
                  <a:t>?</a:t>
                </a:r>
              </a:p>
              <a:p>
                <a:pPr algn="l">
                  <a:lnSpc>
                    <a:spcPct val="100000"/>
                  </a:lnSpc>
                </a:pPr>
                <a:endParaRPr lang="en-US" altLang="zh-CN" sz="2800" dirty="0" smtClean="0"/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  <m:sSub>
                                  <m:sSubPr>
                                    <m:ctrlP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8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8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CN" sz="2800" dirty="0" smtClean="0"/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CN" sz="2800" dirty="0" smtClean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3504" y="1110393"/>
                <a:ext cx="12138496" cy="5548506"/>
              </a:xfrm>
              <a:blipFill>
                <a:blip r:embed="rId3"/>
                <a:stretch>
                  <a:fillRect l="-1055" t="-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409066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93040" y="1122398"/>
                <a:ext cx="11649915" cy="5610240"/>
              </a:xfrm>
            </p:spPr>
            <p:txBody>
              <a:bodyPr>
                <a:norm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Notation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+· · ·+ 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i="1" dirty="0" err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, we define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 smtClean="0"/>
                  <a:t>by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Thus,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/>
                  <a:t>represents the number of possible divisions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 distinct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/>
                  <a:t>objects </a:t>
                </a:r>
                <a:r>
                  <a:rPr lang="en-US" altLang="zh-CN" sz="2800" dirty="0"/>
                  <a:t>into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800" dirty="0"/>
                  <a:t> distinct groups of respective </a:t>
                </a:r>
                <a:r>
                  <a:rPr lang="en-US" altLang="zh-CN" sz="2800" dirty="0" smtClean="0"/>
                  <a:t>sizes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2800" dirty="0" smtClean="0"/>
                  <a:t>.</a:t>
                </a:r>
              </a:p>
              <a:p>
                <a:pPr algn="l">
                  <a:lnSpc>
                    <a:spcPct val="100000"/>
                  </a:lnSpc>
                </a:pPr>
                <a:endParaRPr lang="en-US" altLang="zh-CN" sz="3200" dirty="0"/>
              </a:p>
              <a:p>
                <a:pPr algn="l"/>
                <a:endParaRPr lang="en-US" altLang="zh-CN" sz="3200" dirty="0" smtClean="0"/>
              </a:p>
              <a:p>
                <a:pPr algn="l"/>
                <a:endParaRPr lang="en-US" altLang="zh-CN" sz="3200" dirty="0"/>
              </a:p>
              <a:p>
                <a:pPr algn="l"/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endParaRPr lang="en-US" altLang="zh-CN" dirty="0"/>
              </a:p>
              <a:p>
                <a:pPr algn="l"/>
                <a:endParaRPr lang="en-US" altLang="zh-CN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93040" y="1122398"/>
                <a:ext cx="11649915" cy="5610240"/>
              </a:xfrm>
              <a:blipFill>
                <a:blip r:embed="rId3"/>
                <a:stretch>
                  <a:fillRect l="-1099" t="-1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619870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The multinomial theorem </a:t>
                </a:r>
                <a:r>
                  <a:rPr lang="zh-CN" altLang="en-US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多项式定理</a:t>
                </a:r>
                <a:endParaRPr lang="en-US" altLang="zh-CN" sz="2800" dirty="0" smtClean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prstClr val="black"/>
                    </a:solidFill>
                  </a:rPr>
                  <a:t>The values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are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known as </a:t>
                </a: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multinomial coefficients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.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Theorem 1.2 </a:t>
                </a: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en-US" altLang="zh-CN" sz="280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</m:m>
                        </m:sub>
                        <m:sup/>
                        <m:e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sSubSup>
                            <m:sSubSup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bSup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algn="l"/>
                <a:r>
                  <a:rPr lang="en-US" altLang="zh-CN" sz="2800" dirty="0">
                    <a:solidFill>
                      <a:prstClr val="black"/>
                    </a:solidFill>
                  </a:rPr>
                  <a:t>That is, the sum is over all nonnegative integer-valued vectors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dirty="0" smtClean="0">
                    <a:solidFill>
                      <a:prstClr val="black"/>
                    </a:solidFill>
                  </a:rPr>
                  <a:t> such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  <a:blipFill>
                <a:blip r:embed="rId3"/>
                <a:stretch>
                  <a:fillRect l="-1029" t="-15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19172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1.6 </a:t>
                </a:r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In the first round of a knockout tournament involving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players, the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 </a:t>
                </a:r>
                <a:r>
                  <a:rPr lang="en-US" altLang="zh-CN" sz="2800" dirty="0" smtClean="0"/>
                  <a:t>players are </a:t>
                </a:r>
                <a:r>
                  <a:rPr lang="en-US" altLang="zh-CN" sz="2800" dirty="0"/>
                  <a:t>divided into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/2 </m:t>
                    </m:r>
                  </m:oMath>
                </a14:m>
                <a:r>
                  <a:rPr lang="en-US" altLang="zh-CN" sz="2800" dirty="0"/>
                  <a:t>pairs, with each of these pairs then playing a game. The </a:t>
                </a:r>
                <a:r>
                  <a:rPr lang="en-US" altLang="zh-CN" sz="2800" dirty="0" smtClean="0"/>
                  <a:t>losers of </a:t>
                </a:r>
                <a:r>
                  <a:rPr lang="en-US" altLang="zh-CN" sz="2800" dirty="0"/>
                  <a:t>the games are eliminated while the winners go on to the next round, where </a:t>
                </a:r>
                <a:r>
                  <a:rPr lang="en-US" altLang="zh-CN" sz="2800" dirty="0" smtClean="0"/>
                  <a:t>the process </a:t>
                </a:r>
                <a:r>
                  <a:rPr lang="en-US" altLang="zh-CN" sz="2800" dirty="0"/>
                  <a:t>is repeated until only a single player remains. Suppose we have a </a:t>
                </a:r>
                <a:r>
                  <a:rPr lang="en-US" altLang="zh-CN" sz="2800" dirty="0" smtClean="0"/>
                  <a:t>knockout tournament </a:t>
                </a:r>
                <a:r>
                  <a:rPr lang="en-US" altLang="zh-CN" sz="2800" dirty="0"/>
                  <a:t>of 8 players</a:t>
                </a:r>
                <a:r>
                  <a:rPr lang="en-US" altLang="zh-CN" sz="2800" dirty="0" smtClean="0"/>
                  <a:t>.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(a) How many possible outcomes are there for the initial round? (For instance</a:t>
                </a:r>
                <a:r>
                  <a:rPr lang="en-US" altLang="zh-CN" sz="2800" dirty="0" smtClean="0"/>
                  <a:t>, one </a:t>
                </a:r>
                <a:r>
                  <a:rPr lang="en-US" altLang="zh-CN" sz="2800" dirty="0"/>
                  <a:t>outcome is that 1 beats 2, 3 beats 4, 5 beats 6, and 7 beats 8.)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(b) How many outcomes of the tournament are possible, where an outcome </a:t>
                </a:r>
                <a:r>
                  <a:rPr lang="en-US" altLang="zh-CN" sz="2800" dirty="0" smtClean="0"/>
                  <a:t>gives complete </a:t>
                </a:r>
                <a:r>
                  <a:rPr lang="en-US" altLang="zh-CN" sz="2800" dirty="0"/>
                  <a:t>information for all rounds</a:t>
                </a:r>
                <a:r>
                  <a:rPr lang="en-US" altLang="zh-CN" sz="2800" dirty="0" smtClean="0"/>
                  <a:t>?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:endParaRPr lang="en-US" altLang="zh-CN" sz="28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  <a:blipFill>
                <a:blip r:embed="rId3"/>
                <a:stretch>
                  <a:fillRect l="-1029" t="-1109" r="-10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835081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/>
                  <a:t>(</a:t>
                </a:r>
                <a:r>
                  <a:rPr lang="en-US" altLang="zh-CN" sz="2800" dirty="0"/>
                  <a:t>a) </a:t>
                </a:r>
                <a:r>
                  <a:rPr lang="en-US" altLang="zh-CN" sz="2800" dirty="0" smtClean="0"/>
                  <a:t>The </a:t>
                </a:r>
                <a:r>
                  <a:rPr lang="en-US" altLang="zh-CN" sz="2800" dirty="0"/>
                  <a:t>number of ways to divide the 8 players into a first pair, a second pair, a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third pair, and a fourth pair </a:t>
                </a:r>
                <a:endParaRPr lang="en-US" altLang="zh-CN" sz="2800" dirty="0" smtClean="0"/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2!2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8!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80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there is no ordering of the 4 </a:t>
                </a:r>
                <a:r>
                  <a:rPr lang="en-US" altLang="zh-CN" sz="2800" dirty="0" smtClean="0"/>
                  <a:t>pairs,</a:t>
                </a: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8!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</m:oMath>
                  </m:oMathPara>
                </a14:m>
                <a:endParaRPr lang="en-US" altLang="zh-CN" sz="2800" dirty="0" smtClean="0"/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/>
                  <a:t>For </a:t>
                </a:r>
                <a:r>
                  <a:rPr lang="en-US" altLang="zh-CN" sz="2800" dirty="0"/>
                  <a:t>each such pairing, there </a:t>
                </a:r>
                <a:r>
                  <a:rPr lang="en-US" altLang="zh-CN" sz="2800" dirty="0" smtClean="0"/>
                  <a:t>are 2 </a:t>
                </a:r>
                <a:r>
                  <a:rPr lang="en-US" altLang="zh-CN" sz="2800" dirty="0"/>
                  <a:t>possible choices from each pair as to the winner of that </a:t>
                </a:r>
                <a:r>
                  <a:rPr lang="en-US" altLang="zh-CN" sz="2800" dirty="0" smtClean="0"/>
                  <a:t>game, </a:t>
                </a:r>
                <a:r>
                  <a:rPr lang="pt-BR" altLang="zh-CN" sz="2800" dirty="0" smtClean="0"/>
                  <a:t>there are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8!</m:t>
                          </m:r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8!</m:t>
                          </m:r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</m:oMath>
                  </m:oMathPara>
                </a14:m>
                <a:endParaRPr lang="pt-BR" altLang="zh-CN" sz="2800" dirty="0" smtClean="0"/>
              </a:p>
              <a:p>
                <a:pPr algn="l">
                  <a:lnSpc>
                    <a:spcPct val="100000"/>
                  </a:lnSpc>
                </a:pPr>
                <a:r>
                  <a:rPr lang="pt-BR" altLang="zh-CN" sz="2800" dirty="0" smtClean="0"/>
                  <a:t>possible results of round 1.</a:t>
                </a:r>
                <a:endParaRPr lang="en-US" altLang="zh-CN" sz="2800" dirty="0" smtClean="0"/>
              </a:p>
              <a:p>
                <a:pPr algn="l">
                  <a:lnSpc>
                    <a:spcPct val="100000"/>
                  </a:lnSpc>
                </a:pPr>
                <a:endParaRPr lang="en-US" altLang="zh-CN" sz="2800" dirty="0"/>
              </a:p>
              <a:p>
                <a:pPr lvl="0" algn="l">
                  <a:lnSpc>
                    <a:spcPct val="100000"/>
                  </a:lnSpc>
                </a:pP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:endParaRPr lang="en-US" altLang="zh-CN" sz="28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  <a:blipFill>
                <a:blip r:embed="rId3"/>
                <a:stretch>
                  <a:fillRect l="-1029" t="-998" b="-5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472529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smtClean="0"/>
                  <a:t>(a) </a:t>
                </a:r>
                <a:r>
                  <a:rPr lang="en-US" altLang="zh-CN" sz="2800" dirty="0" smtClean="0"/>
                  <a:t>Another </a:t>
                </a:r>
                <a:r>
                  <a:rPr lang="en-US" altLang="zh-CN" sz="2800" dirty="0"/>
                  <a:t>way to see </a:t>
                </a:r>
                <a:r>
                  <a:rPr lang="en-US" altLang="zh-CN" sz="2800" dirty="0" smtClean="0"/>
                  <a:t>this </a:t>
                </a:r>
                <a:r>
                  <a:rPr lang="en-US" altLang="zh-CN" sz="2800" dirty="0"/>
                  <a:t>is to note </a:t>
                </a:r>
                <a:r>
                  <a:rPr lang="en-US" altLang="zh-CN" sz="2800" dirty="0" smtClean="0"/>
                  <a:t>that there </a:t>
                </a:r>
                <a:r>
                  <a:rPr lang="en-US" altLang="zh-CN" sz="2800" dirty="0"/>
                  <a:t>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/>
                  <a:t> possible choices of the 4 winners and, for each such choice, there </a:t>
                </a:r>
                <a:r>
                  <a:rPr lang="en-US" altLang="zh-CN" sz="2800" dirty="0" smtClean="0"/>
                  <a:t>are 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4!</m:t>
                    </m:r>
                  </m:oMath>
                </a14:m>
                <a:r>
                  <a:rPr lang="en-US" altLang="zh-CN" sz="2800" dirty="0"/>
                  <a:t> ways to pair the 4 winners with the 4 losers, showing that there are </a:t>
                </a:r>
                <a:endParaRPr lang="en-US" altLang="zh-CN" sz="2800" dirty="0" smtClean="0"/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4!</m:t>
                      </m:r>
                      <m:d>
                        <m:dPr>
                          <m:ctrlP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8!</m:t>
                          </m:r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</m:oMath>
                  </m:oMathPara>
                </a14:m>
                <a:endParaRPr lang="en-US" altLang="zh-CN" sz="2800" dirty="0" smtClean="0"/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possible results for the first round.</a:t>
                </a:r>
                <a:endParaRPr lang="pt-BR" altLang="zh-CN" sz="2800" dirty="0" smtClean="0"/>
              </a:p>
              <a:p>
                <a:pPr lvl="0" algn="l">
                  <a:lnSpc>
                    <a:spcPct val="100000"/>
                  </a:lnSpc>
                </a:pP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:endParaRPr lang="en-US" altLang="zh-CN" sz="28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  <a:blipFill>
                <a:blip r:embed="rId3"/>
                <a:stretch>
                  <a:fillRect l="-1029" r="-14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122688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/>
                  <a:t>(b</a:t>
                </a:r>
                <a:r>
                  <a:rPr lang="en-US" altLang="zh-CN" sz="2800" dirty="0"/>
                  <a:t>) Similarly, for each result of round 1, there are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altLang="zh-CN" sz="2800" dirty="0"/>
                  <a:t>possible outcomes of round </a:t>
                </a:r>
                <a:r>
                  <a:rPr lang="en-US" altLang="zh-CN" sz="2800" dirty="0" smtClean="0"/>
                  <a:t>2, and </a:t>
                </a:r>
                <a:r>
                  <a:rPr lang="en-US" altLang="zh-CN" sz="2800" dirty="0"/>
                  <a:t>for each of the outcomes of the first two </a:t>
                </a:r>
                <a:r>
                  <a:rPr lang="en-US" altLang="zh-CN" sz="2800" dirty="0" smtClean="0"/>
                  <a:t>rounds, there </a:t>
                </a:r>
                <a:r>
                  <a:rPr lang="en-US" altLang="zh-CN" sz="2800" dirty="0"/>
                  <a:t>are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altLang="zh-CN" sz="2800" dirty="0"/>
                  <a:t> possible </a:t>
                </a:r>
                <a:r>
                  <a:rPr lang="en-US" altLang="zh-CN" sz="2800" dirty="0" smtClean="0"/>
                  <a:t>outcomes of </a:t>
                </a:r>
                <a:r>
                  <a:rPr lang="en-US" altLang="zh-CN" sz="2800" dirty="0"/>
                  <a:t>round 3</a:t>
                </a:r>
                <a:r>
                  <a:rPr lang="en-US" altLang="zh-CN" sz="2800" dirty="0" smtClean="0"/>
                  <a:t>. 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So there </a:t>
                </a:r>
                <a:r>
                  <a:rPr lang="en-US" altLang="zh-CN" sz="2800" dirty="0" smtClean="0"/>
                  <a:t>are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8!</m:t>
                          </m:r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=8!</m:t>
                      </m:r>
                    </m:oMath>
                  </m:oMathPara>
                </a14:m>
                <a:endParaRPr lang="en-US" altLang="zh-CN" sz="2800" dirty="0" smtClean="0"/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/>
                  <a:t>possible </a:t>
                </a:r>
                <a:r>
                  <a:rPr lang="en-US" altLang="zh-CN" sz="2800" dirty="0"/>
                  <a:t>outcomes of the tournament.</a:t>
                </a:r>
                <a:endParaRPr lang="en-US" altLang="zh-CN" sz="2800" dirty="0" smtClean="0"/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prstClr val="black"/>
                    </a:solidFill>
                  </a:rPr>
                  <a:t>Indeed, the same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argument can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be used to show that a knockout tournament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players has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possible outcomes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.</a:t>
                </a:r>
              </a:p>
              <a:p>
                <a:pPr lvl="0" algn="l">
                  <a:lnSpc>
                    <a:spcPct val="100000"/>
                  </a:lnSpc>
                </a:pPr>
                <a:endParaRPr lang="en-US" altLang="zh-CN" sz="28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  <a:blipFill>
                <a:blip r:embed="rId3"/>
                <a:stretch>
                  <a:fillRect l="-1029" r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47477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1269" y="1195767"/>
                <a:ext cx="11687442" cy="5595865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Summary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srgbClr val="FF0000"/>
                    </a:solidFill>
                  </a:rPr>
                  <a:t>The Basic Principle of Counting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prstClr val="black"/>
                    </a:solidFill>
                  </a:rPr>
                  <a:t>The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basic principle of counting states that if an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experiment consisting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of two phases is such that there are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possible outcomes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of phase 1 and, for each of these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outcomes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, there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are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possible outcomes of phase 2, then there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are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𝑛𝑚</m:t>
                    </m:r>
                  </m:oMath>
                </a14:m>
                <a:r>
                  <a:rPr lang="en-US" altLang="zh-CN" sz="28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possible outcomes of the experiment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.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srgbClr val="FF0000"/>
                    </a:solidFill>
                  </a:rPr>
                  <a:t>Permutations</a:t>
                </a:r>
                <a:endParaRPr lang="en-US" altLang="zh-CN" sz="2800" dirty="0" smtClean="0">
                  <a:solidFill>
                    <a:srgbClr val="FF0000"/>
                  </a:solidFill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prstClr val="black"/>
                    </a:solidFill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!=</m:t>
                    </m:r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−1)· · · 3·2·1 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possible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linear orderings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items. The quantity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is defined to equal </a:t>
                </a:r>
                <a:r>
                  <a:rPr lang="en-US" altLang="zh-CN" sz="2800">
                    <a:solidFill>
                      <a:prstClr val="black"/>
                    </a:solidFill>
                  </a:rPr>
                  <a:t>1</a:t>
                </a:r>
                <a:r>
                  <a:rPr lang="en-US" altLang="zh-CN" sz="2800" smtClean="0">
                    <a:solidFill>
                      <a:prstClr val="black"/>
                    </a:solidFill>
                  </a:rPr>
                  <a:t>.</a:t>
                </a:r>
              </a:p>
              <a:p>
                <a:pPr algn="l">
                  <a:lnSpc>
                    <a:spcPct val="100000"/>
                  </a:lnSpc>
                </a:pPr>
                <a:endParaRPr lang="en-US" altLang="zh-CN" sz="28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1269" y="1195767"/>
                <a:ext cx="11687442" cy="5595865"/>
              </a:xfrm>
              <a:blipFill>
                <a:blip r:embed="rId3"/>
                <a:stretch>
                  <a:fillRect l="-1043" t="-10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060779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1269" y="1195767"/>
                <a:ext cx="11687442" cy="5595865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Combinations</a:t>
                </a:r>
                <a:endParaRPr lang="en-US" altLang="zh-CN" sz="2800" dirty="0">
                  <a:solidFill>
                    <a:srgbClr val="FF0000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prstClr val="black"/>
                    </a:solidFill>
                  </a:rPr>
                  <a:t>Let </a:t>
                </a: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prstClr val="black"/>
                    </a:solidFill>
                  </a:rPr>
                  <a:t>w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hen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, and let it equal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0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otherwise. This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quantity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represents the number of different subgroups of size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that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can be chosen from a set of size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 smtClean="0">
                    <a:solidFill>
                      <a:prstClr val="black"/>
                    </a:solidFill>
                  </a:rPr>
                  <a:t>.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prstClr val="black"/>
                    </a:solidFill>
                  </a:rPr>
                  <a:t>It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is often called a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binomial </a:t>
                </a: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coefficient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.</a:t>
                </a: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 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srgbClr val="FF0000"/>
                    </a:solidFill>
                  </a:rPr>
                  <a:t>The </a:t>
                </a: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binomial theorem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 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nary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1269" y="1195767"/>
                <a:ext cx="11687442" cy="5595865"/>
              </a:xfrm>
              <a:blipFill>
                <a:blip r:embed="rId3"/>
                <a:stretch>
                  <a:fillRect l="-1043" t="-980" r="-2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289850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The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multinomial theorem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nn-NO" altLang="zh-CN" sz="2800" dirty="0" smtClean="0">
                    <a:solidFill>
                      <a:prstClr val="black"/>
                    </a:solidFill>
                  </a:rPr>
                  <a:t>For </a:t>
                </a:r>
                <a:r>
                  <a:rPr lang="nn-NO" altLang="zh-CN" sz="2800" dirty="0">
                    <a:solidFill>
                      <a:prstClr val="black"/>
                    </a:solidFill>
                  </a:rPr>
                  <a:t>nonnegative integers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nn-NO" altLang="zh-CN" sz="2800" dirty="0">
                    <a:solidFill>
                      <a:prstClr val="black"/>
                    </a:solidFill>
                  </a:rPr>
                  <a:t>summing to </a:t>
                </a:r>
                <a14:m>
                  <m:oMath xmlns:m="http://schemas.openxmlformats.org/officeDocument/2006/math">
                    <m:r>
                      <a:rPr lang="nn-NO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nn-NO" altLang="zh-CN" sz="2800" dirty="0" smtClean="0">
                    <a:solidFill>
                      <a:prstClr val="black"/>
                    </a:solidFill>
                  </a:rPr>
                  <a:t>,</a:t>
                </a:r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algn="l"/>
                <a:r>
                  <a:rPr lang="en-US" altLang="zh-CN" sz="2800" dirty="0">
                    <a:solidFill>
                      <a:prstClr val="black"/>
                    </a:solidFill>
                  </a:rPr>
                  <a:t>is the number of divisions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items into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 smtClean="0">
                    <a:solidFill>
                      <a:prstClr val="black"/>
                    </a:solidFill>
                  </a:rPr>
                  <a:t>distinct </a:t>
                </a:r>
                <a:r>
                  <a:rPr lang="en-US" altLang="zh-CN" sz="2800" dirty="0" err="1" smtClean="0">
                    <a:solidFill>
                      <a:prstClr val="black"/>
                    </a:solidFill>
                  </a:rPr>
                  <a:t>nonoverlapping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subgroups of sizes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.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These quantities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are called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multinomial coefficients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. </a:t>
                </a:r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</m:m>
                        </m:sub>
                        <m:sup/>
                        <m:e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bSup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lvl="0" algn="l"/>
                <a:r>
                  <a:rPr lang="en-US" altLang="zh-CN" sz="2800" dirty="0">
                    <a:solidFill>
                      <a:prstClr val="black"/>
                    </a:solidFill>
                  </a:rPr>
                  <a:t>the sum is over all nonnegative integer-valued vectors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such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 smtClean="0">
                    <a:solidFill>
                      <a:prstClr val="black"/>
                    </a:solidFill>
                  </a:rPr>
                  <a:t>.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1268" y="1195768"/>
                <a:ext cx="11849674" cy="5500000"/>
              </a:xfrm>
              <a:blipFill>
                <a:blip r:embed="rId3"/>
                <a:stretch>
                  <a:fillRect l="-1029" t="-998" r="-1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86423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613" y="1143000"/>
            <a:ext cx="11990439" cy="5715000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Homework</a:t>
            </a:r>
          </a:p>
          <a:p>
            <a:pPr algn="l"/>
            <a:r>
              <a:rPr lang="en-US" altLang="zh-CN" sz="28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Page </a:t>
            </a:r>
            <a:r>
              <a:rPr lang="en-US" altLang="zh-CN" sz="2800" dirty="0">
                <a:solidFill>
                  <a:srgbClr val="0070C0"/>
                </a:solidFill>
                <a:latin typeface="Arial Black" panose="020B0A04020102020204" pitchFamily="34" charset="0"/>
              </a:rPr>
              <a:t>15  </a:t>
            </a:r>
            <a:r>
              <a:rPr lang="en-US" altLang="zh-CN" sz="28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Problems</a:t>
            </a:r>
          </a:p>
          <a:p>
            <a:pPr algn="l"/>
            <a:r>
              <a:rPr lang="en-US" altLang="zh-CN" sz="2800" dirty="0" smtClean="0"/>
              <a:t> 2, 7, 8, 13</a:t>
            </a:r>
          </a:p>
          <a:p>
            <a:pPr algn="l"/>
            <a:r>
              <a:rPr lang="en-US" altLang="zh-CN" sz="2800" dirty="0">
                <a:solidFill>
                  <a:srgbClr val="0070C0"/>
                </a:solidFill>
                <a:latin typeface="Arial Black" panose="020B0A04020102020204" pitchFamily="34" charset="0"/>
              </a:rPr>
              <a:t>Page 17 Theoretical Exercises</a:t>
            </a:r>
          </a:p>
          <a:p>
            <a:pPr algn="l"/>
            <a:r>
              <a:rPr lang="en-US" altLang="zh-CN" sz="2800" dirty="0" smtClean="0"/>
              <a:t>8, 13</a:t>
            </a:r>
          </a:p>
          <a:p>
            <a:pPr algn="l"/>
            <a:r>
              <a:rPr lang="en-US" altLang="zh-CN" sz="2800" dirty="0">
                <a:solidFill>
                  <a:srgbClr val="0070C0"/>
                </a:solidFill>
                <a:latin typeface="Arial Black" panose="020B0A04020102020204" pitchFamily="34" charset="0"/>
              </a:rPr>
              <a:t>Page </a:t>
            </a:r>
            <a:r>
              <a:rPr lang="en-US" altLang="zh-CN" sz="28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19 </a:t>
            </a:r>
            <a:r>
              <a:rPr lang="en-US" altLang="zh-CN" sz="2800" dirty="0">
                <a:solidFill>
                  <a:srgbClr val="0070C0"/>
                </a:solidFill>
                <a:latin typeface="Arial Black" panose="020B0A04020102020204" pitchFamily="34" charset="0"/>
              </a:rPr>
              <a:t>Self-Test Problems and </a:t>
            </a:r>
            <a:r>
              <a:rPr lang="en-US" altLang="zh-CN" sz="28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Exercises</a:t>
            </a:r>
          </a:p>
          <a:p>
            <a:pPr algn="l"/>
            <a:r>
              <a:rPr lang="en-US" altLang="zh-CN" sz="2800" dirty="0"/>
              <a:t>4, 12</a:t>
            </a:r>
          </a:p>
          <a:p>
            <a:pPr algn="l"/>
            <a:endParaRPr lang="en-US" altLang="zh-CN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4269740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52942</TotalTime>
  <Words>2722</Words>
  <Application>Microsoft Office PowerPoint</Application>
  <PresentationFormat>宽屏</PresentationFormat>
  <Paragraphs>155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宋体</vt:lpstr>
      <vt:lpstr>Arial</vt:lpstr>
      <vt:lpstr>Arial Black</vt:lpstr>
      <vt:lpstr>Calibri</vt:lpstr>
      <vt:lpstr>Calibri Light</vt:lpstr>
      <vt:lpstr>Cambria Math</vt:lpstr>
      <vt:lpstr>Wingdings</vt:lpstr>
      <vt:lpstr>Office 主题</vt:lpstr>
      <vt:lpstr>Lecture 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Qingjie</dc:creator>
  <cp:lastModifiedBy>guo</cp:lastModifiedBy>
  <cp:revision>1835</cp:revision>
  <dcterms:created xsi:type="dcterms:W3CDTF">2017-08-02T16:53:24Z</dcterms:created>
  <dcterms:modified xsi:type="dcterms:W3CDTF">2021-09-13T23:53:02Z</dcterms:modified>
</cp:coreProperties>
</file>